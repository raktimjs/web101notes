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4937760" cy="4937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8016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</a:t>
            </a:r>
            <a:endParaRPr lang="en-US" sz="5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Keyframes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a good webpage teleports. Everything moves.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0" y="1097280"/>
            <a:ext cx="1051560" cy="10515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006" y="1370686"/>
            <a:ext cx="504749" cy="5047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will have built a spinner, a moving box, and a bouncing ball.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561234"/>
            <a:ext cx="373075" cy="3730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32888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32888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and why a ball rolls instead of teleporting.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10712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85032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114" y="2561234"/>
            <a:ext cx="373075" cy="3730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94960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394960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85032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685032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and to, then percentage stages for multi-step motion.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72784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47104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186" y="2561234"/>
            <a:ext cx="373075" cy="37307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257032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257032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547104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properties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547104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delay, iteration, direction, timing, fill-mode, play-state.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134856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409176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258" y="2561234"/>
            <a:ext cx="373075" cy="37307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1119104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11119104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409176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real things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9409176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loader, a moving box, and a bouncing ball.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48640" y="5852160"/>
            <a:ext cx="11109960" cy="621792"/>
          </a:xfrm>
          <a:prstGeom prst="roundRect">
            <a:avLst>
              <a:gd name="adj" fmla="val 17647"/>
            </a:avLst>
          </a:prstGeom>
          <a:solidFill>
            <a:srgbClr val="E7FBEF"/>
          </a:solidFill>
          <a:ln/>
        </p:spPr>
      </p:sp>
      <p:sp>
        <p:nvSpPr>
          <p:cNvPr id="34" name="Shape 28"/>
          <p:cNvSpPr/>
          <p:nvPr/>
        </p:nvSpPr>
        <p:spPr>
          <a:xfrm>
            <a:off x="749808" y="6035040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29"/>
          <p:cNvSpPr/>
          <p:nvPr/>
        </p:nvSpPr>
        <p:spPr>
          <a:xfrm>
            <a:off x="1207008" y="585216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can only show frames. Everything here is worth running live so the room sees it actually move.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smoothly from one style to another.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CSS animation?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1284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or changing an element smoothly from one style to another.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changing colour slowly</a:t>
            </a:r>
            <a:endParaRPr lang="en-US" sz="14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moving from left to right</a:t>
            </a:r>
            <a:endParaRPr lang="en-US" sz="14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loader rotating continuously</a:t>
            </a:r>
            <a:endParaRPr lang="en-US" sz="14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element appearing and disappearing</a:t>
            </a:r>
            <a:endParaRPr lang="en-US" sz="14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bouncing on the screen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4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5420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rolling across a room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37960" y="3566160"/>
            <a:ext cx="603504" cy="603504"/>
          </a:xfrm>
          <a:prstGeom prst="ellipse">
            <a:avLst/>
          </a:prstGeom>
          <a:solidFill>
            <a:srgbClr val="1E3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7470648" y="3566160"/>
            <a:ext cx="603504" cy="603504"/>
          </a:xfrm>
          <a:prstGeom prst="ellipse">
            <a:avLst/>
          </a:prstGeom>
          <a:solidFill>
            <a:srgbClr val="24508F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3566160"/>
            <a:ext cx="603504" cy="603504"/>
          </a:xfrm>
          <a:prstGeom prst="ellipse">
            <a:avLst/>
          </a:prstGeom>
          <a:solidFill>
            <a:srgbClr val="2A66B3"/>
          </a:solidFill>
          <a:ln/>
        </p:spPr>
      </p:sp>
      <p:sp>
        <p:nvSpPr>
          <p:cNvPr id="14" name="Shape 12"/>
          <p:cNvSpPr/>
          <p:nvPr/>
        </p:nvSpPr>
        <p:spPr>
          <a:xfrm>
            <a:off x="9336024" y="3566160"/>
            <a:ext cx="603504" cy="603504"/>
          </a:xfrm>
          <a:prstGeom prst="ellipse">
            <a:avLst/>
          </a:prstGeom>
          <a:solidFill>
            <a:srgbClr val="2F7CD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68712" y="3566160"/>
            <a:ext cx="603504" cy="603504"/>
          </a:xfrm>
          <a:prstGeom prst="ellipse">
            <a:avLst/>
          </a:prstGeom>
          <a:solidFill>
            <a:srgbClr val="FF6347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4370832"/>
            <a:ext cx="461772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92240" y="4572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jump to the far wall. It passes through every point in between, and that is exactly what an animation does.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 -  SWITCH TO VS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animation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110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110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110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8013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625449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animation-name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moveBox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animation-duration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keyframes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moveBox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WHILE YOU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286000"/>
            <a:ext cx="3794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pieces: the element, and the keyframes block.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animation-name links the box to the animation by name.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animation-duration says how long the trip takes.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keyframes describe the start and the end.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refresh. The box slides 300px to the right.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and Keyframes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two seconds looks like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slide can only show frames. In the browser these blend into one continuous slide across the screen.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109960" cy="2834640"/>
          </a:xfrm>
          <a:prstGeom prst="roundRect">
            <a:avLst>
              <a:gd name="adj" fmla="val 3226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5420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5420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5420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Shape 8"/>
          <p:cNvSpPr/>
          <p:nvPr/>
        </p:nvSpPr>
        <p:spPr>
          <a:xfrm>
            <a:off x="1508760" y="2496312"/>
            <a:ext cx="98755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96312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2834640"/>
            <a:ext cx="10890504" cy="22677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" y="3520440"/>
            <a:ext cx="841248" cy="84124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91256" y="3520440"/>
            <a:ext cx="841248" cy="84124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2916936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12664" y="3520440"/>
            <a:ext cx="841248" cy="84124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038344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34072" y="3520440"/>
            <a:ext cx="841248" cy="84124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159752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55480" y="3520440"/>
            <a:ext cx="841248" cy="841248"/>
          </a:xfrm>
          <a:prstGeom prst="rect">
            <a:avLst/>
          </a:prstGeom>
          <a:solidFill>
            <a:srgbClr val="FF0000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69848" y="3291840"/>
            <a:ext cx="8915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069848" y="2944368"/>
            <a:ext cx="8915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translateX(0)  to  translateX(300px)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109960" cy="658368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5596128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1207008" y="53949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animation-name picks the animation. animation-duration decides how long it takes. Those two alone are enough to move something.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CSS animations primarily used for?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smoothly change styles over 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only change font sizes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HTML elements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connect CSS with JavaScript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up for A, B, C, D. Then ask someone to name an animation they have seen on a site this week.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and Keyframes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stages of the journey, not just the destination.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@keyframes: from and to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2651760"/>
          </a:xfrm>
          <a:prstGeom prst="roundRect">
            <a:avLst>
              <a:gd name="adj" fmla="val 4138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keyframes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changeColor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is the starting point of the animation</a:t>
            </a:r>
            <a:endParaRPr lang="en-US" sz="14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is the ending point</a:t>
            </a:r>
            <a:endParaRPr lang="en-US" sz="14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fills in every frame in between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17627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 to  blue over 3 seconds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2651760"/>
            <a:ext cx="841248" cy="84124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507224" y="2651760"/>
            <a:ext cx="841248" cy="841248"/>
          </a:xfrm>
          <a:prstGeom prst="rect">
            <a:avLst/>
          </a:prstGeom>
          <a:solidFill>
            <a:srgbClr val="BF0040"/>
          </a:solidFill>
          <a:ln/>
        </p:spPr>
      </p:sp>
      <p:sp>
        <p:nvSpPr>
          <p:cNvPr id="16" name="Shape 14"/>
          <p:cNvSpPr/>
          <p:nvPr/>
        </p:nvSpPr>
        <p:spPr>
          <a:xfrm>
            <a:off x="8476488" y="2651760"/>
            <a:ext cx="841248" cy="841248"/>
          </a:xfrm>
          <a:prstGeom prst="rect">
            <a:avLst/>
          </a:prstGeom>
          <a:solidFill>
            <a:srgbClr val="800080"/>
          </a:solidFill>
          <a:ln/>
        </p:spPr>
      </p:sp>
      <p:sp>
        <p:nvSpPr>
          <p:cNvPr id="17" name="Shape 15"/>
          <p:cNvSpPr/>
          <p:nvPr/>
        </p:nvSpPr>
        <p:spPr>
          <a:xfrm>
            <a:off x="9445752" y="2651760"/>
            <a:ext cx="841248" cy="841248"/>
          </a:xfrm>
          <a:prstGeom prst="rect">
            <a:avLst/>
          </a:prstGeom>
          <a:solidFill>
            <a:srgbClr val="4000B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15016" y="2651760"/>
            <a:ext cx="841248" cy="841248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5661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415016" y="356616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92240" y="4023360"/>
            <a:ext cx="4892040" cy="1737360"/>
          </a:xfrm>
          <a:prstGeom prst="roundRect">
            <a:avLst>
              <a:gd name="adj" fmla="val 6316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48272" y="42428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6986016" y="42428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223760" y="42428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6748272" y="4553712"/>
            <a:ext cx="43799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animation-name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changeColor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animation-duration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keyframes: more than two stops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and to give you a start and an end. Percentages let you script everything in between.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3264408"/>
            <a:ext cx="4617720" cy="146304"/>
          </a:xfrm>
          <a:prstGeom prst="roundRect">
            <a:avLst>
              <a:gd name="adj" fmla="val 50000"/>
            </a:avLst>
          </a:prstGeom>
          <a:solidFill>
            <a:srgbClr val="C7DBFF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3108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98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40380" y="3108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D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1780" y="2798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3108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DB95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798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3236976"/>
            <a:ext cx="4617720" cy="146304"/>
          </a:xfrm>
          <a:prstGeom prst="roundRect">
            <a:avLst>
              <a:gd name="adj" fmla="val 50000"/>
            </a:avLst>
          </a:prstGeom>
          <a:solidFill>
            <a:srgbClr val="C7DB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310896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79806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3246" y="310896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D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4646" y="279806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37092" y="310896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DB95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8492" y="279806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90938" y="310896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00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62338" y="279806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844784" y="310896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9333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16184" y="279806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" y="456285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2416" y="456285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1280160" y="456285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4873752"/>
            <a:ext cx="49286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keyframes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colorChange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43434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92240" y="4526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is the start, 100% is the end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92240" y="48920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 between is a stop you get to design. Add as many as the animation needs: 25, 40, 60, 80. This is what makes complex motion possible.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@keyframes define in CSS?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stages of an animation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an HTML element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 webpage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of a JavaScript function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Chorus answer on three. Then ask: how many stages did our five-colour example have?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and Keyframes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371600"/>
            <a:ext cx="3200400" cy="3200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54000" dist="38100" dir="5400000">
              <a:srgbClr val="0B122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94960" y="22860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6426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09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 break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up. Water. Rest your eyes. We resume on the dot.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640080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6400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AND KEYFRAMES COVERED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the properties that control them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properties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dials that shape how the motion feels.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properties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13969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animation-name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@keyframes block to use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213969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animation-duration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3952" y="248716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one run takes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318211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animation-delay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" y="352958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to wait before starting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054096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3952" y="318211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animation-iteration-count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3952" y="352958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it runs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96512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" y="422452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animation-direction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457200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forwards, backwards, or alternating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4096512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3952" y="422452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animation-timing-function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73952" y="457200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pattern of the motion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38928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526694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animation-fill-mode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04672" y="561441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styles remain after it ends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17920" y="5138928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73952" y="526694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animation-play-state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73952" y="561441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or paused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delay and iteration-count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214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animation-delay: 2s   animation-duration: 3s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6868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 (2s)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9080" y="2606040"/>
            <a:ext cx="466344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069080" y="2606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animating  (3s)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823960" y="260604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823960" y="26060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32186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32186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95360" y="32186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1000ms = 1 second, so 500ms is half a second.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114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animation-iteration-count: 3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46177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617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14600" y="46177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2514600" y="4617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60520" y="46177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4617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5303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three times, then stops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9776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4114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animation-iteration-count: infinite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617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617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4617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4617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72600" y="4617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9372600" y="4617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835640" y="4617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537960" y="5303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stops, which is what a loader needs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animation-direction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the playhead travels through your keyframes, and what happens on the next run.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58775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88950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3108960"/>
            <a:ext cx="384048" cy="384048"/>
          </a:xfrm>
          <a:prstGeom prst="ellipse">
            <a:avLst/>
          </a:prstGeom>
          <a:solidFill>
            <a:srgbClr val="C7DB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53312" y="3300984"/>
            <a:ext cx="108813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42032" y="31089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84962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8680" y="4069080"/>
            <a:ext cx="384048" cy="384048"/>
          </a:xfrm>
          <a:prstGeom prst="ellipse">
            <a:avLst/>
          </a:prstGeom>
          <a:solidFill>
            <a:srgbClr val="C7DB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53312" y="4261104"/>
            <a:ext cx="108813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542032" y="40690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254203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48920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 end, every time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10712" y="242316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20440" y="258775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20440" y="288950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30752" y="310896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73075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15384" y="3300984"/>
            <a:ext cx="1088136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04104" y="3108960"/>
            <a:ext cx="384048" cy="384048"/>
          </a:xfrm>
          <a:prstGeom prst="ellipse">
            <a:avLst/>
          </a:prstGeom>
          <a:solidFill>
            <a:srgbClr val="C7DB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04104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0440" y="384962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30752" y="406908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73075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15384" y="4261104"/>
            <a:ext cx="1088136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404104" y="4069080"/>
            <a:ext cx="384048" cy="384048"/>
          </a:xfrm>
          <a:prstGeom prst="ellipse">
            <a:avLst/>
          </a:prstGeom>
          <a:solidFill>
            <a:srgbClr val="C7DB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04104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20440" y="48920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start, every time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72784" y="242316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82512" y="258775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82512" y="288950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92824" y="3108960"/>
            <a:ext cx="384048" cy="384048"/>
          </a:xfrm>
          <a:prstGeom prst="ellipse">
            <a:avLst/>
          </a:prstGeom>
          <a:solidFill>
            <a:srgbClr val="C7DBFF"/>
          </a:solidFill>
          <a:ln/>
        </p:spPr>
      </p:sp>
      <p:sp>
        <p:nvSpPr>
          <p:cNvPr id="40" name="Text 38"/>
          <p:cNvSpPr/>
          <p:nvPr/>
        </p:nvSpPr>
        <p:spPr>
          <a:xfrm>
            <a:off x="6592824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77456" y="3300984"/>
            <a:ext cx="108813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266176" y="310896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8266176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82512" y="384962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92824" y="406908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6592824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077456" y="4261104"/>
            <a:ext cx="108813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266176" y="4069080"/>
            <a:ext cx="384048" cy="384048"/>
          </a:xfrm>
          <a:prstGeom prst="ellipse">
            <a:avLst/>
          </a:prstGeom>
          <a:solidFill>
            <a:srgbClr val="C7DBFF"/>
          </a:solidFill>
          <a:ln/>
        </p:spPr>
      </p:sp>
      <p:sp>
        <p:nvSpPr>
          <p:cNvPr id="49" name="Text 47"/>
          <p:cNvSpPr/>
          <p:nvPr/>
        </p:nvSpPr>
        <p:spPr>
          <a:xfrm>
            <a:off x="826617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82512" y="48920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forward, then backward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9134856" y="2423160"/>
            <a:ext cx="2697480" cy="28803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244584" y="258775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alternate-reverse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244584" y="288950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454896" y="3108960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5" name="Text 53"/>
          <p:cNvSpPr/>
          <p:nvPr/>
        </p:nvSpPr>
        <p:spPr>
          <a:xfrm>
            <a:off x="9454896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939528" y="3300984"/>
            <a:ext cx="108813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1128248" y="3108960"/>
            <a:ext cx="384048" cy="384048"/>
          </a:xfrm>
          <a:prstGeom prst="ellipse">
            <a:avLst/>
          </a:prstGeom>
          <a:solidFill>
            <a:srgbClr val="C7DBFF"/>
          </a:solidFill>
          <a:ln/>
        </p:spPr>
      </p:sp>
      <p:sp>
        <p:nvSpPr>
          <p:cNvPr id="58" name="Text 56"/>
          <p:cNvSpPr/>
          <p:nvPr/>
        </p:nvSpPr>
        <p:spPr>
          <a:xfrm>
            <a:off x="1112824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244584" y="384962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454896" y="4069080"/>
            <a:ext cx="384048" cy="384048"/>
          </a:xfrm>
          <a:prstGeom prst="ellipse">
            <a:avLst/>
          </a:prstGeom>
          <a:solidFill>
            <a:srgbClr val="C7DBFF"/>
          </a:solidFill>
          <a:ln/>
        </p:spPr>
      </p:sp>
      <p:sp>
        <p:nvSpPr>
          <p:cNvPr id="61" name="Text 59"/>
          <p:cNvSpPr/>
          <p:nvPr/>
        </p:nvSpPr>
        <p:spPr>
          <a:xfrm>
            <a:off x="94548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939528" y="4261104"/>
            <a:ext cx="108813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1128248" y="4069080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4" name="Text 62"/>
          <p:cNvSpPr/>
          <p:nvPr/>
        </p:nvSpPr>
        <p:spPr>
          <a:xfrm>
            <a:off x="1112824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244584" y="48920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backward, then forward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48640" y="5532120"/>
            <a:ext cx="11109960" cy="685800"/>
          </a:xfrm>
          <a:prstGeom prst="roundRect">
            <a:avLst>
              <a:gd name="adj" fmla="val 16000"/>
            </a:avLst>
          </a:prstGeom>
          <a:solidFill>
            <a:srgbClr val="E7FBEF"/>
          </a:solidFill>
          <a:ln/>
        </p:spPr>
      </p:sp>
      <p:sp>
        <p:nvSpPr>
          <p:cNvPr id="67" name="Shape 65"/>
          <p:cNvSpPr/>
          <p:nvPr/>
        </p:nvSpPr>
        <p:spPr>
          <a:xfrm>
            <a:off x="749808" y="574700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8" name="Text 66"/>
          <p:cNvSpPr/>
          <p:nvPr/>
        </p:nvSpPr>
        <p:spPr>
          <a:xfrm>
            <a:off x="1207008" y="55321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is the start of your keyframes, E is the end. alternate is what makes a bouncing ball look natural instead of snapping back.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animation-timing-function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distance, same duration, different feel. The curve shows progress over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1214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343400"/>
            <a:ext cx="106622" cy="-82984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702" y="4260416"/>
            <a:ext cx="106642" cy="-8300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3345" y="4177416"/>
            <a:ext cx="106682" cy="-83031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027" y="4094385"/>
            <a:ext cx="106742" cy="-83078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6769" y="4011307"/>
            <a:ext cx="106822" cy="-8314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3591" y="3928168"/>
            <a:ext cx="106922" cy="-83217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512" y="3844950"/>
            <a:ext cx="107041" cy="-8331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7553" y="3761640"/>
            <a:ext cx="107181" cy="-83419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4734" y="3678221"/>
            <a:ext cx="107340" cy="-83543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2075" y="3594678"/>
            <a:ext cx="107520" cy="-83683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9594" y="3510995"/>
            <a:ext cx="107719" cy="-83838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17314" y="3427157"/>
            <a:ext cx="107939" cy="-84009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5252" y="3343148"/>
            <a:ext cx="108178" cy="-84195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33430" y="3258953"/>
            <a:ext cx="108437" cy="-84397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41867" y="3174556"/>
            <a:ext cx="108716" cy="-84614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50584" y="3089942"/>
            <a:ext cx="109016" cy="-84847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9600" y="3005095"/>
            <a:ext cx="109335" cy="-85095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934" y="2919999"/>
            <a:ext cx="109674" cy="-85359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45059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48970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speed throughout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88920" y="2743200"/>
            <a:ext cx="21214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4343400"/>
            <a:ext cx="76617" cy="-35882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56977" y="4307518"/>
            <a:ext cx="69637" cy="-55595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26614" y="4251922"/>
            <a:ext cx="64651" cy="-7267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91265" y="4179253"/>
            <a:ext cx="61659" cy="-87106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2924" y="4092147"/>
            <a:ext cx="60662" cy="-98902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13586" y="3993245"/>
            <a:ext cx="61659" cy="-108061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75245" y="3885184"/>
            <a:ext cx="64651" cy="-11458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9896" y="3770604"/>
            <a:ext cx="69637" cy="-11846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09533" y="3652144"/>
            <a:ext cx="76617" cy="-119702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86150" y="3532442"/>
            <a:ext cx="85592" cy="-118305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71742" y="3414136"/>
            <a:ext cx="96561" cy="-114269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68302" y="3299867"/>
            <a:ext cx="109524" cy="-107595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77827" y="3192272"/>
            <a:ext cx="124482" cy="-98282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02309" y="3093990"/>
            <a:ext cx="141434" cy="-86329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43743" y="3007661"/>
            <a:ext cx="160381" cy="-71739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04123" y="2935923"/>
            <a:ext cx="181322" cy="-54509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85445" y="2881414"/>
            <a:ext cx="204257" cy="-3464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89702" y="2846773"/>
            <a:ext cx="229186" cy="-12133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88920" y="245059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606040" y="448970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fast, slow (default)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0" y="2743200"/>
            <a:ext cx="21214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20640" y="4343400"/>
            <a:ext cx="138323" cy="-13453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58963" y="4329947"/>
            <a:ext cx="142591" cy="-38288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01554" y="4291659"/>
            <a:ext cx="145383" cy="-60019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46937" y="4231640"/>
            <a:ext cx="146699" cy="-7864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93636" y="4152994"/>
            <a:ext cx="146540" cy="-94168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40176" y="4058826"/>
            <a:ext cx="144904" cy="-1065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85080" y="3952240"/>
            <a:ext cx="141793" cy="-115899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873" y="3836341"/>
            <a:ext cx="137206" cy="-122108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64079" y="3714233"/>
            <a:ext cx="131143" cy="-125213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95222" y="3589020"/>
            <a:ext cx="123604" cy="-125213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18827" y="3463807"/>
            <a:ext cx="114590" cy="-122108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33416" y="3341699"/>
            <a:ext cx="104099" cy="-115899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37516" y="3225800"/>
            <a:ext cx="92133" cy="-10658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29649" y="3119214"/>
            <a:ext cx="78691" cy="-94168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8340" y="3025046"/>
            <a:ext cx="63773" cy="-7864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72114" y="2946400"/>
            <a:ext cx="47380" cy="-60019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19493" y="2886381"/>
            <a:ext cx="29510" cy="-38288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49003" y="2848093"/>
            <a:ext cx="10165" cy="-13453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0" y="245059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846320" y="448970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slowly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269480" y="2743200"/>
            <a:ext cx="21214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60920" y="4343400"/>
            <a:ext cx="10165" cy="-13453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371085" y="4329947"/>
            <a:ext cx="29510" cy="-38288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00595" y="4291659"/>
            <a:ext cx="47380" cy="-60019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47974" y="4231640"/>
            <a:ext cx="63773" cy="-78646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11748" y="4152994"/>
            <a:ext cx="78691" cy="-94168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90439" y="4058826"/>
            <a:ext cx="92133" cy="-106586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682572" y="3952240"/>
            <a:ext cx="104099" cy="-115899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86672" y="3836341"/>
            <a:ext cx="114590" cy="-122108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901261" y="3714233"/>
            <a:ext cx="123604" cy="-125213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24866" y="3589020"/>
            <a:ext cx="131143" cy="-125213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56009" y="3463807"/>
            <a:ext cx="137206" cy="-122108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93215" y="3341699"/>
            <a:ext cx="141793" cy="-115899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435008" y="3225800"/>
            <a:ext cx="144904" cy="-106586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579912" y="3119214"/>
            <a:ext cx="146540" cy="-94168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726452" y="3025046"/>
            <a:ext cx="146699" cy="-78646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73151" y="2946400"/>
            <a:ext cx="145383" cy="-60019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18534" y="2886381"/>
            <a:ext cx="142591" cy="-38288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161125" y="2848093"/>
            <a:ext cx="138323" cy="-13453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269480" y="245059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ease-out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7086600" y="448970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slowly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9509760" y="2743200"/>
            <a:ext cx="212140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601200" y="4343400"/>
            <a:ext cx="131203" cy="-13453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732403" y="4329947"/>
            <a:ext cx="122906" cy="-38288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55309" y="4291659"/>
            <a:ext cx="115647" cy="-60019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970956" y="4231640"/>
            <a:ext cx="109424" cy="-7864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080381" y="4152994"/>
            <a:ext cx="104239" cy="-94168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184620" y="4058826"/>
            <a:ext cx="100091" cy="-10658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284711" y="3952240"/>
            <a:ext cx="96980" cy="-115899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381690" y="3836341"/>
            <a:ext cx="94905" cy="-122108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476596" y="3714233"/>
            <a:ext cx="93868" cy="-125213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570464" y="3589020"/>
            <a:ext cx="93868" cy="-125213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664332" y="3463807"/>
            <a:ext cx="94905" cy="-122108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59238" y="3341699"/>
            <a:ext cx="96980" cy="-115899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856217" y="3225800"/>
            <a:ext cx="100091" cy="-10658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956308" y="3119214"/>
            <a:ext cx="104239" cy="-94168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060547" y="3025046"/>
            <a:ext cx="109424" cy="-7864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169972" y="2946400"/>
            <a:ext cx="115647" cy="-60019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285619" y="2886381"/>
            <a:ext cx="122906" cy="-38288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408525" y="2848093"/>
            <a:ext cx="131203" cy="-13453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509760" y="245059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ease-in-out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9326880" y="448970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at both ends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45720" y="3291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548640" y="5029200"/>
            <a:ext cx="11109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868680" y="548640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steep part of the curve means the element is moving fast at that moment. A flat part means it is barely moving.</a:t>
            </a:r>
            <a:endParaRPr lang="en-US" sz="1400" dirty="0"/>
          </a:p>
        </p:txBody>
      </p:sp>
      <p:sp>
        <p:nvSpPr>
          <p:cNvPr id="115" name="Text 11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 -  SWITCH TO VS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five boxes to see the difference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110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110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110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8013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625449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animation-name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moveBox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animation-duration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animation-timing-function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animation-timing-function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animation-timing-function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ease-out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animation-timing-function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ease-out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ease-in-out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animation-timing-function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ease-in-out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keyframes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moveBox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WHILE YOU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286000"/>
            <a:ext cx="3794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boxes, same distance, same four seconds.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all start and finish together. Only the middle differs.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linear: it is the only one at a constant speed.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ease-in crawls off the line, ease-out coasts into the wall.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 which one feels most natural. Usually ease.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and Keyframes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property makes an animation repeat forever?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animation-repeat: infinite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animation-iteration-count: infinite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animation-duration: infinite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animation-loop: infinite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first. Three of these four are not real CSS properties at all. Which three?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and Keyframes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animation shorthand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577840" cy="2834640"/>
          </a:xfrm>
          <a:prstGeom prst="roundRect">
            <a:avLst>
              <a:gd name="adj" fmla="val 3871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long way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506577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animation-name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moveBox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animation-duration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animation-timing-function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ease-in-out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animation-delay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animation-iteration-count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animation-direction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3291840"/>
            <a:ext cx="41148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12280" y="1965960"/>
            <a:ext cx="4846320" cy="2834640"/>
          </a:xfrm>
          <a:prstGeom prst="roundRect">
            <a:avLst>
              <a:gd name="adj" fmla="val 3871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6831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730605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54380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20756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short way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68312" y="2496312"/>
            <a:ext cx="43342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moveBox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ease-in-out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" y="520293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moveBox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5577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23160" y="5074920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96312" y="520293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96312" y="5577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5074920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70832" y="520293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ease-in-out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70832" y="5577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timing-function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5074920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45352" y="520293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45352" y="5577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5074920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19872" y="520293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19872" y="5577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iteration-count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21240" y="5074920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994392" y="520293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994392" y="557784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17220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matters: name, duration, timing-function, delay, iteration-count, direction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371600"/>
            <a:ext cx="3200400" cy="3200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54000" dist="38100" dir="5400000">
              <a:srgbClr val="0B122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94960" y="22860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6426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09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 break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up. Water. Rest your eyes. We resume on the dot.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64008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6400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PROPERTIES COVERED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building a loader and a moving box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real things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moving box, a spinner, and a bouncing ball.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that travels in a square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moveBox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keyframes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moveBox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300px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300px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300px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75%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300px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35240" y="2834640"/>
            <a:ext cx="17373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012680" y="2834640"/>
            <a:ext cx="0" cy="13716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012680" y="4846320"/>
            <a:ext cx="-17373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4846320"/>
            <a:ext cx="0" cy="-13716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2514600"/>
            <a:ext cx="640080" cy="640080"/>
          </a:xfrm>
          <a:prstGeom prst="rect">
            <a:avLst/>
          </a:prstGeom>
          <a:solidFill>
            <a:srgbClr val="FF634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6791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 / 100%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92640" y="2514600"/>
            <a:ext cx="640080" cy="640080"/>
          </a:xfrm>
          <a:prstGeom prst="rect">
            <a:avLst/>
          </a:prstGeom>
          <a:solidFill>
            <a:srgbClr val="FF6347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0" y="26791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92640" y="4526280"/>
            <a:ext cx="640080" cy="640080"/>
          </a:xfrm>
          <a:prstGeom prst="rect">
            <a:avLst/>
          </a:prstGeom>
          <a:solidFill>
            <a:srgbClr val="FF6347"/>
          </a:solidFill>
          <a:ln/>
        </p:spPr>
      </p:sp>
      <p:sp>
        <p:nvSpPr>
          <p:cNvPr id="23" name="Text 21"/>
          <p:cNvSpPr/>
          <p:nvPr/>
        </p:nvSpPr>
        <p:spPr>
          <a:xfrm>
            <a:off x="969264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0" y="46908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4526280"/>
            <a:ext cx="640080" cy="640080"/>
          </a:xfrm>
          <a:prstGeom prst="rect">
            <a:avLst/>
          </a:prstGeom>
          <a:solidFill>
            <a:srgbClr val="FF6347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46908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54406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right, down, left, back up: one continuous loop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 -  SWITCH TO VS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spinner from one div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110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110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110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8013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625449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lightgray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border-top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rotateLoader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keyframes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rotateLoader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0deg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360deg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WHILE YOU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286000"/>
            <a:ext cx="3794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square, then border-radius: 50% makes it a circle.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grey border all round, and one blue edge on top.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blue edge is the only thing you can see spinning.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matters here: a spinner must not speed up or slow down.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keeps it going until the page is ready.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and Keyframes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rotation, frame by frame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top border is coloured, so a full 360 degree turn reads as a spinning arc.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121408" cy="23774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42416" y="2926080"/>
            <a:ext cx="1133856" cy="1133856"/>
          </a:xfrm>
          <a:prstGeom prst="ellipse">
            <a:avLst/>
          </a:prstGeom>
          <a:solidFill>
            <a:srgbClr val="FFFFFF"/>
          </a:solidFill>
          <a:ln w="76200">
            <a:solidFill>
              <a:srgbClr val="D3D3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2788920"/>
            <a:ext cx="274320" cy="274320"/>
          </a:xfrm>
          <a:prstGeom prst="ellipse">
            <a:avLst/>
          </a:prstGeom>
          <a:solidFill>
            <a:srgbClr val="0000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25196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0deg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1713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2468880"/>
            <a:ext cx="2121408" cy="23774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82696" y="2926080"/>
            <a:ext cx="1133856" cy="1133856"/>
          </a:xfrm>
          <a:prstGeom prst="ellipse">
            <a:avLst/>
          </a:prstGeom>
          <a:solidFill>
            <a:srgbClr val="FFFFFF"/>
          </a:solidFill>
          <a:ln w="76200">
            <a:solidFill>
              <a:srgbClr val="D3D3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9392" y="3355848"/>
            <a:ext cx="274320" cy="274320"/>
          </a:xfrm>
          <a:prstGeom prst="ellipse">
            <a:avLst/>
          </a:prstGeom>
          <a:solidFill>
            <a:srgbClr val="0000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425196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90deg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451713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0" y="2468880"/>
            <a:ext cx="2121408" cy="23774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22976" y="2926080"/>
            <a:ext cx="1133856" cy="1133856"/>
          </a:xfrm>
          <a:prstGeom prst="ellipse">
            <a:avLst/>
          </a:prstGeom>
          <a:solidFill>
            <a:srgbClr val="FFFFFF"/>
          </a:solidFill>
          <a:ln w="76200">
            <a:solidFill>
              <a:srgbClr val="D3D3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52744" y="3922776"/>
            <a:ext cx="274320" cy="274320"/>
          </a:xfrm>
          <a:prstGeom prst="ellipse">
            <a:avLst/>
          </a:prstGeom>
          <a:solidFill>
            <a:srgbClr val="0000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425196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180deg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451713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69480" y="2468880"/>
            <a:ext cx="2121408" cy="23774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63256" y="2926080"/>
            <a:ext cx="1133856" cy="1133856"/>
          </a:xfrm>
          <a:prstGeom prst="ellipse">
            <a:avLst/>
          </a:prstGeom>
          <a:solidFill>
            <a:srgbClr val="FFFFFF"/>
          </a:solidFill>
          <a:ln w="76200">
            <a:solidFill>
              <a:srgbClr val="D3D3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6096" y="3355848"/>
            <a:ext cx="274320" cy="274320"/>
          </a:xfrm>
          <a:prstGeom prst="ellipse">
            <a:avLst/>
          </a:prstGeom>
          <a:solidFill>
            <a:srgbClr val="0000FF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425196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270deg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9480" y="451713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09760" y="2468880"/>
            <a:ext cx="2121408" cy="23774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03536" y="2926080"/>
            <a:ext cx="1133856" cy="1133856"/>
          </a:xfrm>
          <a:prstGeom prst="ellipse">
            <a:avLst/>
          </a:prstGeom>
          <a:solidFill>
            <a:srgbClr val="FFFFFF"/>
          </a:solidFill>
          <a:ln w="76200">
            <a:solidFill>
              <a:srgbClr val="D3D3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33304" y="2788920"/>
            <a:ext cx="274320" cy="274320"/>
          </a:xfrm>
          <a:prstGeom prst="ellipse">
            <a:avLst/>
          </a:prstGeom>
          <a:solidFill>
            <a:srgbClr val="0000FF"/>
          </a:solidFill>
          <a:ln/>
        </p:spPr>
      </p:sp>
      <p:sp>
        <p:nvSpPr>
          <p:cNvPr id="29" name="Text 27"/>
          <p:cNvSpPr/>
          <p:nvPr/>
        </p:nvSpPr>
        <p:spPr>
          <a:xfrm>
            <a:off x="9509760" y="425196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360deg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09760" y="451713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109960" cy="713232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" y="5349240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1207008" y="51206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0deg and 360deg look identical, which is exactly why the loop is seamless. There is no visible jump when it restarts.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1615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16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vs animations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2140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275942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762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Transition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4892040" cy="1417320"/>
          </a:xfrm>
          <a:prstGeom prst="roundRect">
            <a:avLst>
              <a:gd name="adj" fmla="val 7742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78992" y="296265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316736" y="296265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554480" y="296265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3273552"/>
            <a:ext cx="43799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192024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0" y="212140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774" y="2275942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1762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492240" y="2743200"/>
            <a:ext cx="4892040" cy="1417320"/>
          </a:xfrm>
          <a:prstGeom prst="roundRect">
            <a:avLst>
              <a:gd name="adj" fmla="val 7742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748272" y="296265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6"/>
          <p:cNvSpPr/>
          <p:nvPr/>
        </p:nvSpPr>
        <p:spPr>
          <a:xfrm>
            <a:off x="6986016" y="296265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7"/>
          <p:cNvSpPr/>
          <p:nvPr/>
        </p:nvSpPr>
        <p:spPr>
          <a:xfrm>
            <a:off x="7223760" y="296265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8"/>
          <p:cNvSpPr/>
          <p:nvPr/>
        </p:nvSpPr>
        <p:spPr>
          <a:xfrm>
            <a:off x="6748272" y="3273552"/>
            <a:ext cx="43799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moveBox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4526280"/>
            <a:ext cx="5440680" cy="420624"/>
          </a:xfrm>
          <a:prstGeom prst="rect">
            <a:avLst/>
          </a:prstGeom>
          <a:solidFill>
            <a:srgbClr val="FDF6EC"/>
          </a:solidFill>
          <a:ln/>
        </p:spPr>
      </p:sp>
      <p:sp>
        <p:nvSpPr>
          <p:cNvPr id="24" name="Text 20"/>
          <p:cNvSpPr/>
          <p:nvPr/>
        </p:nvSpPr>
        <p:spPr>
          <a:xfrm>
            <a:off x="777240" y="452628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needs a state change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17920" y="4526280"/>
            <a:ext cx="5440680" cy="420624"/>
          </a:xfrm>
          <a:prstGeom prst="rect">
            <a:avLst/>
          </a:prstGeom>
          <a:solidFill>
            <a:srgbClr val="F2F7FF"/>
          </a:solidFill>
          <a:ln/>
        </p:spPr>
      </p:sp>
      <p:sp>
        <p:nvSpPr>
          <p:cNvPr id="26" name="Text 22"/>
          <p:cNvSpPr/>
          <p:nvPr/>
        </p:nvSpPr>
        <p:spPr>
          <a:xfrm>
            <a:off x="6446520" y="452628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start on its own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548640" y="5001768"/>
            <a:ext cx="5440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/>
          <p:nvPr/>
        </p:nvSpPr>
        <p:spPr>
          <a:xfrm>
            <a:off x="777240" y="50017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start state, one end state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217920" y="5001768"/>
            <a:ext cx="5440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6"/>
          <p:cNvSpPr/>
          <p:nvPr/>
        </p:nvSpPr>
        <p:spPr>
          <a:xfrm>
            <a:off x="6446520" y="50017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many stages as you like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548640" y="5477256"/>
            <a:ext cx="5440680" cy="420624"/>
          </a:xfrm>
          <a:prstGeom prst="rect">
            <a:avLst/>
          </a:prstGeom>
          <a:solidFill>
            <a:srgbClr val="FDF6EC"/>
          </a:solidFill>
          <a:ln/>
        </p:spPr>
      </p:sp>
      <p:sp>
        <p:nvSpPr>
          <p:cNvPr id="32" name="Text 28"/>
          <p:cNvSpPr/>
          <p:nvPr/>
        </p:nvSpPr>
        <p:spPr>
          <a:xfrm>
            <a:off x="777240" y="547725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transition properties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6217920" y="5477256"/>
            <a:ext cx="5440680" cy="420624"/>
          </a:xfrm>
          <a:prstGeom prst="rect">
            <a:avLst/>
          </a:prstGeom>
          <a:solidFill>
            <a:srgbClr val="F2F7FF"/>
          </a:solidFill>
          <a:ln/>
        </p:spPr>
      </p:sp>
      <p:sp>
        <p:nvSpPr>
          <p:cNvPr id="34" name="Text 30"/>
          <p:cNvSpPr/>
          <p:nvPr/>
        </p:nvSpPr>
        <p:spPr>
          <a:xfrm>
            <a:off x="6446520" y="547725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@keyframes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548640" y="5952744"/>
            <a:ext cx="5440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2"/>
          <p:cNvSpPr/>
          <p:nvPr/>
        </p:nvSpPr>
        <p:spPr>
          <a:xfrm>
            <a:off x="777240" y="595274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simple effects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6217920" y="5952744"/>
            <a:ext cx="5440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4"/>
          <p:cNvSpPr/>
          <p:nvPr/>
        </p:nvSpPr>
        <p:spPr>
          <a:xfrm>
            <a:off x="6446520" y="595274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complex effects</a:t>
            </a:r>
            <a:endParaRPr lang="en-US" sz="1250" dirty="0"/>
          </a:p>
        </p:txBody>
      </p:sp>
      <p:sp>
        <p:nvSpPr>
          <p:cNvPr id="39" name="Text 35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CSS feature lets us create multiple stages of movement?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Borders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Transitions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Keyframes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Display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four, one scribe. Agree on an answer, and be ready to say why the runner-up is wrong.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and Keyframes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7228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72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FINISHING TOUCHES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fill-mode and play-state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animation-fill-mode: forwards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an element snaps back to its original styles when the animation ends. forwards tells it to keep the final frame.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forwards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840480"/>
            <a:ext cx="484632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913632"/>
            <a:ext cx="420624" cy="42062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508760" y="4123944"/>
            <a:ext cx="4023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headEnd type="triangle"/>
          </a:ln>
        </p:spPr>
      </p:sp>
      <p:sp>
        <p:nvSpPr>
          <p:cNvPr id="12" name="Text 10"/>
          <p:cNvSpPr/>
          <p:nvPr/>
        </p:nvSpPr>
        <p:spPr>
          <a:xfrm>
            <a:off x="1600200" y="3877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 home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forwards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892040"/>
            <a:ext cx="4846320" cy="566928"/>
          </a:xfrm>
          <a:prstGeom prst="rect">
            <a:avLst/>
          </a:prstGeom>
          <a:solidFill>
            <a:srgbClr val="E5EE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202936" y="4965192"/>
            <a:ext cx="420624" cy="42062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010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5321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holds its final position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animation-play-state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5420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 animation and resume it, without removing it.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92240" y="3154680"/>
            <a:ext cx="4892040" cy="1737360"/>
          </a:xfrm>
          <a:prstGeom prst="roundRect">
            <a:avLst>
              <a:gd name="adj" fmla="val 6316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48272" y="337413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6986016" y="337413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223760" y="337413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6748272" y="3685032"/>
            <a:ext cx="43799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moveBox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animation-play-state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paused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4937760"/>
            <a:ext cx="2286000" cy="658368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9400" y="4937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06840" y="4937760"/>
            <a:ext cx="2286000" cy="658368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098280" y="4937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56509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 pause, move away to resume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build a bouncing ball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235440" y="502920"/>
            <a:ext cx="24231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72600" y="658368"/>
            <a:ext cx="457200" cy="457200"/>
          </a:xfrm>
          <a:prstGeom prst="ellipse">
            <a:avLst/>
          </a:prstGeom>
          <a:solidFill>
            <a:srgbClr val="FFF1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2" y="77724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21240" y="658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four, one scribe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72600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8 min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11109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19202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 </a:t>
            </a:r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circle bounce up and down, forever, with a natural ease at each end.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25880" y="363016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100px square with border-radius: 50% and a tomato background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5800" y="4443984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25880" y="4416552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keyframes block called bounce using translateY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85800" y="5230368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580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25880" y="5202936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1s, iteration-count infinite, direction alternate, timing ease-in-out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85800" y="6016752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5800" y="6016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25880" y="59893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four: compare whose ball looks most natural and why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and Keyframes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1216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12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Bouncing ball: the solution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760720" cy="3977640"/>
          </a:xfrm>
          <a:prstGeom prst="roundRect">
            <a:avLst>
              <a:gd name="adj" fmla="val 275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5248656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100px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100px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tomato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ease-in-out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keyframes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translateY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translateY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300px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96596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2697480"/>
            <a:ext cx="566928" cy="566928"/>
          </a:xfrm>
          <a:prstGeom prst="ellipse">
            <a:avLst/>
          </a:prstGeom>
          <a:solidFill>
            <a:srgbClr val="FFC7B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90688" y="3154680"/>
            <a:ext cx="566928" cy="566928"/>
          </a:xfrm>
          <a:prstGeom prst="ellipse">
            <a:avLst/>
          </a:prstGeom>
          <a:solidFill>
            <a:srgbClr val="FFA5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631936" y="3749040"/>
            <a:ext cx="566928" cy="566928"/>
          </a:xfrm>
          <a:prstGeom prst="ellipse">
            <a:avLst/>
          </a:prstGeom>
          <a:solidFill>
            <a:srgbClr val="FF8469"/>
          </a:solidFill>
          <a:ln/>
        </p:spPr>
      </p:sp>
      <p:sp>
        <p:nvSpPr>
          <p:cNvPr id="15" name="Shape 13"/>
          <p:cNvSpPr/>
          <p:nvPr/>
        </p:nvSpPr>
        <p:spPr>
          <a:xfrm>
            <a:off x="9473184" y="4343400"/>
            <a:ext cx="566928" cy="566928"/>
          </a:xfrm>
          <a:prstGeom prst="ellipse">
            <a:avLst/>
          </a:prstGeom>
          <a:solidFill>
            <a:srgbClr val="FF634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14432" y="4782312"/>
            <a:ext cx="566928" cy="566928"/>
          </a:xfrm>
          <a:prstGeom prst="ellipse">
            <a:avLst/>
          </a:prstGeom>
          <a:solidFill>
            <a:srgbClr val="FF6347"/>
          </a:solidFill>
          <a:ln/>
        </p:spPr>
      </p:sp>
      <p:sp>
        <p:nvSpPr>
          <p:cNvPr id="17" name="Shape 15"/>
          <p:cNvSpPr/>
          <p:nvPr/>
        </p:nvSpPr>
        <p:spPr>
          <a:xfrm>
            <a:off x="6903720" y="5349240"/>
            <a:ext cx="43891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translateY(0)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0" y="5413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translateY(300px)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566928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sends it back up, ease-in-out softens both ends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animation property controls whether the animation runs forward, backward, or alternates?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animation-duration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animation-direction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animation-delay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animation-fill-mode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vote of the day. Then ask which value we used to make the ball come back down.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and Keyframes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2860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374" y="244053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83080" y="25328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and to, or percentages for multiple stages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46520" y="19659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2860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654" y="24405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 and delay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452360" y="25328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runs, and how long it waits first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77240" y="3337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5840" y="36576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374" y="38121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iteration-count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783080" y="39044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number, or infinite for loaders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46520" y="3337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75120" y="36576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54" y="381213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452360" y="39044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reverse, alternate, alternate-reverse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77240" y="47091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05840" y="5029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374" y="5183734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8308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timing-function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783080" y="5276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ease, ease-in, ease-out, ease-in-out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446520" y="47091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675120" y="5029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654" y="5183734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45236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shorthand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7452360" y="5276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duration timing delay count direction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623560" y="1371600"/>
            <a:ext cx="1188720" cy="11887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27" y="168066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doubts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56616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add a loader to your portfolio, and animate one section as it appears.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0" y="4480560"/>
            <a:ext cx="4873752" cy="100584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0" y="4480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should guide the eye, not fight 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2026-08-31T11:49:47Z</dcterms:created>
  <dcterms:modified xsi:type="dcterms:W3CDTF">2026-08-31T11:49:47Z</dcterms:modified>
</cp:coreProperties>
</file>
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4937760" cy="4937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291840" cy="3291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8016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5  -  WEB DEVELOPMENT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Flexbox and</a:t>
            </a:r>
            <a:endParaRPr lang="en-US" sz="5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anything in a row or column. Then make it adapt to every screen.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0" y="1097280"/>
            <a:ext cx="1051560" cy="10515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006" y="1370686"/>
            <a:ext cx="504749" cy="5047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turn stubborn stacks of boxes into layouts that behave.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557577"/>
            <a:ext cx="416966" cy="4169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29000" y="233172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290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34290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Flexbox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8680" y="42062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layout model that arranges items with a few lines - if you think graphically.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16552" y="196596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36592" y="2331720"/>
            <a:ext cx="868680" cy="86868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449" y="2557577"/>
            <a:ext cx="416966" cy="41696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296912" y="233172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729691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736592" y="34290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layout properties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736592" y="42062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direction, justify-content, align-items, wrap, and the child properties order / grow / shrink.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284464" y="196596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604504" y="2331720"/>
            <a:ext cx="868680" cy="86868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0361" y="2557577"/>
            <a:ext cx="416966" cy="416966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1164824" y="233172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1116482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604504" y="34290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8604504" y="42062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styles based on screen size so one page looks right on every device.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container, some items, and full control over how they sit.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Flexbox?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94360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86000"/>
            <a:ext cx="5349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= flexible box. A layout model built for arranging elements.</a:t>
            </a:r>
            <a:endParaRPr lang="en-US" sz="16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container (the parent) that holds items (the children).</a:t>
            </a:r>
            <a:endParaRPr lang="en-US" sz="16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decides how the items line up, space out, and align.</a:t>
            </a:r>
            <a:endParaRPr lang="en-US" sz="1600" dirty="0"/>
          </a:p>
          <a:p>
            <a:pPr algn="l"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and justify with a few lines - but you have to think graphically.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1965960"/>
            <a:ext cx="4892040" cy="3931920"/>
          </a:xfrm>
          <a:prstGeom prst="roundRect">
            <a:avLst>
              <a:gd name="adj" fmla="val 2791"/>
            </a:avLst>
          </a:prstGeom>
          <a:solidFill>
            <a:srgbClr val="111B3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0" y="2194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86600" y="2697480"/>
            <a:ext cx="4251960" cy="1371600"/>
          </a:xfrm>
          <a:prstGeom prst="roundRect">
            <a:avLst>
              <a:gd name="adj" fmla="val 5333"/>
            </a:avLst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7416927" y="309981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416927" y="3099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25053" y="309981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425053" y="3099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33179" y="309981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9433179" y="3099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441305" y="309981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10441305" y="3099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86600" y="425196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is the stage. The items are the dancers. Flexbox is the choreographer that lines them up.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086600" y="52578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a squad taking formation before the big scene.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1216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121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FLEX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with four plain boxes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400800" cy="4114800"/>
          </a:xfrm>
          <a:prstGeom prst="roundRect">
            <a:avLst>
              <a:gd name="adj" fmla="val 2667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588873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tomato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2px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solid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500px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100px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100px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dodgerblue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10px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"container"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"box"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"box"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"box"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"box"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23760" y="1965960"/>
            <a:ext cx="4434840" cy="3703320"/>
          </a:xfrm>
          <a:prstGeom prst="roundRect">
            <a:avLst>
              <a:gd name="adj" fmla="val 2469"/>
            </a:avLst>
          </a:prstGeom>
          <a:solidFill>
            <a:srgbClr val="E8EEF7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24928" y="213055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6096" y="213055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7827264" y="213055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0" y="2084832"/>
            <a:ext cx="32004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0848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33488" y="2423160"/>
            <a:ext cx="4215384" cy="31363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653528" y="2606040"/>
            <a:ext cx="2194560" cy="2770632"/>
          </a:xfrm>
          <a:prstGeom prst="rect">
            <a:avLst/>
          </a:prstGeom>
          <a:solidFill>
            <a:srgbClr val="FF6347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99832" y="2752344"/>
            <a:ext cx="523494" cy="523494"/>
          </a:xfrm>
          <a:prstGeom prst="roundRect">
            <a:avLst>
              <a:gd name="adj" fmla="val 8734"/>
            </a:avLst>
          </a:prstGeom>
          <a:solidFill>
            <a:srgbClr val="1E90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99832" y="2752344"/>
            <a:ext cx="52349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99832" y="3403854"/>
            <a:ext cx="523494" cy="523494"/>
          </a:xfrm>
          <a:prstGeom prst="roundRect">
            <a:avLst>
              <a:gd name="adj" fmla="val 8734"/>
            </a:avLst>
          </a:prstGeom>
          <a:solidFill>
            <a:srgbClr val="1E90FF"/>
          </a:solidFill>
          <a:ln/>
        </p:spPr>
      </p:sp>
      <p:sp>
        <p:nvSpPr>
          <p:cNvPr id="22" name="Text 20"/>
          <p:cNvSpPr/>
          <p:nvPr/>
        </p:nvSpPr>
        <p:spPr>
          <a:xfrm>
            <a:off x="7799832" y="3403854"/>
            <a:ext cx="52349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99832" y="4055364"/>
            <a:ext cx="523494" cy="523494"/>
          </a:xfrm>
          <a:prstGeom prst="roundRect">
            <a:avLst>
              <a:gd name="adj" fmla="val 8734"/>
            </a:avLst>
          </a:prstGeom>
          <a:solidFill>
            <a:srgbClr val="1E90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99832" y="4055364"/>
            <a:ext cx="52349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99832" y="4706874"/>
            <a:ext cx="523494" cy="523494"/>
          </a:xfrm>
          <a:prstGeom prst="roundRect">
            <a:avLst>
              <a:gd name="adj" fmla="val 8734"/>
            </a:avLst>
          </a:prstGeom>
          <a:solidFill>
            <a:srgbClr val="1E90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99832" y="4706874"/>
            <a:ext cx="52349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57790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divs are block elements, so they stack top to bottom.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 -  SWITCH TO VS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Flexbox: display: flex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1109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91109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91109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8013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221992"/>
            <a:ext cx="625449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tomato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solid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WHILE YOU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286000"/>
            <a:ext cx="3794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touch the parent - the container.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makes it a flex container.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direct children become flex items automatically.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refresh. The four boxes jump into a row.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line replaced a stack with a row.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Flexbox and Media Queries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line, stack becomes row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(no flex)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4937760" cy="3566160"/>
          </a:xfrm>
          <a:prstGeom prst="roundRect">
            <a:avLst>
              <a:gd name="adj" fmla="val 2564"/>
            </a:avLst>
          </a:prstGeom>
          <a:solidFill>
            <a:srgbClr val="E8EEF7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25420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" y="25420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380744" y="25420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2496312"/>
            <a:ext cx="3703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4963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86968" y="2834640"/>
            <a:ext cx="4718304" cy="2999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52728" y="3063240"/>
            <a:ext cx="2194560" cy="2542032"/>
          </a:xfrm>
          <a:prstGeom prst="rect">
            <a:avLst/>
          </a:prstGeom>
          <a:solidFill>
            <a:srgbClr val="FF6347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99032" y="3209544"/>
            <a:ext cx="466344" cy="466344"/>
          </a:xfrm>
          <a:prstGeom prst="roundRect">
            <a:avLst>
              <a:gd name="adj" fmla="val 9804"/>
            </a:avLst>
          </a:prstGeom>
          <a:solidFill>
            <a:srgbClr val="1E90FF"/>
          </a:solidFill>
          <a:ln/>
        </p:spPr>
      </p:sp>
      <p:sp>
        <p:nvSpPr>
          <p:cNvPr id="15" name="Text 13"/>
          <p:cNvSpPr/>
          <p:nvPr/>
        </p:nvSpPr>
        <p:spPr>
          <a:xfrm>
            <a:off x="1399032" y="3209544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99032" y="3803904"/>
            <a:ext cx="466344" cy="466344"/>
          </a:xfrm>
          <a:prstGeom prst="roundRect">
            <a:avLst>
              <a:gd name="adj" fmla="val 9804"/>
            </a:avLst>
          </a:prstGeom>
          <a:solidFill>
            <a:srgbClr val="1E90FF"/>
          </a:solidFill>
          <a:ln/>
        </p:spPr>
      </p:sp>
      <p:sp>
        <p:nvSpPr>
          <p:cNvPr id="17" name="Text 15"/>
          <p:cNvSpPr/>
          <p:nvPr/>
        </p:nvSpPr>
        <p:spPr>
          <a:xfrm>
            <a:off x="1399032" y="3803904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99032" y="4398264"/>
            <a:ext cx="466344" cy="466344"/>
          </a:xfrm>
          <a:prstGeom prst="roundRect">
            <a:avLst>
              <a:gd name="adj" fmla="val 9804"/>
            </a:avLst>
          </a:prstGeom>
          <a:solidFill>
            <a:srgbClr val="1E90FF"/>
          </a:solidFill>
          <a:ln/>
        </p:spPr>
      </p:sp>
      <p:sp>
        <p:nvSpPr>
          <p:cNvPr id="19" name="Text 17"/>
          <p:cNvSpPr/>
          <p:nvPr/>
        </p:nvSpPr>
        <p:spPr>
          <a:xfrm>
            <a:off x="1399032" y="4398264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99032" y="4992624"/>
            <a:ext cx="466344" cy="466344"/>
          </a:xfrm>
          <a:prstGeom prst="roundRect">
            <a:avLst>
              <a:gd name="adj" fmla="val 9804"/>
            </a:avLst>
          </a:prstGeom>
          <a:solidFill>
            <a:srgbClr val="1E90FF"/>
          </a:solidFill>
          <a:ln/>
        </p:spPr>
      </p:sp>
      <p:sp>
        <p:nvSpPr>
          <p:cNvPr id="21" name="Text 19"/>
          <p:cNvSpPr/>
          <p:nvPr/>
        </p:nvSpPr>
        <p:spPr>
          <a:xfrm>
            <a:off x="1399032" y="4992624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(display: flex)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23774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E8EEF7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93408" y="25420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3"/>
          <p:cNvSpPr/>
          <p:nvPr/>
        </p:nvSpPr>
        <p:spPr>
          <a:xfrm>
            <a:off x="6894576" y="25420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4"/>
          <p:cNvSpPr/>
          <p:nvPr/>
        </p:nvSpPr>
        <p:spPr>
          <a:xfrm>
            <a:off x="7095744" y="25420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Shape 25"/>
          <p:cNvSpPr/>
          <p:nvPr/>
        </p:nvSpPr>
        <p:spPr>
          <a:xfrm>
            <a:off x="7452360" y="2496312"/>
            <a:ext cx="38862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2496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01968" y="2834640"/>
            <a:ext cx="4901184" cy="2999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876288" y="3749040"/>
            <a:ext cx="4352544" cy="1188720"/>
          </a:xfrm>
          <a:prstGeom prst="rect">
            <a:avLst/>
          </a:prstGeom>
          <a:solidFill>
            <a:srgbClr val="FF6347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94576" y="3767328"/>
            <a:ext cx="4315968" cy="1152144"/>
          </a:xfrm>
          <a:prstGeom prst="roundRect">
            <a:avLst>
              <a:gd name="adj" fmla="val 6349"/>
            </a:avLst>
          </a:prstGeom>
          <a:solidFill>
            <a:srgbClr val="FF6347"/>
          </a:solidFill>
          <a:ln/>
        </p:spPr>
      </p:sp>
      <p:sp>
        <p:nvSpPr>
          <p:cNvPr id="32" name="Shape 30"/>
          <p:cNvSpPr/>
          <p:nvPr/>
        </p:nvSpPr>
        <p:spPr>
          <a:xfrm>
            <a:off x="7022592" y="4096969"/>
            <a:ext cx="566928" cy="492862"/>
          </a:xfrm>
          <a:prstGeom prst="roundRect">
            <a:avLst>
              <a:gd name="adj" fmla="val 9276"/>
            </a:avLst>
          </a:prstGeom>
          <a:solidFill>
            <a:srgbClr val="1E90FF"/>
          </a:solidFill>
          <a:ln/>
        </p:spPr>
      </p:sp>
      <p:sp>
        <p:nvSpPr>
          <p:cNvPr id="33" name="Text 31"/>
          <p:cNvSpPr/>
          <p:nvPr/>
        </p:nvSpPr>
        <p:spPr>
          <a:xfrm>
            <a:off x="7022592" y="4096969"/>
            <a:ext cx="5669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35824" y="4096969"/>
            <a:ext cx="566928" cy="492862"/>
          </a:xfrm>
          <a:prstGeom prst="roundRect">
            <a:avLst>
              <a:gd name="adj" fmla="val 9276"/>
            </a:avLst>
          </a:prstGeom>
          <a:solidFill>
            <a:srgbClr val="1E90FF"/>
          </a:solidFill>
          <a:ln/>
        </p:spPr>
      </p:sp>
      <p:sp>
        <p:nvSpPr>
          <p:cNvPr id="35" name="Text 33"/>
          <p:cNvSpPr/>
          <p:nvPr/>
        </p:nvSpPr>
        <p:spPr>
          <a:xfrm>
            <a:off x="7735824" y="4096969"/>
            <a:ext cx="5669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49056" y="4096969"/>
            <a:ext cx="566928" cy="492862"/>
          </a:xfrm>
          <a:prstGeom prst="roundRect">
            <a:avLst>
              <a:gd name="adj" fmla="val 9276"/>
            </a:avLst>
          </a:prstGeom>
          <a:solidFill>
            <a:srgbClr val="1E90FF"/>
          </a:solidFill>
          <a:ln/>
        </p:spPr>
      </p:sp>
      <p:sp>
        <p:nvSpPr>
          <p:cNvPr id="37" name="Text 35"/>
          <p:cNvSpPr/>
          <p:nvPr/>
        </p:nvSpPr>
        <p:spPr>
          <a:xfrm>
            <a:off x="8449056" y="4096969"/>
            <a:ext cx="5669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62288" y="4096969"/>
            <a:ext cx="566928" cy="492862"/>
          </a:xfrm>
          <a:prstGeom prst="roundRect">
            <a:avLst>
              <a:gd name="adj" fmla="val 9276"/>
            </a:avLst>
          </a:prstGeom>
          <a:solidFill>
            <a:srgbClr val="1E90FF"/>
          </a:solidFill>
          <a:ln/>
        </p:spPr>
      </p:sp>
      <p:sp>
        <p:nvSpPr>
          <p:cNvPr id="39" name="Text 37"/>
          <p:cNvSpPr/>
          <p:nvPr/>
        </p:nvSpPr>
        <p:spPr>
          <a:xfrm>
            <a:off x="9162288" y="4096969"/>
            <a:ext cx="5669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" y="60350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flex-direction is row, so items line up left to right.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flex-direction: pick the line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2057400" cy="27432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3557016"/>
            <a:ext cx="539496" cy="566928"/>
          </a:xfrm>
          <a:prstGeom prst="roundRect">
            <a:avLst>
              <a:gd name="adj" fmla="val 8475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3557016"/>
            <a:ext cx="539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27632" y="3557016"/>
            <a:ext cx="539496" cy="566928"/>
          </a:xfrm>
          <a:prstGeom prst="roundRect">
            <a:avLst>
              <a:gd name="adj" fmla="val 8475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627632" y="3557016"/>
            <a:ext cx="539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76856" y="3557016"/>
            <a:ext cx="539496" cy="566928"/>
          </a:xfrm>
          <a:prstGeom prst="roundRect">
            <a:avLst>
              <a:gd name="adj" fmla="val 8475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276856" y="3557016"/>
            <a:ext cx="539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to right (default)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10712" y="201168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row-reverse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30752" y="2468880"/>
            <a:ext cx="2057400" cy="27432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3557016"/>
            <a:ext cx="539496" cy="566928"/>
          </a:xfrm>
          <a:prstGeom prst="roundRect">
            <a:avLst>
              <a:gd name="adj" fmla="val 8475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3557016"/>
            <a:ext cx="539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9704" y="3557016"/>
            <a:ext cx="539496" cy="566928"/>
          </a:xfrm>
          <a:prstGeom prst="roundRect">
            <a:avLst>
              <a:gd name="adj" fmla="val 8475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489704" y="3557016"/>
            <a:ext cx="539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38928" y="3557016"/>
            <a:ext cx="539496" cy="566928"/>
          </a:xfrm>
          <a:prstGeom prst="roundRect">
            <a:avLst>
              <a:gd name="adj" fmla="val 8475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138928" y="3557016"/>
            <a:ext cx="539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10712" y="53492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left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72784" y="201168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92824" y="2468880"/>
            <a:ext cx="2057400" cy="27432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38060" y="2578608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7338060" y="25786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38060" y="3072384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7338060" y="307238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38060" y="356616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7338060" y="35661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72784" y="53492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to bottom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134856" y="201168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column-reverse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454896" y="2468880"/>
            <a:ext cx="2057400" cy="27432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00132" y="2578608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10200132" y="257860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200132" y="3072384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10200132" y="307238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200132" y="356616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10200132" y="35661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34856" y="53492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to top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48640" y="5806440"/>
            <a:ext cx="11109960" cy="640080"/>
          </a:xfrm>
          <a:prstGeom prst="roundRect">
            <a:avLst>
              <a:gd name="adj" fmla="val 17143"/>
            </a:avLst>
          </a:prstGeom>
          <a:solidFill>
            <a:srgbClr val="EEF2FF"/>
          </a:solidFill>
          <a:ln/>
        </p:spPr>
      </p:sp>
      <p:sp>
        <p:nvSpPr>
          <p:cNvPr id="42" name="Shape 40"/>
          <p:cNvSpPr/>
          <p:nvPr/>
        </p:nvSpPr>
        <p:spPr>
          <a:xfrm>
            <a:off x="749808" y="599846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1207008" y="58064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axis follows the direction. Everything else in Flexbox is measured against that axis.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axis and cross axis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03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flex-direction: row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371600" y="274320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1F6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1328" y="3071012"/>
            <a:ext cx="566928" cy="533095"/>
          </a:xfrm>
          <a:prstGeom prst="roundRect">
            <a:avLst>
              <a:gd name="adj" fmla="val 8576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3071012"/>
            <a:ext cx="566928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08376" y="3071012"/>
            <a:ext cx="566928" cy="533095"/>
          </a:xfrm>
          <a:prstGeom prst="roundRect">
            <a:avLst>
              <a:gd name="adj" fmla="val 8576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008376" y="3071012"/>
            <a:ext cx="566928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35424" y="3071012"/>
            <a:ext cx="566928" cy="533095"/>
          </a:xfrm>
          <a:prstGeom prst="roundRect">
            <a:avLst>
              <a:gd name="adj" fmla="val 8576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3071012"/>
            <a:ext cx="566928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4160520"/>
            <a:ext cx="3840480" cy="0"/>
          </a:xfrm>
          <a:prstGeom prst="line">
            <a:avLst/>
          </a:prstGeom>
          <a:noFill/>
          <a:ln w="19050">
            <a:solidFill>
              <a:srgbClr val="FB7185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371600" y="38496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axis  (X)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51560" y="2743200"/>
            <a:ext cx="0" cy="118872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66928" y="3200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(Y)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1965960"/>
            <a:ext cx="53492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2103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flex-direction: column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38160" y="2514600"/>
            <a:ext cx="1280160" cy="219456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94776" y="2624328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8494776" y="262432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494776" y="3419856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8494776" y="341985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94776" y="4215384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8494776" y="421538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18120" y="2514600"/>
            <a:ext cx="0" cy="2194560"/>
          </a:xfrm>
          <a:prstGeom prst="line">
            <a:avLst/>
          </a:prstGeom>
          <a:noFill/>
          <a:ln w="19050">
            <a:solidFill>
              <a:srgbClr val="FB7185"/>
            </a:solidFill>
            <a:prstDash val="solid"/>
            <a:headEnd type="triangl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903720" y="33832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(Y)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4937760"/>
            <a:ext cx="128016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headEnd type="triangl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138160" y="46268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(X)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1109960" cy="100584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" y="50749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   </a:t>
            </a:r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row -&gt; main axis is </a:t>
            </a:r>
            <a:pPr algn="l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direction: column -&gt; main axis is </a:t>
            </a:r>
            <a:pPr algn="l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default value of flex-direction in a flex container?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E7FBE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784348"/>
            <a:ext cx="329184" cy="32918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row-reverse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column-reverse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3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items flow along a horizontal row, left to right.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Flexbox and Media Queries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371600"/>
            <a:ext cx="3200400" cy="32004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54000" dist="38100" dir="5400000">
              <a:srgbClr val="0B122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94960" y="22860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264261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091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 break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5440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up. Water. Rest your eyes. We resume on the dot.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6400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6400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BASICS DONE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justify-content and align-items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items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along the main axis, align across the cross axis.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AXIS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8521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items along the MAIN axis.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row that means horizontally. For a column it means vertically. Same property, it just follows whichever axis is the main one.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5303520" cy="1737360"/>
          </a:xfrm>
          <a:prstGeom prst="roundRect">
            <a:avLst>
              <a:gd name="adj" fmla="val 6316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8992" y="419709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1316736" y="419709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419709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4087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4507992"/>
            <a:ext cx="47914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1965960"/>
            <a:ext cx="4983480" cy="3977640"/>
          </a:xfrm>
          <a:prstGeom prst="roundRect">
            <a:avLst>
              <a:gd name="adj" fmla="val 2759"/>
            </a:avLst>
          </a:prstGeom>
          <a:solidFill>
            <a:srgbClr val="111B3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space-between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2606040"/>
            <a:ext cx="443484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7059168" y="2933852"/>
            <a:ext cx="566928" cy="533095"/>
          </a:xfrm>
          <a:prstGeom prst="roundRect">
            <a:avLst>
              <a:gd name="adj" fmla="val 8576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059168" y="2933852"/>
            <a:ext cx="566928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75320" y="2933852"/>
            <a:ext cx="566928" cy="533095"/>
          </a:xfrm>
          <a:prstGeom prst="roundRect">
            <a:avLst>
              <a:gd name="adj" fmla="val 8576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933852"/>
            <a:ext cx="566928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491472" y="2933852"/>
            <a:ext cx="566928" cy="533095"/>
          </a:xfrm>
          <a:prstGeom prst="roundRect">
            <a:avLst>
              <a:gd name="adj" fmla="val 8576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491472" y="2933852"/>
            <a:ext cx="566928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707624" y="2933852"/>
            <a:ext cx="566928" cy="533095"/>
          </a:xfrm>
          <a:prstGeom prst="roundRect">
            <a:avLst>
              <a:gd name="adj" fmla="val 8576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10707624" y="2933852"/>
            <a:ext cx="566928" cy="533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402336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backup dancers spreading across the stage: first and last hit the edges, the rest space out evenly between them.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justify-content: six ways to space a row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flex-start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61838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61838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35024" y="261838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335024" y="261838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0" y="261838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261838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107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at the start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15968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flex-end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15968" y="233172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71616" y="261838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071616" y="261838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48272" y="261838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748272" y="261838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24928" y="261838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424928" y="261838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15968" y="34107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at the end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83296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83296" y="233172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15984" y="261838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9015984" y="261838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92640" y="261838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9692640" y="261838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369296" y="261838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10369296" y="261838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83296" y="34107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in the middle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space-between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45262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481294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481294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048256" y="481294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2048256" y="481294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38144" y="481294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3438144" y="481294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5605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touch, gaps equal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315968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space-around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315968" y="45262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0016" y="481294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4700016" y="481294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815584" y="481294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5815584" y="481294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931152" y="481294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6931152" y="481294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315968" y="5605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space around each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083296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space-evenly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8083296" y="45262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04504" y="481294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53" name="Text 51"/>
          <p:cNvSpPr/>
          <p:nvPr/>
        </p:nvSpPr>
        <p:spPr>
          <a:xfrm>
            <a:off x="8604504" y="481294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582912" y="481294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55" name="Text 53"/>
          <p:cNvSpPr/>
          <p:nvPr/>
        </p:nvSpPr>
        <p:spPr>
          <a:xfrm>
            <a:off x="9582912" y="481294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0561320" y="4812944"/>
            <a:ext cx="566928" cy="432511"/>
          </a:xfrm>
          <a:prstGeom prst="roundRect">
            <a:avLst>
              <a:gd name="adj" fmla="val 10571"/>
            </a:avLst>
          </a:prstGeom>
          <a:solidFill>
            <a:srgbClr val="2563EB"/>
          </a:solidFill>
          <a:ln/>
        </p:spPr>
      </p:sp>
      <p:sp>
        <p:nvSpPr>
          <p:cNvPr id="57" name="Text 55"/>
          <p:cNvSpPr/>
          <p:nvPr/>
        </p:nvSpPr>
        <p:spPr>
          <a:xfrm>
            <a:off x="10561320" y="4812944"/>
            <a:ext cx="566928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083296" y="5605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identical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 -  SWITCH TO VS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a row with justify-content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1109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91109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91109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8013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221992"/>
            <a:ext cx="625449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these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flex-start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flex-end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space-between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space-around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space-evenly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WHILE YOU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286000"/>
            <a:ext cx="3794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center - everything slides to the middle.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swap in space-between. Watch the ends grab the edges.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space-around, then space-evenly.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 to predict each one before I hit save.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main axis reacting to one property.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Flexbox and Media Queries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1615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216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AXIS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8521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items along the CROSS axis.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justify-content handles the length of the line, align-items handles the width. In a row that is the vertical position: top, bottom, middle, or stretched to fill.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5303520" cy="1508760"/>
          </a:xfrm>
          <a:prstGeom prst="roundRect">
            <a:avLst>
              <a:gd name="adj" fmla="val 7273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8992" y="442569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1316736" y="442569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442569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43159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4736592"/>
            <a:ext cx="479145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1965960"/>
            <a:ext cx="4983480" cy="3977640"/>
          </a:xfrm>
          <a:prstGeom prst="roundRect">
            <a:avLst>
              <a:gd name="adj" fmla="val 2759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861" y="2360981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68096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Fielders across the pitch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949440" y="306324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decides where players stand down the length of the ground. align-items decides where they stand across its width - close to one boundary, the other, or right in the middle.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align-items: five ways across the axis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flex-start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4944" y="2395728"/>
            <a:ext cx="182880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505456"/>
            <a:ext cx="463296" cy="566928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505456"/>
            <a:ext cx="46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7696" y="2505456"/>
            <a:ext cx="463296" cy="566928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377696" y="2505456"/>
            <a:ext cx="46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14144" y="2505456"/>
            <a:ext cx="463296" cy="566928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914144" y="2505456"/>
            <a:ext cx="46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6636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the cross axis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88920" y="20116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flex-end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35224" y="2395728"/>
            <a:ext cx="182880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81528" y="4370832"/>
            <a:ext cx="463296" cy="566928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081528" y="4370832"/>
            <a:ext cx="46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7976" y="4370832"/>
            <a:ext cx="463296" cy="566928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3617976" y="4370832"/>
            <a:ext cx="46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54424" y="4370832"/>
            <a:ext cx="463296" cy="566928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154424" y="4370832"/>
            <a:ext cx="46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88920" y="516636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of the cross axis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0" y="20116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75504" y="2395728"/>
            <a:ext cx="182880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21808" y="3438144"/>
            <a:ext cx="463296" cy="566928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5321808" y="3438144"/>
            <a:ext cx="46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58256" y="3438144"/>
            <a:ext cx="463296" cy="566928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5858256" y="3438144"/>
            <a:ext cx="46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94704" y="3438144"/>
            <a:ext cx="463296" cy="566928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394704" y="3438144"/>
            <a:ext cx="46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516636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vertically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69480" y="20116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415784" y="2395728"/>
            <a:ext cx="182880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62088" y="2943271"/>
            <a:ext cx="463296" cy="566928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7562088" y="2943271"/>
            <a:ext cx="46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98536" y="2943271"/>
            <a:ext cx="463296" cy="566928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8098536" y="2943271"/>
            <a:ext cx="46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634984" y="2943271"/>
            <a:ext cx="463296" cy="566928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8634984" y="2943271"/>
            <a:ext cx="463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69480" y="516636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baselines line up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509760" y="20116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stretch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656064" y="2395728"/>
            <a:ext cx="182880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02368" y="2505456"/>
            <a:ext cx="463296" cy="2432304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9802368" y="2505456"/>
            <a:ext cx="46329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338816" y="2505456"/>
            <a:ext cx="463296" cy="2432304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10338816" y="2505456"/>
            <a:ext cx="46329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875264" y="2505456"/>
            <a:ext cx="463296" cy="2432304"/>
          </a:xfrm>
          <a:prstGeom prst="roundRect">
            <a:avLst>
              <a:gd name="adj" fmla="val 9868"/>
            </a:avLst>
          </a:prstGeom>
          <a:solidFill>
            <a:srgbClr val="2563EB"/>
          </a:solidFill>
          <a:ln/>
        </p:spPr>
      </p:sp>
      <p:sp>
        <p:nvSpPr>
          <p:cNvPr id="48" name="Text 46"/>
          <p:cNvSpPr/>
          <p:nvPr/>
        </p:nvSpPr>
        <p:spPr>
          <a:xfrm>
            <a:off x="10875264" y="2505456"/>
            <a:ext cx="46329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509760" y="516636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height (default)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flex container, what does align-items control?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along the main axis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E7FBE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along the cross axis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784348"/>
            <a:ext cx="329184" cy="32918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flex items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flexibility of flex items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3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justify-content = main axis. align-items = cross axis. Two axes, two properties.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Flexbox and Media Queries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609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60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together: perfect centering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69280" cy="3108960"/>
          </a:xfrm>
          <a:prstGeom prst="roundRect">
            <a:avLst>
              <a:gd name="adj" fmla="val 3529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515721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axis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965960"/>
            <a:ext cx="5166360" cy="3108960"/>
          </a:xfrm>
          <a:prstGeom prst="roundRect">
            <a:avLst>
              <a:gd name="adj" fmla="val 2941"/>
            </a:avLst>
          </a:prstGeom>
          <a:solidFill>
            <a:srgbClr val="E8EEF7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93408" y="213055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94576" y="213055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7095744" y="213055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452360" y="2084832"/>
            <a:ext cx="39319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20848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01968" y="2423160"/>
            <a:ext cx="4946904" cy="2542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784848" y="2606040"/>
            <a:ext cx="4581144" cy="2176272"/>
          </a:xfrm>
          <a:prstGeom prst="rect">
            <a:avLst/>
          </a:prstGeom>
          <a:solidFill>
            <a:srgbClr val="FF6347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03136" y="2624328"/>
            <a:ext cx="4544568" cy="2139696"/>
          </a:xfrm>
          <a:prstGeom prst="roundRect">
            <a:avLst>
              <a:gd name="adj" fmla="val 3419"/>
            </a:avLst>
          </a:prstGeom>
          <a:solidFill>
            <a:srgbClr val="FF6347"/>
          </a:solidFill>
          <a:ln/>
        </p:spPr>
      </p:sp>
      <p:sp>
        <p:nvSpPr>
          <p:cNvPr id="20" name="Shape 18"/>
          <p:cNvSpPr/>
          <p:nvPr/>
        </p:nvSpPr>
        <p:spPr>
          <a:xfrm>
            <a:off x="8791956" y="341071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E90FF"/>
          </a:solidFill>
          <a:ln/>
        </p:spPr>
      </p:sp>
      <p:sp>
        <p:nvSpPr>
          <p:cNvPr id="21" name="Text 19"/>
          <p:cNvSpPr/>
          <p:nvPr/>
        </p:nvSpPr>
        <p:spPr>
          <a:xfrm>
            <a:off x="8791956" y="3410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5138928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centre, both axes.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11109960" cy="868680"/>
          </a:xfrm>
          <a:prstGeom prst="roundRect">
            <a:avLst>
              <a:gd name="adj" fmla="val 12632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5486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   </a:t>
            </a:r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+ justify-content: center aligns items along which direction?  </a:t>
            </a:r>
            <a:pPr algn="l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Horizontally.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371600"/>
            <a:ext cx="3200400" cy="32004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54000" dist="38100" dir="5400000">
              <a:srgbClr val="0B122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94960" y="22860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264261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091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 break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5440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up. Water. Rest your eyes. We resume on the dot.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6400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6400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DONE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responsive layouts and flex-wrap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flexbox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layout breathe when the screen shrinks.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responsive website?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9436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site that adapts to the screen it is viewed on - desktop, tablet, or phone - instead of breaking.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images, and content rearrange to fit. Nothing spills, nothing gets cut off. One design, every device.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E7FBEF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508406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1481328" y="470916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open scaler.com and shrink the window. Watch it re-flow, not break.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3246120"/>
            <a:ext cx="1051560" cy="2194560"/>
          </a:xfrm>
          <a:prstGeom prst="roundRect">
            <a:avLst>
              <a:gd name="adj" fmla="val 10435"/>
            </a:avLst>
          </a:prstGeom>
          <a:solidFill>
            <a:srgbClr val="111B3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84848" y="3502152"/>
            <a:ext cx="832104" cy="1737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55138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2788920"/>
            <a:ext cx="1554480" cy="2651760"/>
          </a:xfrm>
          <a:prstGeom prst="roundRect">
            <a:avLst>
              <a:gd name="adj" fmla="val 7059"/>
            </a:avLst>
          </a:prstGeom>
          <a:solidFill>
            <a:srgbClr val="111B3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73568" y="3044952"/>
            <a:ext cx="1335024" cy="2194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55138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55480" y="2514600"/>
            <a:ext cx="2194560" cy="2926080"/>
          </a:xfrm>
          <a:prstGeom prst="roundRect">
            <a:avLst>
              <a:gd name="adj" fmla="val 5000"/>
            </a:avLst>
          </a:prstGeom>
          <a:solidFill>
            <a:srgbClr val="111B3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65208" y="2770632"/>
            <a:ext cx="1975104" cy="2468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9555480" y="5513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59436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page, three fits.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flex-wrap: stop the squeeze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wrapping, a narrow screen squashes every box. flex-wrap lets items drop to a new line instead of shrinking.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nowrap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08376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0664" y="3739896"/>
            <a:ext cx="475488" cy="822960"/>
          </a:xfrm>
          <a:prstGeom prst="roundRect">
            <a:avLst>
              <a:gd name="adj" fmla="val 9615"/>
            </a:avLst>
          </a:prstGeom>
          <a:solidFill>
            <a:srgbClr val="1E90FF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3739896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71016" y="3739896"/>
            <a:ext cx="475488" cy="822960"/>
          </a:xfrm>
          <a:prstGeom prst="roundRect">
            <a:avLst>
              <a:gd name="adj" fmla="val 9615"/>
            </a:avLst>
          </a:prstGeom>
          <a:solidFill>
            <a:srgbClr val="1E90FF"/>
          </a:solidFill>
          <a:ln/>
        </p:spPr>
      </p:sp>
      <p:sp>
        <p:nvSpPr>
          <p:cNvPr id="11" name="Text 9"/>
          <p:cNvSpPr/>
          <p:nvPr/>
        </p:nvSpPr>
        <p:spPr>
          <a:xfrm>
            <a:off x="1271016" y="3739896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01368" y="3739896"/>
            <a:ext cx="475488" cy="822960"/>
          </a:xfrm>
          <a:prstGeom prst="roundRect">
            <a:avLst>
              <a:gd name="adj" fmla="val 9615"/>
            </a:avLst>
          </a:prstGeom>
          <a:solidFill>
            <a:srgbClr val="1E90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01368" y="3739896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31720" y="3739896"/>
            <a:ext cx="475488" cy="822960"/>
          </a:xfrm>
          <a:prstGeom prst="roundRect">
            <a:avLst>
              <a:gd name="adj" fmla="val 9615"/>
            </a:avLst>
          </a:prstGeom>
          <a:solidFill>
            <a:srgbClr val="1E90FF"/>
          </a:solidFill>
          <a:ln/>
        </p:spPr>
      </p:sp>
      <p:sp>
        <p:nvSpPr>
          <p:cNvPr id="15" name="Text 13"/>
          <p:cNvSpPr/>
          <p:nvPr/>
        </p:nvSpPr>
        <p:spPr>
          <a:xfrm>
            <a:off x="2331720" y="3739896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62072" y="3739896"/>
            <a:ext cx="475488" cy="822960"/>
          </a:xfrm>
          <a:prstGeom prst="roundRect">
            <a:avLst>
              <a:gd name="adj" fmla="val 9615"/>
            </a:avLst>
          </a:prstGeom>
          <a:solidFill>
            <a:srgbClr val="1E90FF"/>
          </a:solidFill>
          <a:ln/>
        </p:spPr>
      </p:sp>
      <p:sp>
        <p:nvSpPr>
          <p:cNvPr id="17" name="Text 15"/>
          <p:cNvSpPr/>
          <p:nvPr/>
        </p:nvSpPr>
        <p:spPr>
          <a:xfrm>
            <a:off x="2862072" y="3739896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92424" y="3739896"/>
            <a:ext cx="475488" cy="822960"/>
          </a:xfrm>
          <a:prstGeom prst="roundRect">
            <a:avLst>
              <a:gd name="adj" fmla="val 9615"/>
            </a:avLst>
          </a:prstGeom>
          <a:solidFill>
            <a:srgbClr val="1E90FF"/>
          </a:solidFill>
          <a:ln/>
        </p:spPr>
      </p:sp>
      <p:sp>
        <p:nvSpPr>
          <p:cNvPr id="19" name="Text 17"/>
          <p:cNvSpPr/>
          <p:nvPr/>
        </p:nvSpPr>
        <p:spPr>
          <a:xfrm>
            <a:off x="3392424" y="3739896"/>
            <a:ext cx="475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394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line, boxes shrink (default)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15968" y="2606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15968" y="3008376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27448" y="3328416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E90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27448" y="33284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40680" y="3328416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E90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33284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53912" y="3328416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E90FF"/>
          </a:solidFill>
          <a:ln/>
        </p:spPr>
      </p:sp>
      <p:sp>
        <p:nvSpPr>
          <p:cNvPr id="28" name="Text 26"/>
          <p:cNvSpPr/>
          <p:nvPr/>
        </p:nvSpPr>
        <p:spPr>
          <a:xfrm>
            <a:off x="6153912" y="33284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67144" y="3328416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E90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67144" y="33284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27448" y="4242816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E90FF"/>
          </a:solidFill>
          <a:ln/>
        </p:spPr>
      </p:sp>
      <p:sp>
        <p:nvSpPr>
          <p:cNvPr id="32" name="Text 30"/>
          <p:cNvSpPr/>
          <p:nvPr/>
        </p:nvSpPr>
        <p:spPr>
          <a:xfrm>
            <a:off x="4727448" y="42428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40680" y="4242816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E90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42428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15968" y="5394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drops to a new line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083296" y="2606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wrap-reverse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83296" y="3008376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494776" y="4242816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E90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94776" y="42428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208008" y="4242816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E90FF"/>
          </a:solidFill>
          <a:ln/>
        </p:spPr>
      </p:sp>
      <p:sp>
        <p:nvSpPr>
          <p:cNvPr id="41" name="Text 39"/>
          <p:cNvSpPr/>
          <p:nvPr/>
        </p:nvSpPr>
        <p:spPr>
          <a:xfrm>
            <a:off x="9208008" y="42428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921240" y="4242816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E90FF"/>
          </a:solidFill>
          <a:ln/>
        </p:spPr>
      </p:sp>
      <p:sp>
        <p:nvSpPr>
          <p:cNvPr id="43" name="Text 41"/>
          <p:cNvSpPr/>
          <p:nvPr/>
        </p:nvSpPr>
        <p:spPr>
          <a:xfrm>
            <a:off x="9921240" y="42428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634472" y="4242816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E90FF"/>
          </a:solidFill>
          <a:ln/>
        </p:spPr>
      </p:sp>
      <p:sp>
        <p:nvSpPr>
          <p:cNvPr id="45" name="Text 43"/>
          <p:cNvSpPr/>
          <p:nvPr/>
        </p:nvSpPr>
        <p:spPr>
          <a:xfrm>
            <a:off x="10634472" y="42428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494776" y="3328416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E90FF"/>
          </a:solidFill>
          <a:ln/>
        </p:spPr>
      </p:sp>
      <p:sp>
        <p:nvSpPr>
          <p:cNvPr id="47" name="Text 45"/>
          <p:cNvSpPr/>
          <p:nvPr/>
        </p:nvSpPr>
        <p:spPr>
          <a:xfrm>
            <a:off x="8494776" y="33284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208008" y="3328416"/>
            <a:ext cx="603504" cy="603504"/>
          </a:xfrm>
          <a:prstGeom prst="roundRect">
            <a:avLst>
              <a:gd name="adj" fmla="val 7576"/>
            </a:avLst>
          </a:prstGeom>
          <a:solidFill>
            <a:srgbClr val="1E90FF"/>
          </a:solidFill>
          <a:ln/>
        </p:spPr>
      </p:sp>
      <p:sp>
        <p:nvSpPr>
          <p:cNvPr id="49" name="Text 47"/>
          <p:cNvSpPr/>
          <p:nvPr/>
        </p:nvSpPr>
        <p:spPr>
          <a:xfrm>
            <a:off x="9208008" y="33284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83296" y="5394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wraps, but new line goes on top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48640" y="5806440"/>
            <a:ext cx="11109960" cy="640080"/>
          </a:xfrm>
          <a:prstGeom prst="roundRect">
            <a:avLst>
              <a:gd name="adj" fmla="val 17143"/>
            </a:avLst>
          </a:prstGeom>
          <a:solidFill>
            <a:srgbClr val="E5EEFF"/>
          </a:solidFill>
          <a:ln/>
        </p:spPr>
      </p:sp>
      <p:sp>
        <p:nvSpPr>
          <p:cNvPr id="52" name="Shape 50"/>
          <p:cNvSpPr/>
          <p:nvPr/>
        </p:nvSpPr>
        <p:spPr>
          <a:xfrm>
            <a:off x="749808" y="5998464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3" name="Text 51"/>
          <p:cNvSpPr/>
          <p:nvPr/>
        </p:nvSpPr>
        <p:spPr>
          <a:xfrm>
            <a:off x="1207008" y="58064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logic: when a bench fills up, the next person starts a new bench instead of everyone squeezing in.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 -  SWITCH TO VS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row responsive with flex-wrap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1109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91109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91109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8013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221992"/>
            <a:ext cx="625449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*/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WHILE YOU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286000"/>
            <a:ext cx="3794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flex-wrap: wrap to the container.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drag the browser narrow. Instead of shrinking...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...the boxes drop down onto a fresh line.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couple more boxes so everyone sees the wrap.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backbone of responsive card grids.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Flexbox and Media Queries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screen? It wraps.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 (one row)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6766560" cy="3566160"/>
          </a:xfrm>
          <a:prstGeom prst="roundRect">
            <a:avLst>
              <a:gd name="adj" fmla="val 2564"/>
            </a:avLst>
          </a:prstGeom>
          <a:solidFill>
            <a:srgbClr val="E8EEF7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25420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" y="25420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380744" y="25420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2496312"/>
            <a:ext cx="55321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49631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86968" y="2834640"/>
            <a:ext cx="6547104" cy="2999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5568" y="3657600"/>
            <a:ext cx="6089904" cy="1371600"/>
          </a:xfrm>
          <a:prstGeom prst="rect">
            <a:avLst/>
          </a:prstGeom>
          <a:solidFill>
            <a:srgbClr val="FF6347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3856" y="3675888"/>
            <a:ext cx="6053328" cy="1335024"/>
          </a:xfrm>
          <a:prstGeom prst="roundRect">
            <a:avLst>
              <a:gd name="adj" fmla="val 5479"/>
            </a:avLst>
          </a:prstGeom>
          <a:solidFill>
            <a:srgbClr val="FF6347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0" y="405993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E90F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4059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56432" y="405993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E90FF"/>
          </a:solidFill>
          <a:ln/>
        </p:spPr>
      </p:sp>
      <p:sp>
        <p:nvSpPr>
          <p:cNvPr id="18" name="Text 16"/>
          <p:cNvSpPr/>
          <p:nvPr/>
        </p:nvSpPr>
        <p:spPr>
          <a:xfrm>
            <a:off x="3456432" y="4059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9664" y="405993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E90FF"/>
          </a:solidFill>
          <a:ln/>
        </p:spPr>
      </p:sp>
      <p:sp>
        <p:nvSpPr>
          <p:cNvPr id="20" name="Text 18"/>
          <p:cNvSpPr/>
          <p:nvPr/>
        </p:nvSpPr>
        <p:spPr>
          <a:xfrm>
            <a:off x="4169664" y="4059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82896" y="405993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E90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82896" y="4059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96128" y="405993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E90FF"/>
          </a:solidFill>
          <a:ln/>
        </p:spPr>
      </p:sp>
      <p:sp>
        <p:nvSpPr>
          <p:cNvPr id="24" name="Text 22"/>
          <p:cNvSpPr/>
          <p:nvPr/>
        </p:nvSpPr>
        <p:spPr>
          <a:xfrm>
            <a:off x="5596128" y="4059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 (wraps)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0" y="2377440"/>
            <a:ext cx="3886200" cy="3566160"/>
          </a:xfrm>
          <a:prstGeom prst="roundRect">
            <a:avLst>
              <a:gd name="adj" fmla="val 2564"/>
            </a:avLst>
          </a:prstGeom>
          <a:solidFill>
            <a:srgbClr val="E8EEF7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73568" y="25420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8" name="Shape 26"/>
          <p:cNvSpPr/>
          <p:nvPr/>
        </p:nvSpPr>
        <p:spPr>
          <a:xfrm>
            <a:off x="8174736" y="25420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9" name="Shape 27"/>
          <p:cNvSpPr/>
          <p:nvPr/>
        </p:nvSpPr>
        <p:spPr>
          <a:xfrm>
            <a:off x="8375904" y="25420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0" name="Shape 28"/>
          <p:cNvSpPr/>
          <p:nvPr/>
        </p:nvSpPr>
        <p:spPr>
          <a:xfrm>
            <a:off x="8732520" y="2496312"/>
            <a:ext cx="265176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0" y="24963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82128" y="2834640"/>
            <a:ext cx="3666744" cy="2999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202168" y="3017520"/>
            <a:ext cx="3026664" cy="2633472"/>
          </a:xfrm>
          <a:prstGeom prst="rect">
            <a:avLst/>
          </a:prstGeom>
          <a:solidFill>
            <a:srgbClr val="FF6347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9056" y="3246120"/>
            <a:ext cx="548640" cy="548640"/>
          </a:xfrm>
          <a:prstGeom prst="roundRect">
            <a:avLst>
              <a:gd name="adj" fmla="val 8333"/>
            </a:avLst>
          </a:prstGeom>
          <a:solidFill>
            <a:srgbClr val="1E90FF"/>
          </a:solidFill>
          <a:ln/>
        </p:spPr>
      </p:sp>
      <p:sp>
        <p:nvSpPr>
          <p:cNvPr id="35" name="Text 33"/>
          <p:cNvSpPr/>
          <p:nvPr/>
        </p:nvSpPr>
        <p:spPr>
          <a:xfrm>
            <a:off x="8449056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62288" y="3246120"/>
            <a:ext cx="548640" cy="548640"/>
          </a:xfrm>
          <a:prstGeom prst="roundRect">
            <a:avLst>
              <a:gd name="adj" fmla="val 8333"/>
            </a:avLst>
          </a:prstGeom>
          <a:solidFill>
            <a:srgbClr val="1E90FF"/>
          </a:solidFill>
          <a:ln/>
        </p:spPr>
      </p:sp>
      <p:sp>
        <p:nvSpPr>
          <p:cNvPr id="37" name="Text 35"/>
          <p:cNvSpPr/>
          <p:nvPr/>
        </p:nvSpPr>
        <p:spPr>
          <a:xfrm>
            <a:off x="9162288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449056" y="3977640"/>
            <a:ext cx="548640" cy="548640"/>
          </a:xfrm>
          <a:prstGeom prst="roundRect">
            <a:avLst>
              <a:gd name="adj" fmla="val 8333"/>
            </a:avLst>
          </a:prstGeom>
          <a:solidFill>
            <a:srgbClr val="1E90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49056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162288" y="3977640"/>
            <a:ext cx="548640" cy="548640"/>
          </a:xfrm>
          <a:prstGeom prst="roundRect">
            <a:avLst>
              <a:gd name="adj" fmla="val 8333"/>
            </a:avLst>
          </a:prstGeom>
          <a:solidFill>
            <a:srgbClr val="1E90FF"/>
          </a:solidFill>
          <a:ln/>
        </p:spPr>
      </p:sp>
      <p:sp>
        <p:nvSpPr>
          <p:cNvPr id="41" name="Text 39"/>
          <p:cNvSpPr/>
          <p:nvPr/>
        </p:nvSpPr>
        <p:spPr>
          <a:xfrm>
            <a:off x="9162288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449056" y="4709160"/>
            <a:ext cx="548640" cy="548640"/>
          </a:xfrm>
          <a:prstGeom prst="roundRect">
            <a:avLst>
              <a:gd name="adj" fmla="val 8333"/>
            </a:avLst>
          </a:prstGeom>
          <a:solidFill>
            <a:srgbClr val="1E90FF"/>
          </a:solidFill>
          <a:ln/>
        </p:spPr>
      </p:sp>
      <p:sp>
        <p:nvSpPr>
          <p:cNvPr id="43" name="Text 41"/>
          <p:cNvSpPr/>
          <p:nvPr/>
        </p:nvSpPr>
        <p:spPr>
          <a:xfrm>
            <a:off x="8449056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keep their size and flow onto new lines.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control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flex-shrink, and flex-grow act on the children.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PROPERTY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jump the queue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changes the VISUAL position of an item, no matter where it sits in the HTML. Default order is 0; higher numbers move later.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743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.box1 { order: 5; 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order: 1 2 3 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56616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60A5F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66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819656" y="356616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60A5FA"/>
          </a:solidFill>
          <a:ln/>
        </p:spPr>
      </p:sp>
      <p:sp>
        <p:nvSpPr>
          <p:cNvPr id="12" name="Text 10"/>
          <p:cNvSpPr/>
          <p:nvPr/>
        </p:nvSpPr>
        <p:spPr>
          <a:xfrm>
            <a:off x="1819656" y="3566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770632" y="356616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2770632" y="3566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21608" y="356616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721608" y="3566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1 slides to the end.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60604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27432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.box1{order:4}  .box3{order:2}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3108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stay at 0 and keep HTML order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356616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60A5F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566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488936" y="356616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60A5FA"/>
          </a:solidFill>
          <a:ln/>
        </p:spPr>
      </p:sp>
      <p:sp>
        <p:nvSpPr>
          <p:cNvPr id="24" name="Text 22"/>
          <p:cNvSpPr/>
          <p:nvPr/>
        </p:nvSpPr>
        <p:spPr>
          <a:xfrm>
            <a:off x="7488936" y="3566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439912" y="356616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60A5FA"/>
          </a:solidFill>
          <a:ln/>
        </p:spPr>
      </p:sp>
      <p:sp>
        <p:nvSpPr>
          <p:cNvPr id="26" name="Text 24"/>
          <p:cNvSpPr/>
          <p:nvPr/>
        </p:nvSpPr>
        <p:spPr>
          <a:xfrm>
            <a:off x="8439912" y="3566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390888" y="356616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9390888" y="3566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00800" y="4572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 first (2,4), then 2 (box3), then 4 (box1).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120640"/>
            <a:ext cx="11109960" cy="685800"/>
          </a:xfrm>
          <a:prstGeom prst="roundRect">
            <a:avLst>
              <a:gd name="adj" fmla="val 16000"/>
            </a:avLst>
          </a:prstGeom>
          <a:solidFill>
            <a:srgbClr val="EEF2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49808" y="533552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1207008" y="51206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VIP pass: order lets an item skip ahead or fall back regardless of its ticket number in the HTML.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PROPERTY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flex-shrink and flex-grow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.box3 { flex-shrink: 2; 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space runs out, box 3 gives up twice as much width as the others.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520440"/>
            <a:ext cx="4800600" cy="1234440"/>
          </a:xfrm>
          <a:prstGeom prst="rect">
            <a:avLst/>
          </a:prstGeom>
          <a:solidFill>
            <a:srgbClr val="FF6347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3794760"/>
            <a:ext cx="960120" cy="685800"/>
          </a:xfrm>
          <a:prstGeom prst="roundRect">
            <a:avLst>
              <a:gd name="adj" fmla="val 6667"/>
            </a:avLst>
          </a:prstGeom>
          <a:solidFill>
            <a:srgbClr val="1E90F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79476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39696" y="3794760"/>
            <a:ext cx="960120" cy="685800"/>
          </a:xfrm>
          <a:prstGeom prst="roundRect">
            <a:avLst>
              <a:gd name="adj" fmla="val 6667"/>
            </a:avLst>
          </a:prstGeom>
          <a:solidFill>
            <a:srgbClr val="1E90FF"/>
          </a:solidFill>
          <a:ln/>
        </p:spPr>
      </p:sp>
      <p:sp>
        <p:nvSpPr>
          <p:cNvPr id="13" name="Text 11"/>
          <p:cNvSpPr/>
          <p:nvPr/>
        </p:nvSpPr>
        <p:spPr>
          <a:xfrm>
            <a:off x="2139696" y="379476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27832" y="3794760"/>
            <a:ext cx="548640" cy="685800"/>
          </a:xfrm>
          <a:prstGeom prst="roundRect">
            <a:avLst>
              <a:gd name="adj" fmla="val 8333"/>
            </a:avLst>
          </a:prstGeom>
          <a:solidFill>
            <a:srgbClr val="FB7185"/>
          </a:solidFill>
          <a:ln/>
        </p:spPr>
      </p:sp>
      <p:sp>
        <p:nvSpPr>
          <p:cNvPr id="15" name="Text 13"/>
          <p:cNvSpPr/>
          <p:nvPr/>
        </p:nvSpPr>
        <p:spPr>
          <a:xfrm>
            <a:off x="3227832" y="3794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04488" y="3794760"/>
            <a:ext cx="960120" cy="685800"/>
          </a:xfrm>
          <a:prstGeom prst="roundRect">
            <a:avLst>
              <a:gd name="adj" fmla="val 6667"/>
            </a:avLst>
          </a:prstGeom>
          <a:solidFill>
            <a:srgbClr val="1E90FF"/>
          </a:solidFill>
          <a:ln/>
        </p:spPr>
      </p:sp>
      <p:sp>
        <p:nvSpPr>
          <p:cNvPr id="17" name="Text 15"/>
          <p:cNvSpPr/>
          <p:nvPr/>
        </p:nvSpPr>
        <p:spPr>
          <a:xfrm>
            <a:off x="3904488" y="379476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892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3 ends up smallest.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965960"/>
            <a:ext cx="54406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2148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.box3 { flex-grow: 2; 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2514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 is spare space, box 3 grabs twice as much of it as the others.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46520" y="3200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3520440"/>
            <a:ext cx="4800600" cy="1234440"/>
          </a:xfrm>
          <a:prstGeom prst="rect">
            <a:avLst/>
          </a:prstGeom>
          <a:solidFill>
            <a:srgbClr val="FF6347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3794760"/>
            <a:ext cx="796424" cy="685800"/>
          </a:xfrm>
          <a:prstGeom prst="roundRect">
            <a:avLst>
              <a:gd name="adj" fmla="val 6667"/>
            </a:avLst>
          </a:prstGeom>
          <a:solidFill>
            <a:srgbClr val="1E90FF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3794760"/>
            <a:ext cx="796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90416" y="3794760"/>
            <a:ext cx="796424" cy="685800"/>
          </a:xfrm>
          <a:prstGeom prst="roundRect">
            <a:avLst>
              <a:gd name="adj" fmla="val 6667"/>
            </a:avLst>
          </a:prstGeom>
          <a:solidFill>
            <a:srgbClr val="1E90FF"/>
          </a:solidFill>
          <a:ln/>
        </p:spPr>
      </p:sp>
      <p:sp>
        <p:nvSpPr>
          <p:cNvPr id="27" name="Text 25"/>
          <p:cNvSpPr/>
          <p:nvPr/>
        </p:nvSpPr>
        <p:spPr>
          <a:xfrm>
            <a:off x="7590416" y="3794760"/>
            <a:ext cx="796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59993" y="3794760"/>
            <a:ext cx="1752959" cy="685800"/>
          </a:xfrm>
          <a:prstGeom prst="roundRect">
            <a:avLst>
              <a:gd name="adj" fmla="val 6667"/>
            </a:avLst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8459993" y="3794760"/>
            <a:ext cx="1752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86104" y="3794760"/>
            <a:ext cx="796424" cy="685800"/>
          </a:xfrm>
          <a:prstGeom prst="roundRect">
            <a:avLst>
              <a:gd name="adj" fmla="val 6667"/>
            </a:avLst>
          </a:prstGeom>
          <a:solidFill>
            <a:srgbClr val="1E90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286104" y="3794760"/>
            <a:ext cx="796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4892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3 ends up widest.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742432"/>
            <a:ext cx="11109960" cy="566928"/>
          </a:xfrm>
          <a:prstGeom prst="roundRect">
            <a:avLst>
              <a:gd name="adj" fmla="val 19355"/>
            </a:avLst>
          </a:prstGeom>
          <a:solidFill>
            <a:srgbClr val="E7FBEF"/>
          </a:solidFill>
          <a:ln/>
        </p:spPr>
      </p:sp>
      <p:sp>
        <p:nvSpPr>
          <p:cNvPr id="34" name="Shape 32"/>
          <p:cNvSpPr/>
          <p:nvPr/>
        </p:nvSpPr>
        <p:spPr>
          <a:xfrm>
            <a:off x="749808" y="5897880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1207008" y="574243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an elastic lunch dabba: shrink squeezes it smaller when packed, grow lets it expand into free space.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371600"/>
            <a:ext cx="3200400" cy="32004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54000" dist="38100" dir="5400000">
              <a:srgbClr val="0B122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94960" y="22860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264261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091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 break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5440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up. Water. Rest your eyes. We resume on the dot.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6400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640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COMPLETE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media queries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styles for different screens.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queries: styles on condition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8521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945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 query applies CSS only when a condition about the device is true - usually its width.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 write one set of base styles, then override just what needs to change at each screen size.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E5EEFF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" y="4672584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481328" y="41148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song, remixed for reels, radio, and the club. The track is the same; the mix suits the format.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1965960"/>
            <a:ext cx="4983480" cy="3977640"/>
          </a:xfrm>
          <a:prstGeom prst="roundRect">
            <a:avLst>
              <a:gd name="adj" fmla="val 2759"/>
            </a:avLst>
          </a:prstGeom>
          <a:solidFill>
            <a:srgbClr val="111B3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219456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7748" y="2372868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72668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chef's trick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49440" y="306324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chef, one dish, many eaters. Spicy for some, mild for others, balanced for the rest. The recipe adjusts to the guest. Media queries are those recipes: the page adjusts to the device viewing it.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media query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109960" cy="1371600"/>
          </a:xfrm>
          <a:prstGeom prst="roundRect">
            <a:avLst>
              <a:gd name="adj" fmla="val 8000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</a:t>
            </a:r>
            <a:pPr algn="l"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only screen </a:t>
            </a:r>
            <a:pPr algn="l" indent="0" marL="0">
              <a:buNone/>
            </a:pPr>
            <a:r>
              <a:rPr lang="en-US" sz="2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l"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buNone/>
            </a:pPr>
            <a:r>
              <a:rPr lang="en-US" sz="20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pPr algn="l"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buNone/>
            </a:pPr>
            <a:r>
              <a:rPr lang="en-US" sz="20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600px</a:t>
            </a:r>
            <a:pPr algn="l" indent="0" marL="0">
              <a:buNone/>
            </a:pPr>
            <a:r>
              <a:rPr lang="en-US" sz="20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... }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at-rule that starts a conditional block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10712" y="365760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E5EE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93592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screen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93592" y="4434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screens (not print). 'only' hides it from very old browsers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72784" y="365760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55664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max-width: 600px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55664" y="4434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condition: apply when the viewport is 600px or narrower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34856" y="3657600"/>
            <a:ext cx="2697480" cy="2148840"/>
          </a:xfrm>
          <a:prstGeom prst="roundRect">
            <a:avLst>
              <a:gd name="adj" fmla="val 510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17736" y="38404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 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17736" y="4434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CSS that runs only when the condition is true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  -  SWITCH TO VS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breakpoints, three looks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1109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91109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191109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8013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221992"/>
            <a:ext cx="6254496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lightcoral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min-width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601px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lightblue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min-width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901px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20px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lightgreen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WHILE YOU TYPE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286000"/>
            <a:ext cx="3794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style first: 16px, no media query.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600: shrink text, go lightcoral.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601 to 900: bump text, go lightblue.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901 and up: biggest text, lightgreen.</a:t>
            </a:r>
            <a:endParaRPr lang="en-US" sz="135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window and watch the colour flip at each edge.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Flexbox and Media Queries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HTML, three outfits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8EEF7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3134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88136" y="23134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23134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2267712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22677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95528" y="2606040"/>
            <a:ext cx="2432304" cy="2724912"/>
          </a:xfrm>
          <a:prstGeom prst="rect">
            <a:avLst/>
          </a:prstGeom>
          <a:solidFill>
            <a:srgbClr val="F08080"/>
          </a:solidFill>
          <a:ln/>
        </p:spPr>
      </p:sp>
      <p:sp>
        <p:nvSpPr>
          <p:cNvPr id="12" name="Text 10"/>
          <p:cNvSpPr/>
          <p:nvPr/>
        </p:nvSpPr>
        <p:spPr>
          <a:xfrm>
            <a:off x="978408" y="283464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78408" y="338328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paragraph resizes with the screen.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5513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 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max-width: 600px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23317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E8EEF7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50208" y="249631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4151376" y="249631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4352544" y="249631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Shape 17"/>
          <p:cNvSpPr/>
          <p:nvPr/>
        </p:nvSpPr>
        <p:spPr>
          <a:xfrm>
            <a:off x="4709160" y="2450592"/>
            <a:ext cx="2148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4505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58768" y="2788920"/>
            <a:ext cx="3163824" cy="2542032"/>
          </a:xfrm>
          <a:prstGeom prst="rect">
            <a:avLst/>
          </a:prstGeom>
          <a:solidFill>
            <a:srgbClr val="ADD8E6"/>
          </a:solidFill>
          <a:ln/>
        </p:spPr>
      </p:sp>
      <p:sp>
        <p:nvSpPr>
          <p:cNvPr id="22" name="Text 20"/>
          <p:cNvSpPr/>
          <p:nvPr/>
        </p:nvSpPr>
        <p:spPr>
          <a:xfrm>
            <a:off x="4041648" y="301752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041648" y="3566160"/>
            <a:ext cx="2798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paragraph resizes with the screen.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5513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 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601px - 900px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43800" y="251460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E8EEF7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44968" y="267919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7" name="Shape 25"/>
          <p:cNvSpPr/>
          <p:nvPr/>
        </p:nvSpPr>
        <p:spPr>
          <a:xfrm>
            <a:off x="7946136" y="267919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6"/>
          <p:cNvSpPr/>
          <p:nvPr/>
        </p:nvSpPr>
        <p:spPr>
          <a:xfrm>
            <a:off x="8147304" y="267919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2633472"/>
            <a:ext cx="288036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41080" y="26334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53528" y="2971800"/>
            <a:ext cx="3895344" cy="2359152"/>
          </a:xfrm>
          <a:prstGeom prst="rect">
            <a:avLst/>
          </a:prstGeom>
          <a:solidFill>
            <a:srgbClr val="90EE90"/>
          </a:solidFill>
          <a:ln/>
        </p:spPr>
      </p:sp>
      <p:sp>
        <p:nvSpPr>
          <p:cNvPr id="32" name="Text 30"/>
          <p:cNvSpPr/>
          <p:nvPr/>
        </p:nvSpPr>
        <p:spPr>
          <a:xfrm>
            <a:off x="7836408" y="320040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836408" y="374904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paragraph resizes with the screen.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43800" y="55138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  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min-width: 901px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reads the viewport width and picks the matching rule - colour and text size change, the HTML never does.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media query applies styles only when the viewport is 600px or less?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E7FBE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(max-width: 600px)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7820" y="2784348"/>
            <a:ext cx="329184" cy="3291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(min-width: 600px)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(width &lt;= 600px)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(max-width &lt;= 600px)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3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 sets a ceiling: the rule fires at 600px and anything narrower.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Flexbox and Media Queries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picture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2860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374" y="244053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83080" y="25328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container a flex container; children become items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46520" y="19659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2860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654" y="24405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flex-direction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452360" y="25328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or column - this sets the main axis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77240" y="33375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05840" y="36576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374" y="381213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3502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 / align-items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783080" y="39044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along the main axis / align across the cross axis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46520" y="33375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75120" y="36576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54" y="381213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3502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452360" y="39044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items drop to a new line instead of shrinking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777240" y="47091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05840" y="5029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374" y="5183734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783080" y="4873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/ grow / shrink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783080" y="52760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per-item control over sequence and sizing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6446520" y="47091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675120" y="5029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9654" y="5183734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452360" y="4873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queries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7452360" y="52760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styles at screen-width breakpoints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623560" y="1371600"/>
            <a:ext cx="1188720" cy="11887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27" y="168066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doubts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56616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live now: build a card grid that wraps, and flip its layout with one media query.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23360" y="4480560"/>
            <a:ext cx="4142232" cy="100584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206240" y="4480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Grid: rows and columns together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2026-08-26T11:22:42Z</dcterms:created>
  <dcterms:modified xsi:type="dcterms:W3CDTF">2026-08-26T11:22:42Z</dcterms:modified>
</cp:coreProperties>
</file>
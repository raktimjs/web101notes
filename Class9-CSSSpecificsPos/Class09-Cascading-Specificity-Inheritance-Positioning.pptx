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4937760" cy="4937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7  -  WEB DEVELOPMENT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Cascading, Specificity,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and Positioning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that style not apply? Today we learn to answer that every single time.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0" y="109728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006" y="1370686"/>
            <a:ext cx="504749" cy="5047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decide which CSS wins, and how to move elements anywhere on the page.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561234"/>
            <a:ext cx="373075" cy="3730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32888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32888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browser defaults come from, and how styles flow down and override each other.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10712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85032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114" y="2561234"/>
            <a:ext cx="373075" cy="3730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94960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39496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85032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685032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of each selector, how to count it, and the !important escape hatch.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72784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47104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86" y="2561234"/>
            <a:ext cx="373075" cy="37307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57032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257032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547104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547104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that pass from parent to child, and the inherit keyword.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134856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409176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258" y="2561234"/>
            <a:ext cx="373075" cy="3730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1119104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11119104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409176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9409176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relative, absolute, fixed and sticky.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48640" y="5852160"/>
            <a:ext cx="11109960" cy="621792"/>
          </a:xfrm>
          <a:prstGeom prst="roundRect">
            <a:avLst>
              <a:gd name="adj" fmla="val 17647"/>
            </a:avLst>
          </a:prstGeom>
          <a:solidFill>
            <a:srgbClr val="E7FBEF"/>
          </a:solidFill>
          <a:ln/>
        </p:spPr>
      </p:sp>
      <p:sp>
        <p:nvSpPr>
          <p:cNvPr id="34" name="Shape 28"/>
          <p:cNvSpPr/>
          <p:nvPr/>
        </p:nvSpPr>
        <p:spPr>
          <a:xfrm>
            <a:off x="749808" y="6035040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1207008" y="58521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class that stops CSS feeling random. Every conflict has a rule behind it.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in CSS. Styles flow down like water.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7228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72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AGENT STYLESHEET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never starting from zero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128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browser ships its own default stylesheet.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agent is the browser, acting on the user's behalf.</a:t>
            </a:r>
            <a:endParaRPr lang="en-US" sz="14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CSS of your own, these defaults still render the page.</a:t>
            </a:r>
            <a:endParaRPr lang="en-US" sz="14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set font sizes, margins, list bullets, link colours and more.</a:t>
            </a:r>
            <a:endParaRPr lang="en-US" sz="14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slightly between browsers, which is why resets exist.</a:t>
            </a:r>
            <a:endParaRPr lang="en-US" sz="14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CSS layers on top and overrides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96596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93408" y="213055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6894576" y="213055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7095744" y="213055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52360" y="2084832"/>
            <a:ext cx="39319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084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01968" y="2423160"/>
            <a:ext cx="4946904" cy="34107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76288" y="2606040"/>
            <a:ext cx="4398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Heading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76288" y="3200400"/>
            <a:ext cx="4398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paragraph of text.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68896" y="3611880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 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68896" y="3922776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 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68896" y="423367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Item 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76288" y="4617720"/>
            <a:ext cx="4398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u="sng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link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30568" y="5120640"/>
            <a:ext cx="4489704" cy="777240"/>
          </a:xfrm>
          <a:prstGeom prst="roundRect">
            <a:avLst>
              <a:gd name="adj" fmla="val 14118"/>
            </a:avLst>
          </a:prstGeom>
          <a:solidFill>
            <a:srgbClr val="E5EE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031736" y="538124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7488936" y="5120640"/>
            <a:ext cx="3621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written at all. Bold heading, bulleted list, blue underlined link: all browser defaults.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called cascading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waterfall. Water starts at the top and falls step by step. CSS reads your stylesheet the same 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4231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defaults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08960" y="24231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agent stylesheet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320040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52728" y="32004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stylesheet, top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rules you write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39776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55648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stylesheet, bottom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0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rules flow over earlier ones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0" cy="68580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97280" y="5029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one standing wins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87452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5361" y="2341961"/>
            <a:ext cx="272125" cy="27212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269480" y="20025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application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269480" y="2377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apply in the order written. A rule at the bottom runs after everything above it.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09360" y="320040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37960" y="3520440"/>
            <a:ext cx="566928" cy="566928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361" y="3667841"/>
            <a:ext cx="272125" cy="2721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69480" y="33284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269480" y="3703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properties pass from parent to child on their own, unless something more specific overrides them.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09360" y="45262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537960" y="4846320"/>
            <a:ext cx="566928" cy="566928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361" y="4993721"/>
            <a:ext cx="272125" cy="27212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269480" y="46542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rule wins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7269480" y="5029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rules have the same specificity, whichever comes later in the file takes over.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309360" y="589788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/>
        </p:spPr>
      </p:sp>
      <p:sp>
        <p:nvSpPr>
          <p:cNvPr id="33" name="Shape 28"/>
          <p:cNvSpPr/>
          <p:nvPr/>
        </p:nvSpPr>
        <p:spPr>
          <a:xfrm>
            <a:off x="6510528" y="604418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29"/>
          <p:cNvSpPr/>
          <p:nvPr/>
        </p:nvSpPr>
        <p:spPr>
          <a:xfrm>
            <a:off x="6967728" y="5897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specificity differs, specificity beats order.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selector carries the same weight.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of command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soldier given two conflicting orders follows the higher rank. Selectors work exactly the same 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121408" cy="2971800"/>
          </a:xfrm>
          <a:prstGeom prst="roundRect">
            <a:avLst>
              <a:gd name="adj" fmla="val 517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07592" y="26517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503" y="280867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3832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Soldier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353312" y="3794760"/>
            <a:ext cx="5120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39044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3891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{ }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642616" y="3671316"/>
            <a:ext cx="201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788920" y="2423160"/>
            <a:ext cx="2121408" cy="2971800"/>
          </a:xfrm>
          <a:prstGeom prst="roundRect">
            <a:avLst>
              <a:gd name="adj" fmla="val 5172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47872" y="26517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783" y="2808671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98648" y="33832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3593592" y="3794760"/>
            <a:ext cx="512064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898648" y="39044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2880360" y="43891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.favourite { }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82896" y="3671316"/>
            <a:ext cx="201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5029200" y="2423160"/>
            <a:ext cx="2121408" cy="2971800"/>
          </a:xfrm>
          <a:prstGeom prst="roundRect">
            <a:avLst>
              <a:gd name="adj" fmla="val 5172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788152" y="26517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063" y="2808671"/>
            <a:ext cx="289682" cy="28968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38928" y="33832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5833872" y="3794760"/>
            <a:ext cx="51206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38928" y="39044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120640" y="43891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#fruits { }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123176" y="3671316"/>
            <a:ext cx="201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7269480" y="2423160"/>
            <a:ext cx="2121408" cy="2971800"/>
          </a:xfrm>
          <a:prstGeom prst="roundRect">
            <a:avLst>
              <a:gd name="adj" fmla="val 5172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028432" y="26517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43" y="2808671"/>
            <a:ext cx="289682" cy="28968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79208" y="33832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order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8074152" y="3794760"/>
            <a:ext cx="51206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379208" y="39044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style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7360920" y="43891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style="..."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9363456" y="3671316"/>
            <a:ext cx="201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2200" dirty="0"/>
          </a:p>
        </p:txBody>
      </p:sp>
      <p:sp>
        <p:nvSpPr>
          <p:cNvPr id="38" name="Shape 32"/>
          <p:cNvSpPr/>
          <p:nvPr/>
        </p:nvSpPr>
        <p:spPr>
          <a:xfrm>
            <a:off x="9509760" y="2423160"/>
            <a:ext cx="2121408" cy="2971800"/>
          </a:xfrm>
          <a:prstGeom prst="roundRect">
            <a:avLst>
              <a:gd name="adj" fmla="val 5172"/>
            </a:avLst>
          </a:prstGeom>
          <a:solidFill>
            <a:srgbClr val="FEF2F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10268712" y="265176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5623" y="2808671"/>
            <a:ext cx="289682" cy="28968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19488" y="338328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edict</a:t>
            </a:r>
            <a:endParaRPr lang="en-US" sz="1350" dirty="0"/>
          </a:p>
        </p:txBody>
      </p:sp>
      <p:sp>
        <p:nvSpPr>
          <p:cNvPr id="42" name="Shape 35"/>
          <p:cNvSpPr/>
          <p:nvPr/>
        </p:nvSpPr>
        <p:spPr>
          <a:xfrm>
            <a:off x="10314432" y="3794760"/>
            <a:ext cx="512064" cy="0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9619488" y="39044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!important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9601200" y="43891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1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red !important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548640" y="557784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46" name="Shape 39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0"/>
          <p:cNvSpPr/>
          <p:nvPr/>
        </p:nvSpPr>
        <p:spPr>
          <a:xfrm>
            <a:off x="1207008" y="55778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!important sparingly. A kingdom where the ruler overrides everything becomes impossible to govern, and so does a stylesheet.</a:t>
            </a:r>
            <a:endParaRPr lang="en-US" sz="1400" dirty="0"/>
          </a:p>
        </p:txBody>
      </p:sp>
      <p:sp>
        <p:nvSpPr>
          <p:cNvPr id="48" name="Text 41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rank order decide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"fruits"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"favourite"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favourite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fruits. Mango carries both an id and a class.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says green. Id says red. Ask the room which wins.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Mango turns red, because id outranks class.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the rule in DevTools and read the specificity value.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add style="color: yellow" inline and watch it flip again.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Cascading, Specificity, Inheritance and Positioning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Mango, three different winners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.favourite { color: green 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5420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5420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5420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2496312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4963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2834640"/>
            <a:ext cx="3346704" cy="1719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61288" y="31546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61288" y="353872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" y="392277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Orange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only, so green applies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15968" y="1965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#fruits { color: red }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5968" y="23774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17136" y="25420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8304" y="25420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9472" y="25420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Shape 20"/>
          <p:cNvSpPr/>
          <p:nvPr/>
        </p:nvSpPr>
        <p:spPr>
          <a:xfrm>
            <a:off x="5276088" y="2496312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24963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25696" y="2834640"/>
            <a:ext cx="3346704" cy="1719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28616" y="31546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28616" y="353872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28616" y="392277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Orange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15968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added, id outranks class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83296" y="1965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style="color: yellow"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83296" y="23774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25420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2" name="Shape 30"/>
          <p:cNvSpPr/>
          <p:nvPr/>
        </p:nvSpPr>
        <p:spPr>
          <a:xfrm>
            <a:off x="8485632" y="25420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3" name="Shape 31"/>
          <p:cNvSpPr/>
          <p:nvPr/>
        </p:nvSpPr>
        <p:spPr>
          <a:xfrm>
            <a:off x="8686800" y="25420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4" name="Shape 32"/>
          <p:cNvSpPr/>
          <p:nvPr/>
        </p:nvSpPr>
        <p:spPr>
          <a:xfrm>
            <a:off x="9043416" y="2496312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0576" y="24963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93024" y="2834640"/>
            <a:ext cx="3346704" cy="1719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695944" y="315468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695944" y="353872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b="1" dirty="0">
                <a:solidFill>
                  <a:srgbClr val="DAA5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Mango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95944" y="392277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Orange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083296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beats both of them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534924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/>
        </p:spPr>
      </p:sp>
      <p:sp>
        <p:nvSpPr>
          <p:cNvPr id="42" name="Shape 40"/>
          <p:cNvSpPr/>
          <p:nvPr/>
        </p:nvSpPr>
        <p:spPr>
          <a:xfrm>
            <a:off x="749808" y="556412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1207008" y="53492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deleted between these three. Each new rule simply outranked the one before it.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count specificity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selector and tally three buckets: how many ids, how many classes, how many elements.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42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#fruits </a:t>
            </a:r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 (#fruits), 0 classes, 2 elements (ul, li)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661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5661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286000" y="3566160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5661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3101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54480" y="33101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0" y="33101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2542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#fruits </a:t>
            </a:r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pPr algn="l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.favourite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id, 1 class (.favourite), 2 elements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3566160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5661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223760" y="3566160"/>
            <a:ext cx="7315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35661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955280" y="3566160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35661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92240" y="33101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223760" y="33101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55280" y="33101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11109960" cy="1691640"/>
          </a:xfrm>
          <a:prstGeom prst="roundRect">
            <a:avLst>
              <a:gd name="adj" fmla="val 6486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bucket by bucket, left to right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68680" y="49834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tie at 1. Move right: 1 class beats 0 classes, so the second selector wins and the elements column never even gets compared.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2376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(1, 0, 2)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9154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41832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(1, 1, 2)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7223760" y="5257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 stays red, the other fruits go blue.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these from the LEAST to the MOST specific selector.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.test          then   h1.test   then   #try   then   h1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 then   .test   then   h1.test   then   #try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#try   then   h1.test   then   .test   then   h1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 then   h1.test   then   .test   then   #try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one out loud first: .test, h1.test, #try, h1. Write the three-number value beside each before you vote.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Cascading, Specificity, Inheritance and Positioning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them yourself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5778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7480" y="2011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element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2066544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066544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44440" y="2066544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4440" y="2066544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516880" y="2066544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6880" y="2066544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1810512"/>
            <a:ext cx="47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44440" y="1810512"/>
            <a:ext cx="47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516880" y="1810512"/>
            <a:ext cx="47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798064"/>
            <a:ext cx="55778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27980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97480" y="27980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2852928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852928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044440" y="2852928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4440" y="2852928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516880" y="2852928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6880" y="2852928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8640" y="3584448"/>
            <a:ext cx="55778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35844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h1.test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697480" y="35844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class, 1 element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0" y="3639312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639312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044440" y="3639312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4440" y="3639312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516880" y="3639312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6880" y="3639312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48640" y="4370832"/>
            <a:ext cx="55778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43708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697480" y="43708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0" y="4425696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4425696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5044440" y="4425696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4440" y="4425696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5516880" y="4425696"/>
            <a:ext cx="47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6880" y="4425696"/>
            <a:ext cx="47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48640" y="5257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specific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09360" y="2240280"/>
            <a:ext cx="0" cy="31089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989320" y="3383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2011680"/>
            <a:ext cx="4800600" cy="1874520"/>
          </a:xfrm>
          <a:prstGeom prst="roundRect">
            <a:avLst>
              <a:gd name="adj" fmla="val 5854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08660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#try ul div.test h2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08660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#try   class: .test   elements: ul, div, h2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086600" y="3200400"/>
            <a:ext cx="685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320040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7772400" y="3200400"/>
            <a:ext cx="685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320040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8458200" y="3200400"/>
            <a:ext cx="685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58200" y="320040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9144000" y="3200400"/>
            <a:ext cx="685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0" y="320040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7086600" y="29443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772400" y="29443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458200" y="29443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144000" y="29443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858000" y="4069080"/>
            <a:ext cx="4800600" cy="1874520"/>
          </a:xfrm>
          <a:prstGeom prst="roundRect">
            <a:avLst>
              <a:gd name="adj" fmla="val 5854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086600" y="4251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#try span img .test .main header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086600" y="46360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#try   classes: .test, .main   elements: span, img, header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086600" y="5257800"/>
            <a:ext cx="685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525780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7772400" y="5257800"/>
            <a:ext cx="685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0" y="525780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8458200" y="5257800"/>
            <a:ext cx="685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58200" y="525780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71" name="Shape 69"/>
          <p:cNvSpPr/>
          <p:nvPr/>
        </p:nvSpPr>
        <p:spPr>
          <a:xfrm>
            <a:off x="9144000" y="5257800"/>
            <a:ext cx="685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44000" y="525780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7086600" y="5001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772400" y="5001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458200" y="5001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144000" y="5001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ESCAPE HATCH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!important: the royal edict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760720" cy="2377440"/>
          </a:xfrm>
          <a:prstGeom prst="roundRect">
            <a:avLst>
              <a:gd name="adj" fmla="val 461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2486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favourite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760720" cy="1234440"/>
          </a:xfrm>
          <a:prstGeom prst="roundRect">
            <a:avLst>
              <a:gd name="adj" fmla="val 8889"/>
            </a:avLst>
          </a:prstGeom>
          <a:solidFill>
            <a:srgbClr val="FFF3E0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501548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5262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 item turns blue. The lower-specificity rule wins because !important sits outside the scoring system entirely.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96596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2194560"/>
            <a:ext cx="640080" cy="640080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4421" y="23609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35240" y="2267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with care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903720" y="292608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overrides specificity completely, whatever the score.</a:t>
            </a:r>
            <a:endParaRPr lang="en-US" sz="1300" dirty="0"/>
          </a:p>
          <a:p>
            <a:pPr algn="l" marL="190500" indent="-1905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rules both use !important, normal specificity decides between them.</a:t>
            </a:r>
            <a:endParaRPr lang="en-US" sz="1300" dirty="0"/>
          </a:p>
          <a:p>
            <a:pPr algn="l" marL="190500" indent="-1905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 beat internal and external stylesheets.</a:t>
            </a:r>
            <a:endParaRPr lang="en-US" sz="1300" dirty="0"/>
          </a:p>
          <a:p>
            <a:pPr algn="l" marL="190500" indent="-1905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an external and an internal sheet, whichever loads later wins.</a:t>
            </a:r>
            <a:endParaRPr lang="en-US" sz="1300" dirty="0"/>
          </a:p>
          <a:p>
            <a:pPr algn="l" marL="190500" indent="-1905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it only when a style genuinely must not be overridden.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AND SPECIFICITY DONE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inheritance and positioning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properties pass down the family tree on their own.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take after their parents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0" cy="3063240"/>
          </a:xfrm>
          <a:prstGeom prst="roundRect">
            <a:avLst>
              <a:gd name="adj" fmla="val 3582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15721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5669280" cy="822960"/>
          </a:xfrm>
          <a:prstGeom prst="roundRect">
            <a:avLst>
              <a:gd name="adj" fmla="val 13333"/>
            </a:avLst>
          </a:prstGeom>
          <a:solidFill>
            <a:srgbClr val="E5EE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549554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5212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surname passing down a family. The inherit keyword says: whatever my parent computed, use that.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196596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2286000"/>
            <a:ext cx="4526280" cy="3291840"/>
          </a:xfrm>
          <a:prstGeom prst="roundRect">
            <a:avLst>
              <a:gd name="adj" fmla="val 2222"/>
            </a:avLst>
          </a:prstGeom>
          <a:solidFill>
            <a:srgbClr val="E5EE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395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2724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blue   font-size: 20px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0" y="320040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2C55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31520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.child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370332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text will inherit colour and font size from its parent.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67728" y="3063240"/>
            <a:ext cx="0" cy="91440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132320" y="4892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inherited: blue, 20px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56235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properties inherit naturally. Layout properties like margin and border do not.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 element anywhere, once you know what it is measuring from.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12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static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128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starts here.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element sits in the normal flow of the document: one after another, in the order they appear in your HTML.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8992" y="392277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392277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92277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38130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4233672"/>
            <a:ext cx="46085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normal-flow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30px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196596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FEF2F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2981" y="23609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43800" y="2267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do nothing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766560" y="297180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top, right, bottom and left are simply ignored on a static element. This is the single most common reason a learner's offset seems broken: the element was never positioned in the first place.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766560" y="4709160"/>
            <a:ext cx="4617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49440" y="47091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offsets work, the element needs relative, absolute, fixed or sticky.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or absolute: measured from what?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phone lying on a table. You can describe where it is in two completely different ways.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420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4800600" cy="196596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342900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017520" y="370332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/>
        </p:spPr>
      </p:sp>
      <p:sp>
        <p:nvSpPr>
          <p:cNvPr id="11" name="Shape 9"/>
          <p:cNvSpPr/>
          <p:nvPr/>
        </p:nvSpPr>
        <p:spPr>
          <a:xfrm>
            <a:off x="2395728" y="3913632"/>
            <a:ext cx="58521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8680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10cm from where it was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5420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971800"/>
            <a:ext cx="4800600" cy="1965960"/>
          </a:xfrm>
          <a:prstGeom prst="rect">
            <a:avLst/>
          </a:prstGeom>
          <a:solidFill>
            <a:srgbClr val="E5EE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370332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4187952"/>
            <a:ext cx="2103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06840" y="2971800"/>
            <a:ext cx="0" cy="6858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537960" y="5029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the edge of the table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109960" cy="868680"/>
          </a:xfrm>
          <a:prstGeom prst="roundRect">
            <a:avLst>
              <a:gd name="adj" fmla="val 12632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66928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pPr algn="l" indent="0" marL="0">
              <a:buNone/>
            </a:pPr>
            <a:r>
              <a:rPr lang="en-US" sz="14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offset from where the element would normally sit.     </a:t>
            </a:r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</a:t>
            </a:r>
            <a:pPr algn="l" indent="0" marL="0">
              <a:buNone/>
            </a:pPr>
            <a:r>
              <a:rPr lang="en-US" sz="14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offset from its nearest positioned ancestor.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relative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8828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book2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30px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E5EE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524408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8006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2 shifts down and right, but the space it originally occupied is still reserved. Nothing else moves.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965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bookshelf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743200"/>
            <a:ext cx="868680" cy="17373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743200"/>
            <a:ext cx="868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2743200"/>
            <a:ext cx="868680" cy="1737360"/>
          </a:xfrm>
          <a:prstGeom prst="rect">
            <a:avLst/>
          </a:prstGeom>
          <a:solidFill>
            <a:srgbClr val="F1F5F9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635240" y="2743200"/>
            <a:ext cx="868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kept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01000" y="3108960"/>
            <a:ext cx="868680" cy="1737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3108960"/>
            <a:ext cx="868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2907792"/>
            <a:ext cx="365760" cy="0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269480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30px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06840" y="2743200"/>
            <a:ext cx="0" cy="365760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052560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20px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55321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 the normal flow, just nudged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book off the shelf: absolute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bookshelf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anchor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book2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position: absolute to book 2 and save.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the flow. Books 3 and 4 slide left to fill the gap.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now measures from the bookshelf, its positioned ancestor.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delete position: relative from .bookshelf and save again.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jump: with no positioned ancestor it uses the page.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Cascading, Specificity, Inheritance and Positioning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flow entirely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(all static)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834640"/>
            <a:ext cx="777240" cy="1554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3464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47088" y="2834640"/>
            <a:ext cx="777240" cy="15544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847088" y="283464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25496" y="2834640"/>
            <a:ext cx="777240" cy="155448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825496" y="283464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03904" y="2834640"/>
            <a:ext cx="777240" cy="155448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03904" y="283464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books, evenly in order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(book 2 absolute)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33172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834640"/>
            <a:ext cx="777240" cy="1554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83464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16368" y="2834640"/>
            <a:ext cx="777240" cy="155448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516368" y="283464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94776" y="2834640"/>
            <a:ext cx="777240" cy="1554480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23" name="Text 21"/>
          <p:cNvSpPr/>
          <p:nvPr/>
        </p:nvSpPr>
        <p:spPr>
          <a:xfrm>
            <a:off x="8494776" y="283464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86600" y="3200400"/>
            <a:ext cx="777240" cy="1554480"/>
          </a:xfrm>
          <a:prstGeom prst="rect">
            <a:avLst/>
          </a:prstGeom>
          <a:solidFill>
            <a:srgbClr val="FF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200400"/>
            <a:ext cx="777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55321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2 floats above; 3 and 4 close the gap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989320"/>
            <a:ext cx="11109960" cy="566928"/>
          </a:xfrm>
          <a:prstGeom prst="roundRect">
            <a:avLst>
              <a:gd name="adj" fmla="val 19355"/>
            </a:avLst>
          </a:prstGeom>
          <a:solidFill>
            <a:srgbClr val="EEF2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" y="6144768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1207008" y="59893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 difference. relative keeps its space, absolute gives its space away.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TO THE WINDOW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fixed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element locks to the viewport, not the page. Scroll all you like: it does not move.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anything that must stay reachable: a nav bar, a chat bubble, a call-to-action button.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4471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4471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4471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43616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4782312"/>
            <a:ext cx="46085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box_3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4px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1px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E90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8346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78040" y="28346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28346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834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07808" y="48463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2219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26480" y="55869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3 sits bottom right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8280" y="25146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E90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79608" y="48463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79608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98280" y="22219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scrolling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098280" y="55869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3 has not moved at all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32520" y="4023360"/>
            <a:ext cx="2743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THEN FIXED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sticky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is a hybrid. It behaves like a relative element until it hits a threshold you set, then it sticks like a fixed one.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scroll zomato.com and watch the navbar ride up, catch at the top, and stay there.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4471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4471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4471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43616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 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4782312"/>
            <a:ext cx="46085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box_3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1E90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2788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2788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35661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82512" y="35661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scrolling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26480" y="55869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normally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83880" y="25146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1E90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26243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39912" y="26243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6347"/>
          </a:solidFill>
          <a:ln/>
        </p:spPr>
      </p:sp>
      <p:sp>
        <p:nvSpPr>
          <p:cNvPr id="29" name="Text 27"/>
          <p:cNvSpPr/>
          <p:nvPr/>
        </p:nvSpPr>
        <p:spPr>
          <a:xfrm>
            <a:off x="8439912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reaches top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83880" y="55869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top: 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241280" y="25146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1E90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97312" y="2624328"/>
            <a:ext cx="566928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97312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4128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stuck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241280" y="55869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while page scrolls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values, side by side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5528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109960" cy="694944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86000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28600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flow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nothing, offsets ignored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228600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everything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11109960" cy="694944"/>
          </a:xfrm>
          <a:prstGeom prst="roundRect">
            <a:avLst>
              <a:gd name="adj" fmla="val 15789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09067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09067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flow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normal position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55280" y="309067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nudging, and anchoring an absolute child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95344"/>
            <a:ext cx="11109960" cy="694944"/>
          </a:xfrm>
          <a:prstGeom prst="roundRect">
            <a:avLst>
              <a:gd name="adj" fmla="val 15789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895344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60320" y="389534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flow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3895344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positioned ancestor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55280" y="389534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overlays, precise placement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00016"/>
            <a:ext cx="11109960" cy="694944"/>
          </a:xfrm>
          <a:prstGeom prst="roundRect">
            <a:avLst>
              <a:gd name="adj" fmla="val 15789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70001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60320" y="470001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flow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4700016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viewport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55280" y="470001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 bars, chat buttons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04688"/>
            <a:ext cx="11109960" cy="694944"/>
          </a:xfrm>
          <a:prstGeom prst="roundRect">
            <a:avLst>
              <a:gd name="adj" fmla="val 15789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504688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sticky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60320" y="550468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flow, then pinned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37760" y="550468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scroll threshold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955280" y="550468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headers, section titles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is set to position: absolute. What is it positioned relative to?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normal position in the flow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viewport, always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nearest ancestor with a position other than static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direct parent, whatever that parent's position is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first. Then ask: what changed in our demo the moment we deleted position: relative from .bookshelf?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Cascading, Specificity, Inheritance and Positioning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COVERED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recap and doubts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374" y="24405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8308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defaults first, then your rules, top to bottom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54" y="24405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rule wins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45236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specificity is equal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724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74" y="38121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&lt; class &lt; id &lt; inline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78308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them as (id, class, element) and compare left to right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4652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7512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54" y="381213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45236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the whole scoring system, so use it rarely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7724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0584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374" y="518373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78308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properties pass to children; inherit asks for the parent value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44652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67512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654" y="518373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5236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/ relative / absolute / fixed / sticky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745236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 from is what makes each one different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37160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27" y="168066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doubts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5661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pin a nav bar with fixed, then make a section heading stick as you scroll.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94760" y="448056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977640" y="44805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style will not apply, count its specificity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2026-08-31T10:56:42Z</dcterms:created>
  <dcterms:modified xsi:type="dcterms:W3CDTF">2026-08-31T10:56:42Z</dcterms:modified>
</cp:coreProperties>
</file>
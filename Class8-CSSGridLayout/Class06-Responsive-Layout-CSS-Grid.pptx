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052560" y="-1554480"/>
            <a:ext cx="4937760" cy="4937760"/>
          </a:xfrm>
          <a:prstGeom prst="ellipse">
            <a:avLst/>
          </a:prstGeom>
          <a:solidFill>
            <a:srgbClr val="1B2A4A"/>
          </a:solidFill>
          <a:ln/>
        </p:spPr>
      </p:sp>
      <p:sp>
        <p:nvSpPr>
          <p:cNvPr id="3" name="Shape 1"/>
          <p:cNvSpPr/>
          <p:nvPr/>
        </p:nvSpPr>
        <p:spPr>
          <a:xfrm>
            <a:off x="10607040" y="4023360"/>
            <a:ext cx="3291840" cy="3291840"/>
          </a:xfrm>
          <a:prstGeom prst="ellipse">
            <a:avLst/>
          </a:prstGeom>
          <a:solidFill>
            <a:srgbClr val="1B2A4A"/>
          </a:solidFill>
          <a:ln/>
        </p:spPr>
      </p:sp>
      <p:sp>
        <p:nvSpPr>
          <p:cNvPr id="4" name="Shape 2"/>
          <p:cNvSpPr/>
          <p:nvPr/>
        </p:nvSpPr>
        <p:spPr>
          <a:xfrm>
            <a:off x="822960" y="1280160"/>
            <a:ext cx="3383280" cy="310896"/>
          </a:xfrm>
          <a:prstGeom prst="roundRect">
            <a:avLst>
              <a:gd name="adj" fmla="val 50000"/>
            </a:avLst>
          </a:prstGeom>
          <a:solidFill>
            <a:srgbClr val="2563EB"/>
          </a:solidFill>
          <a:ln/>
        </p:spPr>
      </p:sp>
      <p:sp>
        <p:nvSpPr>
          <p:cNvPr id="5" name="Text 3"/>
          <p:cNvSpPr/>
          <p:nvPr/>
        </p:nvSpPr>
        <p:spPr>
          <a:xfrm>
            <a:off x="822960" y="1280160"/>
            <a:ext cx="338328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CLASS 6  -  WEB DEVELOPMENT</a:t>
            </a:r>
            <a:endParaRPr lang="en-US" sz="1100" dirty="0"/>
          </a:p>
        </p:txBody>
      </p:sp>
      <p:sp>
        <p:nvSpPr>
          <p:cNvPr id="6" name="Text 4"/>
          <p:cNvSpPr/>
          <p:nvPr/>
        </p:nvSpPr>
        <p:spPr>
          <a:xfrm>
            <a:off x="777240" y="1828800"/>
            <a:ext cx="9601200" cy="2194560"/>
          </a:xfrm>
          <a:prstGeom prst="rect">
            <a:avLst/>
          </a:prstGeom>
          <a:noFill/>
          <a:ln/>
        </p:spPr>
        <p:txBody>
          <a:bodyPr wrap="square" lIns="0" tIns="0" rIns="0" bIns="0" rtlCol="0" anchor="t"/>
          <a:lstStyle/>
          <a:p>
            <a:pPr algn="l" indent="0" marL="0">
              <a:lnSpc>
                <a:spcPct val="98000"/>
              </a:lnSpc>
              <a:buNone/>
            </a:pPr>
            <a:r>
              <a:rPr lang="en-US" sz="5400" b="1" dirty="0">
                <a:solidFill>
                  <a:srgbClr val="FFFFFF"/>
                </a:solidFill>
                <a:latin typeface="Calibri" pitchFamily="34" charset="0"/>
                <a:ea typeface="Calibri" pitchFamily="34" charset="-122"/>
                <a:cs typeface="Calibri" pitchFamily="34" charset="-120"/>
              </a:rPr>
              <a:t>Responsive Layout</a:t>
            </a:r>
            <a:endParaRPr lang="en-US" sz="5400" dirty="0"/>
          </a:p>
          <a:p>
            <a:pPr algn="l" indent="0" marL="0">
              <a:lnSpc>
                <a:spcPct val="98000"/>
              </a:lnSpc>
              <a:buNone/>
            </a:pPr>
            <a:r>
              <a:rPr lang="en-US" sz="5400" b="1" dirty="0">
                <a:solidFill>
                  <a:srgbClr val="FFFFFF"/>
                </a:solidFill>
                <a:latin typeface="Calibri" pitchFamily="34" charset="0"/>
                <a:ea typeface="Calibri" pitchFamily="34" charset="-122"/>
                <a:cs typeface="Calibri" pitchFamily="34" charset="-120"/>
              </a:rPr>
              <a:t>and CSS Grid</a:t>
            </a:r>
            <a:endParaRPr lang="en-US" sz="5400" dirty="0"/>
          </a:p>
        </p:txBody>
      </p:sp>
      <p:sp>
        <p:nvSpPr>
          <p:cNvPr id="7" name="Text 5"/>
          <p:cNvSpPr/>
          <p:nvPr/>
        </p:nvSpPr>
        <p:spPr>
          <a:xfrm>
            <a:off x="822960" y="4343400"/>
            <a:ext cx="9326880" cy="640080"/>
          </a:xfrm>
          <a:prstGeom prst="rect">
            <a:avLst/>
          </a:prstGeom>
          <a:noFill/>
          <a:ln/>
        </p:spPr>
        <p:txBody>
          <a:bodyPr wrap="square" lIns="0" tIns="0" rIns="0" bIns="0" rtlCol="0" anchor="ctr"/>
          <a:lstStyle/>
          <a:p>
            <a:pPr algn="l" indent="0" marL="0">
              <a:buNone/>
            </a:pPr>
            <a:r>
              <a:rPr lang="en-US" sz="1800" dirty="0">
                <a:solidFill>
                  <a:srgbClr val="C7DBFF"/>
                </a:solidFill>
                <a:latin typeface="Calibri" pitchFamily="34" charset="0"/>
                <a:ea typeface="Calibri" pitchFamily="34" charset="-122"/>
                <a:cs typeface="Calibri" pitchFamily="34" charset="-120"/>
              </a:rPr>
              <a:t>Flexbox gave us a line. Grid gives us rows and columns at the same time.</a:t>
            </a:r>
            <a:endParaRPr lang="en-US" sz="1800" dirty="0"/>
          </a:p>
        </p:txBody>
      </p:sp>
      <p:sp>
        <p:nvSpPr>
          <p:cNvPr id="8" name="Shape 6"/>
          <p:cNvSpPr/>
          <p:nvPr/>
        </p:nvSpPr>
        <p:spPr>
          <a:xfrm>
            <a:off x="10515600" y="1097280"/>
            <a:ext cx="1051560" cy="1051560"/>
          </a:xfrm>
          <a:prstGeom prst="ellipse">
            <a:avLst/>
          </a:prstGeom>
          <a:solidFill>
            <a:srgbClr val="2563EB"/>
          </a:solidFill>
          <a:ln/>
        </p:spPr>
      </p:sp>
      <p:pic>
        <p:nvPicPr>
          <p:cNvPr id="9" name="Image 0" descr="preencoded.png">    </p:cNvPr>
          <p:cNvPicPr>
            <a:picLocks noChangeAspect="1"/>
          </p:cNvPicPr>
          <p:nvPr/>
        </p:nvPicPr>
        <p:blipFill>
          <a:blip r:embed="rId1"/>
          <a:stretch>
            <a:fillRect/>
          </a:stretch>
        </p:blipFill>
        <p:spPr>
          <a:xfrm>
            <a:off x="10789006" y="1370686"/>
            <a:ext cx="504749" cy="504749"/>
          </a:xfrm>
          <a:prstGeom prst="rect">
            <a:avLst/>
          </a:prstGeom>
        </p:spPr>
      </p:pic>
      <p:sp>
        <p:nvSpPr>
          <p:cNvPr id="10" name="Text 7"/>
          <p:cNvSpPr/>
          <p:nvPr/>
        </p:nvSpPr>
        <p:spPr>
          <a:xfrm>
            <a:off x="822960" y="5852160"/>
            <a:ext cx="10058400" cy="365760"/>
          </a:xfrm>
          <a:prstGeom prst="rect">
            <a:avLst/>
          </a:prstGeom>
          <a:noFill/>
          <a:ln/>
        </p:spPr>
        <p:txBody>
          <a:bodyPr wrap="square" lIns="0" tIns="0" rIns="0" bIns="0"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Two dimensions, one property set. This is how real page layouts get built.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832104" cy="310896"/>
          </a:xfrm>
          <a:prstGeom prst="roundRect">
            <a:avLst>
              <a:gd name="adj" fmla="val 50000"/>
            </a:avLst>
          </a:prstGeom>
          <a:solidFill>
            <a:srgbClr val="2563EB"/>
          </a:solidFill>
          <a:ln/>
        </p:spPr>
      </p:sp>
      <p:sp>
        <p:nvSpPr>
          <p:cNvPr id="3" name="Text 1"/>
          <p:cNvSpPr/>
          <p:nvPr/>
        </p:nvSpPr>
        <p:spPr>
          <a:xfrm>
            <a:off x="548640" y="457200"/>
            <a:ext cx="832104"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What we cover today</a:t>
            </a:r>
            <a:endParaRPr lang="en-US" sz="3400" dirty="0"/>
          </a:p>
        </p:txBody>
      </p:sp>
      <p:sp>
        <p:nvSpPr>
          <p:cNvPr id="5" name="Shape 3"/>
          <p:cNvSpPr/>
          <p:nvPr/>
        </p:nvSpPr>
        <p:spPr>
          <a:xfrm>
            <a:off x="548640" y="1965960"/>
            <a:ext cx="3611880" cy="3657600"/>
          </a:xfrm>
          <a:prstGeom prst="roundRect">
            <a:avLst>
              <a:gd name="adj" fmla="val 303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68680" y="2331720"/>
            <a:ext cx="868680" cy="868680"/>
          </a:xfrm>
          <a:prstGeom prst="ellipse">
            <a:avLst/>
          </a:prstGeom>
          <a:solidFill>
            <a:srgbClr val="E5EEFF"/>
          </a:solidFill>
          <a:ln/>
        </p:spPr>
      </p:sp>
      <p:pic>
        <p:nvPicPr>
          <p:cNvPr id="7" name="Image 0" descr="preencoded.png">    </p:cNvPr>
          <p:cNvPicPr>
            <a:picLocks noChangeAspect="1"/>
          </p:cNvPicPr>
          <p:nvPr/>
        </p:nvPicPr>
        <p:blipFill>
          <a:blip r:embed="rId1"/>
          <a:stretch>
            <a:fillRect/>
          </a:stretch>
        </p:blipFill>
        <p:spPr>
          <a:xfrm>
            <a:off x="1094537" y="2557577"/>
            <a:ext cx="416966" cy="416966"/>
          </a:xfrm>
          <a:prstGeom prst="rect">
            <a:avLst/>
          </a:prstGeom>
        </p:spPr>
      </p:pic>
      <p:sp>
        <p:nvSpPr>
          <p:cNvPr id="8" name="Shape 5"/>
          <p:cNvSpPr/>
          <p:nvPr/>
        </p:nvSpPr>
        <p:spPr>
          <a:xfrm>
            <a:off x="3429000" y="2331720"/>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9" name="Text 6"/>
          <p:cNvSpPr/>
          <p:nvPr/>
        </p:nvSpPr>
        <p:spPr>
          <a:xfrm>
            <a:off x="3429000"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868680" y="3429000"/>
            <a:ext cx="2971800" cy="822960"/>
          </a:xfrm>
          <a:prstGeom prst="rect">
            <a:avLst/>
          </a:prstGeom>
          <a:noFill/>
          <a:ln/>
        </p:spPr>
        <p:txBody>
          <a:bodyPr wrap="square" lIns="0" tIns="0" rIns="0" bIns="0" rtlCol="0" anchor="t"/>
          <a:lstStyle/>
          <a:p>
            <a:pPr algn="l" indent="0" marL="0">
              <a:buNone/>
            </a:pPr>
            <a:r>
              <a:rPr lang="en-US" sz="1900" b="1" dirty="0">
                <a:solidFill>
                  <a:srgbClr val="0F172A"/>
                </a:solidFill>
                <a:latin typeface="Calibri" pitchFamily="34" charset="0"/>
                <a:ea typeface="Calibri" pitchFamily="34" charset="-122"/>
                <a:cs typeface="Calibri" pitchFamily="34" charset="-120"/>
              </a:rPr>
              <a:t>What is a Grid layout</a:t>
            </a:r>
            <a:endParaRPr lang="en-US" sz="1900" dirty="0"/>
          </a:p>
        </p:txBody>
      </p:sp>
      <p:sp>
        <p:nvSpPr>
          <p:cNvPr id="11" name="Text 8"/>
          <p:cNvSpPr/>
          <p:nvPr/>
        </p:nvSpPr>
        <p:spPr>
          <a:xfrm>
            <a:off x="868680" y="4206240"/>
            <a:ext cx="2971800" cy="1280160"/>
          </a:xfrm>
          <a:prstGeom prst="rect">
            <a:avLst/>
          </a:prstGeom>
          <a:noFill/>
          <a:ln/>
        </p:spPr>
        <p:txBody>
          <a:bodyPr wrap="square" lIns="0" tIns="0" rIns="0" bIns="0" rtlCol="0" anchor="t"/>
          <a:lstStyle/>
          <a:p>
            <a:pPr algn="l" indent="0" marL="0">
              <a:buNone/>
            </a:pPr>
            <a:r>
              <a:rPr lang="en-US" sz="1400" dirty="0">
                <a:solidFill>
                  <a:srgbClr val="64748B"/>
                </a:solidFill>
                <a:latin typeface="Calibri" pitchFamily="34" charset="0"/>
                <a:ea typeface="Calibri" pitchFamily="34" charset="-122"/>
                <a:cs typeface="Calibri" pitchFamily="34" charset="-120"/>
              </a:rPr>
              <a:t>The two-dimensional layout model, and when reaching for it beats Flexbox.</a:t>
            </a:r>
            <a:endParaRPr lang="en-US" sz="1400" dirty="0"/>
          </a:p>
        </p:txBody>
      </p:sp>
      <p:sp>
        <p:nvSpPr>
          <p:cNvPr id="12" name="Shape 9"/>
          <p:cNvSpPr/>
          <p:nvPr/>
        </p:nvSpPr>
        <p:spPr>
          <a:xfrm>
            <a:off x="4416552" y="1965960"/>
            <a:ext cx="3611880" cy="3657600"/>
          </a:xfrm>
          <a:prstGeom prst="roundRect">
            <a:avLst>
              <a:gd name="adj" fmla="val 303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3" name="Shape 10"/>
          <p:cNvSpPr/>
          <p:nvPr/>
        </p:nvSpPr>
        <p:spPr>
          <a:xfrm>
            <a:off x="4736592" y="2331720"/>
            <a:ext cx="868680" cy="868680"/>
          </a:xfrm>
          <a:prstGeom prst="ellipse">
            <a:avLst/>
          </a:prstGeom>
          <a:solidFill>
            <a:srgbClr val="E5EEFF"/>
          </a:solidFill>
          <a:ln/>
        </p:spPr>
      </p:sp>
      <p:pic>
        <p:nvPicPr>
          <p:cNvPr id="14" name="Image 1" descr="preencoded.png">    </p:cNvPr>
          <p:cNvPicPr>
            <a:picLocks noChangeAspect="1"/>
          </p:cNvPicPr>
          <p:nvPr/>
        </p:nvPicPr>
        <p:blipFill>
          <a:blip r:embed="rId2"/>
          <a:stretch>
            <a:fillRect/>
          </a:stretch>
        </p:blipFill>
        <p:spPr>
          <a:xfrm>
            <a:off x="4962449" y="2557577"/>
            <a:ext cx="416966" cy="416966"/>
          </a:xfrm>
          <a:prstGeom prst="rect">
            <a:avLst/>
          </a:prstGeom>
        </p:spPr>
      </p:pic>
      <p:sp>
        <p:nvSpPr>
          <p:cNvPr id="15" name="Shape 11"/>
          <p:cNvSpPr/>
          <p:nvPr/>
        </p:nvSpPr>
        <p:spPr>
          <a:xfrm>
            <a:off x="7296912" y="2331720"/>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6" name="Text 12"/>
          <p:cNvSpPr/>
          <p:nvPr/>
        </p:nvSpPr>
        <p:spPr>
          <a:xfrm>
            <a:off x="7296912"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3"/>
          <p:cNvSpPr/>
          <p:nvPr/>
        </p:nvSpPr>
        <p:spPr>
          <a:xfrm>
            <a:off x="4736592" y="3429000"/>
            <a:ext cx="2971800" cy="822960"/>
          </a:xfrm>
          <a:prstGeom prst="rect">
            <a:avLst/>
          </a:prstGeom>
          <a:noFill/>
          <a:ln/>
        </p:spPr>
        <p:txBody>
          <a:bodyPr wrap="square" lIns="0" tIns="0" rIns="0" bIns="0" rtlCol="0" anchor="t"/>
          <a:lstStyle/>
          <a:p>
            <a:pPr algn="l" indent="0" marL="0">
              <a:buNone/>
            </a:pPr>
            <a:r>
              <a:rPr lang="en-US" sz="1900" b="1" dirty="0">
                <a:solidFill>
                  <a:srgbClr val="0F172A"/>
                </a:solidFill>
                <a:latin typeface="Calibri" pitchFamily="34" charset="0"/>
                <a:ea typeface="Calibri" pitchFamily="34" charset="-122"/>
                <a:cs typeface="Calibri" pitchFamily="34" charset="-120"/>
              </a:rPr>
              <a:t>Grid properties</a:t>
            </a:r>
            <a:endParaRPr lang="en-US" sz="1900" dirty="0"/>
          </a:p>
        </p:txBody>
      </p:sp>
      <p:sp>
        <p:nvSpPr>
          <p:cNvPr id="18" name="Text 14"/>
          <p:cNvSpPr/>
          <p:nvPr/>
        </p:nvSpPr>
        <p:spPr>
          <a:xfrm>
            <a:off x="4736592" y="4206240"/>
            <a:ext cx="2971800" cy="1280160"/>
          </a:xfrm>
          <a:prstGeom prst="rect">
            <a:avLst/>
          </a:prstGeom>
          <a:noFill/>
          <a:ln/>
        </p:spPr>
        <p:txBody>
          <a:bodyPr wrap="square" lIns="0" tIns="0" rIns="0" bIns="0" rtlCol="0" anchor="t"/>
          <a:lstStyle/>
          <a:p>
            <a:pPr algn="l" indent="0" marL="0">
              <a:buNone/>
            </a:pPr>
            <a:r>
              <a:rPr lang="en-US" sz="1400" dirty="0">
                <a:solidFill>
                  <a:srgbClr val="64748B"/>
                </a:solidFill>
                <a:latin typeface="Calibri" pitchFamily="34" charset="0"/>
                <a:ea typeface="Calibri" pitchFamily="34" charset="-122"/>
                <a:cs typeface="Calibri" pitchFamily="34" charset="-120"/>
              </a:rPr>
              <a:t>Template columns and rows, fr units, gaps, repeat, spans, and named areas.</a:t>
            </a:r>
            <a:endParaRPr lang="en-US" sz="1400" dirty="0"/>
          </a:p>
        </p:txBody>
      </p:sp>
      <p:sp>
        <p:nvSpPr>
          <p:cNvPr id="19" name="Shape 15"/>
          <p:cNvSpPr/>
          <p:nvPr/>
        </p:nvSpPr>
        <p:spPr>
          <a:xfrm>
            <a:off x="8284464" y="1965960"/>
            <a:ext cx="3611880" cy="3657600"/>
          </a:xfrm>
          <a:prstGeom prst="roundRect">
            <a:avLst>
              <a:gd name="adj" fmla="val 303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0" name="Shape 16"/>
          <p:cNvSpPr/>
          <p:nvPr/>
        </p:nvSpPr>
        <p:spPr>
          <a:xfrm>
            <a:off x="8604504" y="2331720"/>
            <a:ext cx="868680" cy="868680"/>
          </a:xfrm>
          <a:prstGeom prst="ellipse">
            <a:avLst/>
          </a:prstGeom>
          <a:solidFill>
            <a:srgbClr val="E5EEFF"/>
          </a:solidFill>
          <a:ln/>
        </p:spPr>
      </p:sp>
      <p:pic>
        <p:nvPicPr>
          <p:cNvPr id="21" name="Image 2" descr="preencoded.png">    </p:cNvPr>
          <p:cNvPicPr>
            <a:picLocks noChangeAspect="1"/>
          </p:cNvPicPr>
          <p:nvPr/>
        </p:nvPicPr>
        <p:blipFill>
          <a:blip r:embed="rId3"/>
          <a:stretch>
            <a:fillRect/>
          </a:stretch>
        </p:blipFill>
        <p:spPr>
          <a:xfrm>
            <a:off x="8830361" y="2557577"/>
            <a:ext cx="416966" cy="416966"/>
          </a:xfrm>
          <a:prstGeom prst="rect">
            <a:avLst/>
          </a:prstGeom>
        </p:spPr>
      </p:pic>
      <p:sp>
        <p:nvSpPr>
          <p:cNvPr id="22" name="Shape 17"/>
          <p:cNvSpPr/>
          <p:nvPr/>
        </p:nvSpPr>
        <p:spPr>
          <a:xfrm>
            <a:off x="11164824" y="2331720"/>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23" name="Text 18"/>
          <p:cNvSpPr/>
          <p:nvPr/>
        </p:nvSpPr>
        <p:spPr>
          <a:xfrm>
            <a:off x="11164824"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19"/>
          <p:cNvSpPr/>
          <p:nvPr/>
        </p:nvSpPr>
        <p:spPr>
          <a:xfrm>
            <a:off x="8604504" y="3429000"/>
            <a:ext cx="2971800" cy="822960"/>
          </a:xfrm>
          <a:prstGeom prst="rect">
            <a:avLst/>
          </a:prstGeom>
          <a:noFill/>
          <a:ln/>
        </p:spPr>
        <p:txBody>
          <a:bodyPr wrap="square" lIns="0" tIns="0" rIns="0" bIns="0" rtlCol="0" anchor="t"/>
          <a:lstStyle/>
          <a:p>
            <a:pPr algn="l" indent="0" marL="0">
              <a:buNone/>
            </a:pPr>
            <a:r>
              <a:rPr lang="en-US" sz="1900" b="1" dirty="0">
                <a:solidFill>
                  <a:srgbClr val="0F172A"/>
                </a:solidFill>
                <a:latin typeface="Calibri" pitchFamily="34" charset="0"/>
                <a:ea typeface="Calibri" pitchFamily="34" charset="-122"/>
                <a:cs typeface="Calibri" pitchFamily="34" charset="-120"/>
              </a:rPr>
              <a:t>Flexbox vs Grid</a:t>
            </a:r>
            <a:endParaRPr lang="en-US" sz="1900" dirty="0"/>
          </a:p>
        </p:txBody>
      </p:sp>
      <p:sp>
        <p:nvSpPr>
          <p:cNvPr id="25" name="Text 20"/>
          <p:cNvSpPr/>
          <p:nvPr/>
        </p:nvSpPr>
        <p:spPr>
          <a:xfrm>
            <a:off x="8604504" y="4206240"/>
            <a:ext cx="2971800" cy="1280160"/>
          </a:xfrm>
          <a:prstGeom prst="rect">
            <a:avLst/>
          </a:prstGeom>
          <a:noFill/>
          <a:ln/>
        </p:spPr>
        <p:txBody>
          <a:bodyPr wrap="square" lIns="0" tIns="0" rIns="0" bIns="0" rtlCol="0" anchor="t"/>
          <a:lstStyle/>
          <a:p>
            <a:pPr algn="l" indent="0" marL="0">
              <a:buNone/>
            </a:pPr>
            <a:r>
              <a:rPr lang="en-US" sz="1400" dirty="0">
                <a:solidFill>
                  <a:srgbClr val="64748B"/>
                </a:solidFill>
                <a:latin typeface="Calibri" pitchFamily="34" charset="0"/>
                <a:ea typeface="Calibri" pitchFamily="34" charset="-122"/>
                <a:cs typeface="Calibri" pitchFamily="34" charset="-120"/>
              </a:rPr>
              <a:t>One dimension against two, and how to pick the right one for the job.</a:t>
            </a:r>
            <a:endParaRPr lang="en-US" sz="1400" dirty="0"/>
          </a:p>
        </p:txBody>
      </p:sp>
      <p:sp>
        <p:nvSpPr>
          <p:cNvPr id="26" name="Shape 21"/>
          <p:cNvSpPr/>
          <p:nvPr/>
        </p:nvSpPr>
        <p:spPr>
          <a:xfrm>
            <a:off x="548640" y="5852160"/>
            <a:ext cx="11109960" cy="621792"/>
          </a:xfrm>
          <a:prstGeom prst="roundRect">
            <a:avLst>
              <a:gd name="adj" fmla="val 17647"/>
            </a:avLst>
          </a:prstGeom>
          <a:solidFill>
            <a:srgbClr val="E7FBEF"/>
          </a:solidFill>
          <a:ln/>
        </p:spPr>
      </p:sp>
      <p:sp>
        <p:nvSpPr>
          <p:cNvPr id="27" name="Shape 22"/>
          <p:cNvSpPr/>
          <p:nvPr/>
        </p:nvSpPr>
        <p:spPr>
          <a:xfrm>
            <a:off x="749808" y="6035040"/>
            <a:ext cx="256032" cy="256032"/>
          </a:xfrm>
          <a:prstGeom prst="ellipse">
            <a:avLst/>
          </a:prstGeom>
          <a:solidFill>
            <a:srgbClr val="22C55E"/>
          </a:solidFill>
          <a:ln/>
        </p:spPr>
      </p:sp>
      <p:sp>
        <p:nvSpPr>
          <p:cNvPr id="28" name="Text 23"/>
          <p:cNvSpPr/>
          <p:nvPr/>
        </p:nvSpPr>
        <p:spPr>
          <a:xfrm>
            <a:off x="1207008" y="5852160"/>
            <a:ext cx="10241280" cy="621792"/>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Keep practising Flexbox at flexboxfroggy.com. Grid builds directly on what you learned last class.</a:t>
            </a:r>
            <a:endParaRPr lang="en-US" sz="1400" dirty="0"/>
          </a:p>
        </p:txBody>
      </p:sp>
      <p:sp>
        <p:nvSpPr>
          <p:cNvPr id="29" name="Text 24"/>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01</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1</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What is Grid</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Rows and columns together, not one after the other.</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CONCEPT</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You already know what a grid is</a:t>
            </a:r>
            <a:endParaRPr lang="en-US" sz="3400" dirty="0"/>
          </a:p>
        </p:txBody>
      </p:sp>
      <p:sp>
        <p:nvSpPr>
          <p:cNvPr id="5" name="Shape 3"/>
          <p:cNvSpPr/>
          <p:nvPr/>
        </p:nvSpPr>
        <p:spPr>
          <a:xfrm>
            <a:off x="548640" y="1965960"/>
            <a:ext cx="5120640" cy="3977640"/>
          </a:xfrm>
          <a:prstGeom prst="roundRect">
            <a:avLst>
              <a:gd name="adj" fmla="val 275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Text 4"/>
          <p:cNvSpPr/>
          <p:nvPr/>
        </p:nvSpPr>
        <p:spPr>
          <a:xfrm>
            <a:off x="822960" y="2240280"/>
            <a:ext cx="4572000" cy="914400"/>
          </a:xfrm>
          <a:prstGeom prst="rect">
            <a:avLst/>
          </a:prstGeom>
          <a:noFill/>
          <a:ln/>
        </p:spPr>
        <p:txBody>
          <a:bodyPr wrap="square" lIns="0" tIns="0" rIns="0" bIns="0" rtlCol="0" anchor="t"/>
          <a:lstStyle/>
          <a:p>
            <a:pPr algn="l" indent="0" marL="0">
              <a:buNone/>
            </a:pPr>
            <a:r>
              <a:rPr lang="en-US" sz="1600" b="1" dirty="0">
                <a:solidFill>
                  <a:srgbClr val="0F172A"/>
                </a:solidFill>
                <a:latin typeface="Calibri" pitchFamily="34" charset="0"/>
                <a:ea typeface="Calibri" pitchFamily="34" charset="-122"/>
                <a:cs typeface="Calibri" pitchFamily="34" charset="-120"/>
              </a:rPr>
              <a:t>Think of the squared notebooks from school. Rows across, columns down, every cell the same size.</a:t>
            </a:r>
            <a:endParaRPr lang="en-US" sz="1600" dirty="0"/>
          </a:p>
        </p:txBody>
      </p:sp>
      <p:sp>
        <p:nvSpPr>
          <p:cNvPr id="7" name="Text 5"/>
          <p:cNvSpPr/>
          <p:nvPr/>
        </p:nvSpPr>
        <p:spPr>
          <a:xfrm>
            <a:off x="822960" y="3200400"/>
            <a:ext cx="4572000" cy="1371600"/>
          </a:xfrm>
          <a:prstGeom prst="rect">
            <a:avLst/>
          </a:prstGeom>
          <a:noFill/>
          <a:ln/>
        </p:spPr>
        <p:txBody>
          <a:bodyPr wrap="square" lIns="0" tIns="0" rIns="0" bIns="0" rtlCol="0" anchor="t"/>
          <a:lstStyle/>
          <a:p>
            <a:pPr algn="l" indent="0" marL="0">
              <a:buNone/>
            </a:pPr>
            <a:r>
              <a:rPr lang="en-US" sz="1450" dirty="0">
                <a:solidFill>
                  <a:srgbClr val="64748B"/>
                </a:solidFill>
                <a:latin typeface="Calibri" pitchFamily="34" charset="0"/>
                <a:ea typeface="Calibri" pitchFamily="34" charset="-122"/>
                <a:cs typeface="Calibri" pitchFamily="34" charset="-120"/>
              </a:rPr>
              <a:t>CSS Grid is a layout model that builds exactly that structure on a page. You define the rows and the columns, and elements drop into the cells.</a:t>
            </a:r>
            <a:endParaRPr lang="en-US" sz="1450" dirty="0"/>
          </a:p>
        </p:txBody>
      </p:sp>
      <p:sp>
        <p:nvSpPr>
          <p:cNvPr id="8" name="Shape 6"/>
          <p:cNvSpPr/>
          <p:nvPr/>
        </p:nvSpPr>
        <p:spPr>
          <a:xfrm>
            <a:off x="822960" y="4572000"/>
            <a:ext cx="4572000" cy="1097280"/>
          </a:xfrm>
          <a:prstGeom prst="roundRect">
            <a:avLst>
              <a:gd name="adj" fmla="val 10000"/>
            </a:avLst>
          </a:prstGeom>
          <a:solidFill>
            <a:srgbClr val="EEF2FF"/>
          </a:solidFill>
          <a:ln/>
        </p:spPr>
      </p:sp>
      <p:sp>
        <p:nvSpPr>
          <p:cNvPr id="9" name="Shape 7"/>
          <p:cNvSpPr/>
          <p:nvPr/>
        </p:nvSpPr>
        <p:spPr>
          <a:xfrm>
            <a:off x="1024128" y="4992624"/>
            <a:ext cx="256032" cy="256032"/>
          </a:xfrm>
          <a:prstGeom prst="ellipse">
            <a:avLst/>
          </a:prstGeom>
          <a:solidFill>
            <a:srgbClr val="8B5CF6"/>
          </a:solidFill>
          <a:ln/>
        </p:spPr>
      </p:sp>
      <p:sp>
        <p:nvSpPr>
          <p:cNvPr id="10" name="Text 8"/>
          <p:cNvSpPr/>
          <p:nvPr/>
        </p:nvSpPr>
        <p:spPr>
          <a:xfrm>
            <a:off x="1481328" y="4572000"/>
            <a:ext cx="3703320" cy="1097280"/>
          </a:xfrm>
          <a:prstGeom prst="rect">
            <a:avLst/>
          </a:prstGeom>
          <a:noFill/>
          <a:ln/>
        </p:spPr>
        <p:txBody>
          <a:bodyPr wrap="square" lIns="0" tIns="0" rIns="0" bIns="0" rtlCol="0" anchor="ctr"/>
          <a:lstStyle/>
          <a:p>
            <a:pPr algn="l" indent="0" marL="0">
              <a:buNone/>
            </a:pPr>
            <a:r>
              <a:rPr lang="en-US" sz="1400" dirty="0">
                <a:solidFill>
                  <a:srgbClr val="3B2E7A"/>
                </a:solidFill>
                <a:latin typeface="Calibri" pitchFamily="34" charset="0"/>
                <a:ea typeface="Calibri" pitchFamily="34" charset="-122"/>
                <a:cs typeface="Calibri" pitchFamily="34" charset="-120"/>
              </a:rPr>
              <a:t>Reach for Grid when the layout is complex enough that a single line will not describe it.</a:t>
            </a:r>
            <a:endParaRPr lang="en-US" sz="1400" dirty="0"/>
          </a:p>
        </p:txBody>
      </p:sp>
      <p:sp>
        <p:nvSpPr>
          <p:cNvPr id="11" name="Text 9"/>
          <p:cNvSpPr/>
          <p:nvPr/>
        </p:nvSpPr>
        <p:spPr>
          <a:xfrm>
            <a:off x="5943600" y="1965960"/>
            <a:ext cx="2743200" cy="274320"/>
          </a:xfrm>
          <a:prstGeom prst="rect">
            <a:avLst/>
          </a:prstGeom>
          <a:noFill/>
          <a:ln/>
        </p:spPr>
        <p:txBody>
          <a:bodyPr wrap="square" lIns="0" tIns="0" rIns="0" bIns="0" rtlCol="0" anchor="ctr"/>
          <a:lstStyle/>
          <a:p>
            <a:pPr algn="l" indent="0" marL="0">
              <a:buNone/>
            </a:pPr>
            <a:r>
              <a:rPr lang="en-US" sz="1150" b="1" spc="100" kern="0" dirty="0">
                <a:solidFill>
                  <a:srgbClr val="64748B"/>
                </a:solidFill>
                <a:latin typeface="Calibri" pitchFamily="34" charset="0"/>
                <a:ea typeface="Calibri" pitchFamily="34" charset="-122"/>
                <a:cs typeface="Calibri" pitchFamily="34" charset="-120"/>
              </a:rPr>
              <a:t>FLEXBOX  -  one dimension</a:t>
            </a:r>
            <a:endParaRPr lang="en-US" sz="1150" dirty="0"/>
          </a:p>
        </p:txBody>
      </p:sp>
      <p:sp>
        <p:nvSpPr>
          <p:cNvPr id="12" name="Shape 10"/>
          <p:cNvSpPr/>
          <p:nvPr/>
        </p:nvSpPr>
        <p:spPr>
          <a:xfrm>
            <a:off x="5943600" y="2331720"/>
            <a:ext cx="2697480" cy="1417320"/>
          </a:xfrm>
          <a:prstGeom prst="roundRect">
            <a:avLst>
              <a:gd name="adj" fmla="val 5161"/>
            </a:avLst>
          </a:prstGeom>
          <a:solidFill>
            <a:srgbClr val="F1F5F9"/>
          </a:solidFill>
          <a:ln/>
        </p:spPr>
      </p:sp>
      <p:sp>
        <p:nvSpPr>
          <p:cNvPr id="13" name="Shape 11"/>
          <p:cNvSpPr/>
          <p:nvPr/>
        </p:nvSpPr>
        <p:spPr>
          <a:xfrm>
            <a:off x="6053328" y="2756916"/>
            <a:ext cx="537210" cy="566928"/>
          </a:xfrm>
          <a:prstGeom prst="roundRect">
            <a:avLst>
              <a:gd name="adj" fmla="val 8511"/>
            </a:avLst>
          </a:prstGeom>
          <a:solidFill>
            <a:srgbClr val="64748B"/>
          </a:solidFill>
          <a:ln/>
        </p:spPr>
      </p:sp>
      <p:sp>
        <p:nvSpPr>
          <p:cNvPr id="14" name="Text 12"/>
          <p:cNvSpPr/>
          <p:nvPr/>
        </p:nvSpPr>
        <p:spPr>
          <a:xfrm>
            <a:off x="6053328" y="2756916"/>
            <a:ext cx="53721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5" name="Shape 13"/>
          <p:cNvSpPr/>
          <p:nvPr/>
        </p:nvSpPr>
        <p:spPr>
          <a:xfrm>
            <a:off x="6700266" y="2756916"/>
            <a:ext cx="537210" cy="566928"/>
          </a:xfrm>
          <a:prstGeom prst="roundRect">
            <a:avLst>
              <a:gd name="adj" fmla="val 8511"/>
            </a:avLst>
          </a:prstGeom>
          <a:solidFill>
            <a:srgbClr val="64748B"/>
          </a:solidFill>
          <a:ln/>
        </p:spPr>
      </p:sp>
      <p:sp>
        <p:nvSpPr>
          <p:cNvPr id="16" name="Text 14"/>
          <p:cNvSpPr/>
          <p:nvPr/>
        </p:nvSpPr>
        <p:spPr>
          <a:xfrm>
            <a:off x="6700266" y="2756916"/>
            <a:ext cx="53721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Shape 15"/>
          <p:cNvSpPr/>
          <p:nvPr/>
        </p:nvSpPr>
        <p:spPr>
          <a:xfrm>
            <a:off x="7347204" y="2756916"/>
            <a:ext cx="537210" cy="566928"/>
          </a:xfrm>
          <a:prstGeom prst="roundRect">
            <a:avLst>
              <a:gd name="adj" fmla="val 8511"/>
            </a:avLst>
          </a:prstGeom>
          <a:solidFill>
            <a:srgbClr val="64748B"/>
          </a:solidFill>
          <a:ln/>
        </p:spPr>
      </p:sp>
      <p:sp>
        <p:nvSpPr>
          <p:cNvPr id="18" name="Text 16"/>
          <p:cNvSpPr/>
          <p:nvPr/>
        </p:nvSpPr>
        <p:spPr>
          <a:xfrm>
            <a:off x="7347204" y="2756916"/>
            <a:ext cx="53721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Shape 17"/>
          <p:cNvSpPr/>
          <p:nvPr/>
        </p:nvSpPr>
        <p:spPr>
          <a:xfrm>
            <a:off x="7994142" y="2756916"/>
            <a:ext cx="537210" cy="566928"/>
          </a:xfrm>
          <a:prstGeom prst="roundRect">
            <a:avLst>
              <a:gd name="adj" fmla="val 8511"/>
            </a:avLst>
          </a:prstGeom>
          <a:solidFill>
            <a:srgbClr val="64748B"/>
          </a:solidFill>
          <a:ln/>
        </p:spPr>
      </p:sp>
      <p:sp>
        <p:nvSpPr>
          <p:cNvPr id="20" name="Text 18"/>
          <p:cNvSpPr/>
          <p:nvPr/>
        </p:nvSpPr>
        <p:spPr>
          <a:xfrm>
            <a:off x="7994142" y="2756916"/>
            <a:ext cx="53721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p:nvPr/>
        </p:nvSpPr>
        <p:spPr>
          <a:xfrm>
            <a:off x="5943600" y="3840480"/>
            <a:ext cx="2697480" cy="274320"/>
          </a:xfrm>
          <a:prstGeom prst="rect">
            <a:avLst/>
          </a:prstGeom>
          <a:noFill/>
          <a:ln/>
        </p:spPr>
        <p:txBody>
          <a:bodyPr wrap="square" lIns="0" tIns="0" rIns="0" bIns="0" rtlCol="0" anchor="ctr"/>
          <a:lstStyle/>
          <a:p>
            <a:pPr algn="ctr" indent="0" marL="0">
              <a:buNone/>
            </a:pPr>
            <a:r>
              <a:rPr lang="en-US" sz="1150" i="1" dirty="0">
                <a:solidFill>
                  <a:srgbClr val="64748B"/>
                </a:solidFill>
                <a:latin typeface="Calibri" pitchFamily="34" charset="0"/>
                <a:ea typeface="Calibri" pitchFamily="34" charset="-122"/>
                <a:cs typeface="Calibri" pitchFamily="34" charset="-120"/>
              </a:rPr>
              <a:t>a line of items</a:t>
            </a:r>
            <a:endParaRPr lang="en-US" sz="1150" dirty="0"/>
          </a:p>
        </p:txBody>
      </p:sp>
      <p:sp>
        <p:nvSpPr>
          <p:cNvPr id="22" name="Text 20"/>
          <p:cNvSpPr/>
          <p:nvPr/>
        </p:nvSpPr>
        <p:spPr>
          <a:xfrm>
            <a:off x="8961120" y="1965960"/>
            <a:ext cx="2743200" cy="274320"/>
          </a:xfrm>
          <a:prstGeom prst="rect">
            <a:avLst/>
          </a:prstGeom>
          <a:noFill/>
          <a:ln/>
        </p:spPr>
        <p:txBody>
          <a:bodyPr wrap="square" lIns="0" tIns="0" rIns="0" bIns="0" rtlCol="0" anchor="ctr"/>
          <a:lstStyle/>
          <a:p>
            <a:pPr algn="l" indent="0" marL="0">
              <a:buNone/>
            </a:pPr>
            <a:r>
              <a:rPr lang="en-US" sz="1150" b="1" spc="100" kern="0" dirty="0">
                <a:solidFill>
                  <a:srgbClr val="2563EB"/>
                </a:solidFill>
                <a:latin typeface="Calibri" pitchFamily="34" charset="0"/>
                <a:ea typeface="Calibri" pitchFamily="34" charset="-122"/>
                <a:cs typeface="Calibri" pitchFamily="34" charset="-120"/>
              </a:rPr>
              <a:t>GRID  -  two dimensions</a:t>
            </a:r>
            <a:endParaRPr lang="en-US" sz="1150" dirty="0"/>
          </a:p>
        </p:txBody>
      </p:sp>
      <p:sp>
        <p:nvSpPr>
          <p:cNvPr id="23" name="Shape 21"/>
          <p:cNvSpPr/>
          <p:nvPr/>
        </p:nvSpPr>
        <p:spPr>
          <a:xfrm>
            <a:off x="8961120" y="2331720"/>
            <a:ext cx="2697480" cy="1417320"/>
          </a:xfrm>
          <a:prstGeom prst="roundRect">
            <a:avLst>
              <a:gd name="adj" fmla="val 5161"/>
            </a:avLst>
          </a:prstGeom>
          <a:solidFill>
            <a:srgbClr val="E5EEFF"/>
          </a:solidFill>
          <a:ln/>
        </p:spPr>
      </p:sp>
      <p:sp>
        <p:nvSpPr>
          <p:cNvPr id="24" name="Shape 22"/>
          <p:cNvSpPr/>
          <p:nvPr/>
        </p:nvSpPr>
        <p:spPr>
          <a:xfrm>
            <a:off x="9052560" y="2423160"/>
            <a:ext cx="783336" cy="576072"/>
          </a:xfrm>
          <a:prstGeom prst="roundRect">
            <a:avLst>
              <a:gd name="adj" fmla="val 7937"/>
            </a:avLst>
          </a:prstGeom>
          <a:solidFill>
            <a:srgbClr val="2563EB"/>
          </a:solidFill>
          <a:ln/>
        </p:spPr>
      </p:sp>
      <p:sp>
        <p:nvSpPr>
          <p:cNvPr id="25" name="Text 23"/>
          <p:cNvSpPr/>
          <p:nvPr/>
        </p:nvSpPr>
        <p:spPr>
          <a:xfrm>
            <a:off x="9052560" y="2423160"/>
            <a:ext cx="783336" cy="5760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6" name="Shape 24"/>
          <p:cNvSpPr/>
          <p:nvPr/>
        </p:nvSpPr>
        <p:spPr>
          <a:xfrm>
            <a:off x="9918192" y="2423160"/>
            <a:ext cx="783336" cy="576072"/>
          </a:xfrm>
          <a:prstGeom prst="roundRect">
            <a:avLst>
              <a:gd name="adj" fmla="val 7937"/>
            </a:avLst>
          </a:prstGeom>
          <a:solidFill>
            <a:srgbClr val="2563EB"/>
          </a:solidFill>
          <a:ln/>
        </p:spPr>
      </p:sp>
      <p:sp>
        <p:nvSpPr>
          <p:cNvPr id="27" name="Text 25"/>
          <p:cNvSpPr/>
          <p:nvPr/>
        </p:nvSpPr>
        <p:spPr>
          <a:xfrm>
            <a:off x="9918192" y="2423160"/>
            <a:ext cx="783336" cy="5760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8" name="Shape 26"/>
          <p:cNvSpPr/>
          <p:nvPr/>
        </p:nvSpPr>
        <p:spPr>
          <a:xfrm>
            <a:off x="10783824" y="2423160"/>
            <a:ext cx="783336" cy="576072"/>
          </a:xfrm>
          <a:prstGeom prst="roundRect">
            <a:avLst>
              <a:gd name="adj" fmla="val 7937"/>
            </a:avLst>
          </a:prstGeom>
          <a:solidFill>
            <a:srgbClr val="2563EB"/>
          </a:solidFill>
          <a:ln/>
        </p:spPr>
      </p:sp>
      <p:sp>
        <p:nvSpPr>
          <p:cNvPr id="29" name="Text 27"/>
          <p:cNvSpPr/>
          <p:nvPr/>
        </p:nvSpPr>
        <p:spPr>
          <a:xfrm>
            <a:off x="10783824" y="2423160"/>
            <a:ext cx="783336" cy="5760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Shape 28"/>
          <p:cNvSpPr/>
          <p:nvPr/>
        </p:nvSpPr>
        <p:spPr>
          <a:xfrm>
            <a:off x="9052560" y="3081528"/>
            <a:ext cx="783336" cy="576072"/>
          </a:xfrm>
          <a:prstGeom prst="roundRect">
            <a:avLst>
              <a:gd name="adj" fmla="val 7937"/>
            </a:avLst>
          </a:prstGeom>
          <a:solidFill>
            <a:srgbClr val="2563EB"/>
          </a:solidFill>
          <a:ln/>
        </p:spPr>
      </p:sp>
      <p:sp>
        <p:nvSpPr>
          <p:cNvPr id="31" name="Text 29"/>
          <p:cNvSpPr/>
          <p:nvPr/>
        </p:nvSpPr>
        <p:spPr>
          <a:xfrm>
            <a:off x="9052560" y="3081528"/>
            <a:ext cx="783336" cy="5760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Shape 30"/>
          <p:cNvSpPr/>
          <p:nvPr/>
        </p:nvSpPr>
        <p:spPr>
          <a:xfrm>
            <a:off x="9918192" y="3081528"/>
            <a:ext cx="783336" cy="576072"/>
          </a:xfrm>
          <a:prstGeom prst="roundRect">
            <a:avLst>
              <a:gd name="adj" fmla="val 7937"/>
            </a:avLst>
          </a:prstGeom>
          <a:solidFill>
            <a:srgbClr val="2563EB"/>
          </a:solidFill>
          <a:ln/>
        </p:spPr>
      </p:sp>
      <p:sp>
        <p:nvSpPr>
          <p:cNvPr id="33" name="Text 31"/>
          <p:cNvSpPr/>
          <p:nvPr/>
        </p:nvSpPr>
        <p:spPr>
          <a:xfrm>
            <a:off x="9918192" y="3081528"/>
            <a:ext cx="783336" cy="5760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4" name="Shape 32"/>
          <p:cNvSpPr/>
          <p:nvPr/>
        </p:nvSpPr>
        <p:spPr>
          <a:xfrm>
            <a:off x="10783824" y="3081528"/>
            <a:ext cx="783336" cy="576072"/>
          </a:xfrm>
          <a:prstGeom prst="roundRect">
            <a:avLst>
              <a:gd name="adj" fmla="val 7937"/>
            </a:avLst>
          </a:prstGeom>
          <a:solidFill>
            <a:srgbClr val="2563EB"/>
          </a:solidFill>
          <a:ln/>
        </p:spPr>
      </p:sp>
      <p:sp>
        <p:nvSpPr>
          <p:cNvPr id="35" name="Text 33"/>
          <p:cNvSpPr/>
          <p:nvPr/>
        </p:nvSpPr>
        <p:spPr>
          <a:xfrm>
            <a:off x="10783824" y="3081528"/>
            <a:ext cx="783336" cy="5760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6" name="Text 34"/>
          <p:cNvSpPr/>
          <p:nvPr/>
        </p:nvSpPr>
        <p:spPr>
          <a:xfrm>
            <a:off x="8961120" y="3840480"/>
            <a:ext cx="2697480" cy="274320"/>
          </a:xfrm>
          <a:prstGeom prst="rect">
            <a:avLst/>
          </a:prstGeom>
          <a:noFill/>
          <a:ln/>
        </p:spPr>
        <p:txBody>
          <a:bodyPr wrap="square" lIns="0" tIns="0" rIns="0" bIns="0" rtlCol="0" anchor="ctr"/>
          <a:lstStyle/>
          <a:p>
            <a:pPr algn="ctr" indent="0" marL="0">
              <a:buNone/>
            </a:pPr>
            <a:r>
              <a:rPr lang="en-US" sz="1150" i="1" dirty="0">
                <a:solidFill>
                  <a:srgbClr val="2563EB"/>
                </a:solidFill>
                <a:latin typeface="Calibri" pitchFamily="34" charset="0"/>
                <a:ea typeface="Calibri" pitchFamily="34" charset="-122"/>
                <a:cs typeface="Calibri" pitchFamily="34" charset="-120"/>
              </a:rPr>
              <a:t>rows and columns at once</a:t>
            </a:r>
            <a:endParaRPr lang="en-US" sz="1150" dirty="0"/>
          </a:p>
        </p:txBody>
      </p:sp>
      <p:sp>
        <p:nvSpPr>
          <p:cNvPr id="37" name="Shape 35"/>
          <p:cNvSpPr/>
          <p:nvPr/>
        </p:nvSpPr>
        <p:spPr>
          <a:xfrm>
            <a:off x="5943600" y="4343400"/>
            <a:ext cx="5715000" cy="1600200"/>
          </a:xfrm>
          <a:prstGeom prst="roundRect">
            <a:avLst>
              <a:gd name="adj" fmla="val 6857"/>
            </a:avLst>
          </a:prstGeom>
          <a:solidFill>
            <a:srgbClr val="111B34"/>
          </a:solidFill>
          <a:ln/>
          <a:effectLst>
            <a:outerShdw sx="100000" sy="100000" kx="0" ky="0" algn="bl" rotWithShape="0" blurRad="101600" dist="38100" dir="5400000">
              <a:srgbClr val="0B1220">
                <a:alpha val="18000"/>
              </a:srgbClr>
            </a:outerShdw>
          </a:effectLst>
        </p:spPr>
      </p:sp>
      <p:sp>
        <p:nvSpPr>
          <p:cNvPr id="38" name="Text 36"/>
          <p:cNvSpPr/>
          <p:nvPr/>
        </p:nvSpPr>
        <p:spPr>
          <a:xfrm>
            <a:off x="6217920" y="4343400"/>
            <a:ext cx="5166360" cy="1600200"/>
          </a:xfrm>
          <a:prstGeom prst="rect">
            <a:avLst/>
          </a:prstGeom>
          <a:noFill/>
          <a:ln/>
        </p:spPr>
        <p:txBody>
          <a:bodyPr wrap="square" lIns="0" tIns="0" rIns="0" bIns="0" rtlCol="0" anchor="ctr"/>
          <a:lstStyle/>
          <a:p>
            <a:pPr algn="l" indent="0" marL="0">
              <a:buNone/>
            </a:pPr>
            <a:r>
              <a:rPr lang="en-US" sz="1400" dirty="0">
                <a:solidFill>
                  <a:srgbClr val="C7DBFF"/>
                </a:solidFill>
                <a:latin typeface="Calibri" pitchFamily="34" charset="0"/>
                <a:ea typeface="Calibri" pitchFamily="34" charset="-122"/>
                <a:cs typeface="Calibri" pitchFamily="34" charset="-120"/>
              </a:rPr>
              <a:t>Flexbox lays items along one axis and lets the other fall where it may. Grid controls both at the same time, which is why it handles page-level layout so much better.</a:t>
            </a:r>
            <a:endParaRPr lang="en-US" sz="1400" dirty="0"/>
          </a:p>
        </p:txBody>
      </p:sp>
      <p:sp>
        <p:nvSpPr>
          <p:cNvPr id="39" name="Text 37"/>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736092" cy="310896"/>
          </a:xfrm>
          <a:prstGeom prst="roundRect">
            <a:avLst>
              <a:gd name="adj" fmla="val 50000"/>
            </a:avLst>
          </a:prstGeom>
          <a:solidFill>
            <a:srgbClr val="2563EB"/>
          </a:solidFill>
          <a:ln/>
        </p:spPr>
      </p:sp>
      <p:sp>
        <p:nvSpPr>
          <p:cNvPr id="3" name="Text 1"/>
          <p:cNvSpPr/>
          <p:nvPr/>
        </p:nvSpPr>
        <p:spPr>
          <a:xfrm>
            <a:off x="548640" y="457200"/>
            <a:ext cx="736092"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SETUP</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Our nine-item playground</a:t>
            </a:r>
            <a:endParaRPr lang="en-US" sz="3400" dirty="0"/>
          </a:p>
        </p:txBody>
      </p:sp>
      <p:sp>
        <p:nvSpPr>
          <p:cNvPr id="5" name="Shape 3"/>
          <p:cNvSpPr/>
          <p:nvPr/>
        </p:nvSpPr>
        <p:spPr>
          <a:xfrm>
            <a:off x="548640" y="1965960"/>
            <a:ext cx="6035040" cy="4023360"/>
          </a:xfrm>
          <a:prstGeom prst="roundRect">
            <a:avLst>
              <a:gd name="adj" fmla="val 2727"/>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85416"/>
            <a:ext cx="128016" cy="128016"/>
          </a:xfrm>
          <a:prstGeom prst="ellipse">
            <a:avLst/>
          </a:prstGeom>
          <a:solidFill>
            <a:srgbClr val="FF5F56"/>
          </a:solidFill>
          <a:ln/>
        </p:spPr>
      </p:sp>
      <p:sp>
        <p:nvSpPr>
          <p:cNvPr id="7" name="Shape 5"/>
          <p:cNvSpPr/>
          <p:nvPr/>
        </p:nvSpPr>
        <p:spPr>
          <a:xfrm>
            <a:off x="1042416" y="2185416"/>
            <a:ext cx="128016" cy="128016"/>
          </a:xfrm>
          <a:prstGeom prst="ellipse">
            <a:avLst/>
          </a:prstGeom>
          <a:solidFill>
            <a:srgbClr val="FFBD2E"/>
          </a:solidFill>
          <a:ln/>
        </p:spPr>
      </p:sp>
      <p:sp>
        <p:nvSpPr>
          <p:cNvPr id="8" name="Shape 6"/>
          <p:cNvSpPr/>
          <p:nvPr/>
        </p:nvSpPr>
        <p:spPr>
          <a:xfrm>
            <a:off x="1280160" y="2185416"/>
            <a:ext cx="128016" cy="128016"/>
          </a:xfrm>
          <a:prstGeom prst="ellipse">
            <a:avLst/>
          </a:prstGeom>
          <a:solidFill>
            <a:srgbClr val="27C93F"/>
          </a:solidFill>
          <a:ln/>
        </p:spPr>
      </p:sp>
      <p:sp>
        <p:nvSpPr>
          <p:cNvPr id="9" name="Text 7"/>
          <p:cNvSpPr/>
          <p:nvPr/>
        </p:nvSpPr>
        <p:spPr>
          <a:xfrm>
            <a:off x="1645920" y="2075688"/>
            <a:ext cx="475488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index.html</a:t>
            </a:r>
            <a:endParaRPr lang="en-US" sz="1100" dirty="0"/>
          </a:p>
        </p:txBody>
      </p:sp>
      <p:sp>
        <p:nvSpPr>
          <p:cNvPr id="10" name="Text 8"/>
          <p:cNvSpPr/>
          <p:nvPr/>
        </p:nvSpPr>
        <p:spPr>
          <a:xfrm>
            <a:off x="804672" y="2496312"/>
            <a:ext cx="5522976" cy="3310128"/>
          </a:xfrm>
          <a:prstGeom prst="rect">
            <a:avLst/>
          </a:prstGeom>
          <a:noFill/>
          <a:ln/>
        </p:spPr>
        <p:txBody>
          <a:bodyPr wrap="square" lIns="0" tIns="0" rIns="0" bIns="0" rtlCol="0" anchor="t"/>
          <a:lstStyle/>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9CC5FF"/>
                </a:solidFill>
                <a:latin typeface="Courier New" pitchFamily="34" charset="0"/>
                <a:ea typeface="Courier New" pitchFamily="34" charset="-122"/>
                <a:cs typeface="Courier New" pitchFamily="34" charset="-120"/>
              </a:rPr>
              <a:t>padding</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0</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9CC5FF"/>
                </a:solidFill>
                <a:latin typeface="Courier New" pitchFamily="34" charset="0"/>
                <a:ea typeface="Courier New" pitchFamily="34" charset="-122"/>
                <a:cs typeface="Courier New" pitchFamily="34" charset="-120"/>
              </a:rPr>
              <a:t>margin</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0</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container</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86EFAC"/>
                </a:solidFill>
                <a:latin typeface="Courier New" pitchFamily="34" charset="0"/>
                <a:ea typeface="Courier New" pitchFamily="34" charset="-122"/>
                <a:cs typeface="Courier New" pitchFamily="34" charset="-120"/>
              </a:rPr>
              <a:t>width</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1200px</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9CC5FF"/>
                </a:solidFill>
                <a:latin typeface="Courier New" pitchFamily="34" charset="0"/>
                <a:ea typeface="Courier New" pitchFamily="34" charset="-122"/>
                <a:cs typeface="Courier New" pitchFamily="34" charset="-120"/>
              </a:rPr>
              <a:t>margin</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100px</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86EFAC"/>
                </a:solidFill>
                <a:latin typeface="Courier New" pitchFamily="34" charset="0"/>
                <a:ea typeface="Courier New" pitchFamily="34" charset="-122"/>
                <a:cs typeface="Courier New" pitchFamily="34" charset="-120"/>
              </a:rPr>
              <a:t>auto</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9CC5FF"/>
                </a:solidFill>
                <a:latin typeface="Courier New" pitchFamily="34" charset="0"/>
                <a:ea typeface="Courier New" pitchFamily="34" charset="-122"/>
                <a:cs typeface="Courier New" pitchFamily="34" charset="-120"/>
              </a:rPr>
              <a:t>padding</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10px</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9CC5FF"/>
                </a:solidFill>
                <a:latin typeface="Courier New" pitchFamily="34" charset="0"/>
                <a:ea typeface="Courier New" pitchFamily="34" charset="-122"/>
                <a:cs typeface="Courier New" pitchFamily="34" charset="-120"/>
              </a:rPr>
              <a:t>display</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86EFAC"/>
                </a:solidFill>
                <a:latin typeface="Courier New" pitchFamily="34" charset="0"/>
                <a:ea typeface="Courier New" pitchFamily="34" charset="-122"/>
                <a:cs typeface="Courier New" pitchFamily="34" charset="-120"/>
              </a:rPr>
              <a:t>grid</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item</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9CC5FF"/>
                </a:solidFill>
                <a:latin typeface="Courier New" pitchFamily="34" charset="0"/>
                <a:ea typeface="Courier New" pitchFamily="34" charset="-122"/>
                <a:cs typeface="Courier New" pitchFamily="34" charset="-120"/>
              </a:rPr>
              <a:t>background-color</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dodgerblue</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9CC5FF"/>
                </a:solidFill>
                <a:latin typeface="Courier New" pitchFamily="34" charset="0"/>
                <a:ea typeface="Courier New" pitchFamily="34" charset="-122"/>
                <a:cs typeface="Courier New" pitchFamily="34" charset="-120"/>
              </a:rPr>
              <a:t>color</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white</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9CC5FF"/>
                </a:solidFill>
                <a:latin typeface="Courier New" pitchFamily="34" charset="0"/>
                <a:ea typeface="Courier New" pitchFamily="34" charset="-122"/>
                <a:cs typeface="Courier New" pitchFamily="34" charset="-120"/>
              </a:rPr>
              <a:t>padding</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20px</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9CC5FF"/>
                </a:solidFill>
                <a:latin typeface="Courier New" pitchFamily="34" charset="0"/>
                <a:ea typeface="Courier New" pitchFamily="34" charset="-122"/>
                <a:cs typeface="Courier New" pitchFamily="34" charset="-120"/>
              </a:rPr>
              <a:t>border</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1px</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86EFAC"/>
                </a:solidFill>
                <a:latin typeface="Courier New" pitchFamily="34" charset="0"/>
                <a:ea typeface="Courier New" pitchFamily="34" charset="-122"/>
                <a:cs typeface="Courier New" pitchFamily="34" charset="-120"/>
              </a:rPr>
              <a:t>solid</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lightblue</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7DD3FC"/>
                </a:solidFill>
                <a:latin typeface="Courier New" pitchFamily="34" charset="0"/>
                <a:ea typeface="Courier New" pitchFamily="34" charset="-122"/>
                <a:cs typeface="Courier New" pitchFamily="34" charset="-120"/>
              </a:rPr>
              <a:t>&lt;div</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class</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FDBA74"/>
                </a:solidFill>
                <a:latin typeface="Courier New" pitchFamily="34" charset="0"/>
                <a:ea typeface="Courier New" pitchFamily="34" charset="-122"/>
                <a:cs typeface="Courier New" pitchFamily="34" charset="-120"/>
              </a:rPr>
              <a:t>"container"</a:t>
            </a:r>
            <a:pPr algn="l" indent="0" marL="0">
              <a:lnSpc>
                <a:spcPct val="108000"/>
              </a:lnSpc>
              <a:buNone/>
            </a:pPr>
            <a:r>
              <a:rPr lang="en-US" sz="1150" dirty="0">
                <a:solidFill>
                  <a:srgbClr val="7DD3FC"/>
                </a:solidFill>
                <a:latin typeface="Courier New" pitchFamily="34" charset="0"/>
                <a:ea typeface="Courier New" pitchFamily="34" charset="-122"/>
                <a:cs typeface="Courier New" pitchFamily="34" charset="-120"/>
              </a:rPr>
              <a:t>&gt;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7DD3FC"/>
                </a:solidFill>
                <a:latin typeface="Courier New" pitchFamily="34" charset="0"/>
                <a:ea typeface="Courier New" pitchFamily="34" charset="-122"/>
                <a:cs typeface="Courier New" pitchFamily="34" charset="-120"/>
              </a:rPr>
              <a:t>&lt;div</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class</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FDBA74"/>
                </a:solidFill>
                <a:latin typeface="Courier New" pitchFamily="34" charset="0"/>
                <a:ea typeface="Courier New" pitchFamily="34" charset="-122"/>
                <a:cs typeface="Courier New" pitchFamily="34" charset="-120"/>
              </a:rPr>
              <a:t>"item"</a:t>
            </a:r>
            <a:pPr algn="l" indent="0" marL="0">
              <a:lnSpc>
                <a:spcPct val="108000"/>
              </a:lnSpc>
              <a:buNone/>
            </a:pPr>
            <a:r>
              <a:rPr lang="en-US" sz="1150" dirty="0">
                <a:solidFill>
                  <a:srgbClr val="7DD3FC"/>
                </a:solidFill>
                <a:latin typeface="Courier New" pitchFamily="34" charset="0"/>
                <a:ea typeface="Courier New" pitchFamily="34" charset="-122"/>
                <a:cs typeface="Courier New" pitchFamily="34" charset="-120"/>
              </a:rPr>
              <a:t>&gt;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Item</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150" dirty="0">
                <a:solidFill>
                  <a:srgbClr val="7DD3FC"/>
                </a:solidFill>
                <a:latin typeface="Courier New" pitchFamily="34" charset="0"/>
                <a:ea typeface="Courier New" pitchFamily="34" charset="-122"/>
                <a:cs typeface="Courier New" pitchFamily="34" charset="-120"/>
              </a:rPr>
              <a:t>&lt;/div</a:t>
            </a:r>
            <a:pPr algn="l" indent="0" marL="0">
              <a:lnSpc>
                <a:spcPct val="108000"/>
              </a:lnSpc>
              <a:buNone/>
            </a:pPr>
            <a:r>
              <a:rPr lang="en-US" sz="1150" dirty="0">
                <a:solidFill>
                  <a:srgbClr val="7DD3FC"/>
                </a:solidFill>
                <a:latin typeface="Courier New" pitchFamily="34" charset="0"/>
                <a:ea typeface="Courier New" pitchFamily="34" charset="-122"/>
                <a:cs typeface="Courier New" pitchFamily="34" charset="-120"/>
              </a:rPr>
              <a:t>&gt;</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nine</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of</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these</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7DD3FC"/>
                </a:solidFill>
                <a:latin typeface="Courier New" pitchFamily="34" charset="0"/>
                <a:ea typeface="Courier New" pitchFamily="34" charset="-122"/>
                <a:cs typeface="Courier New" pitchFamily="34" charset="-120"/>
              </a:rPr>
              <a:t>&lt;/div</a:t>
            </a:r>
            <a:pPr algn="l" indent="0" marL="0">
              <a:lnSpc>
                <a:spcPct val="108000"/>
              </a:lnSpc>
              <a:buNone/>
            </a:pPr>
            <a:r>
              <a:rPr lang="en-US" sz="1150" dirty="0">
                <a:solidFill>
                  <a:srgbClr val="7DD3FC"/>
                </a:solidFill>
                <a:latin typeface="Courier New" pitchFamily="34" charset="0"/>
                <a:ea typeface="Courier New" pitchFamily="34" charset="-122"/>
                <a:cs typeface="Courier New" pitchFamily="34" charset="-120"/>
              </a:rPr>
              <a:t>&gt;</a:t>
            </a:r>
            <a:endParaRPr lang="en-US" sz="1150" dirty="0"/>
          </a:p>
        </p:txBody>
      </p:sp>
      <p:sp>
        <p:nvSpPr>
          <p:cNvPr id="11" name="Shape 9"/>
          <p:cNvSpPr/>
          <p:nvPr/>
        </p:nvSpPr>
        <p:spPr>
          <a:xfrm>
            <a:off x="6858000" y="1965960"/>
            <a:ext cx="4800600" cy="4023360"/>
          </a:xfrm>
          <a:prstGeom prst="roundRect">
            <a:avLst>
              <a:gd name="adj" fmla="val 2273"/>
            </a:avLst>
          </a:prstGeom>
          <a:solidFill>
            <a:srgbClr val="E8EEF7"/>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2" name="Shape 10"/>
          <p:cNvSpPr/>
          <p:nvPr/>
        </p:nvSpPr>
        <p:spPr>
          <a:xfrm>
            <a:off x="7059168" y="2130552"/>
            <a:ext cx="109728" cy="109728"/>
          </a:xfrm>
          <a:prstGeom prst="ellipse">
            <a:avLst/>
          </a:prstGeom>
          <a:solidFill>
            <a:srgbClr val="FF5F56"/>
          </a:solidFill>
          <a:ln/>
        </p:spPr>
      </p:sp>
      <p:sp>
        <p:nvSpPr>
          <p:cNvPr id="13" name="Shape 11"/>
          <p:cNvSpPr/>
          <p:nvPr/>
        </p:nvSpPr>
        <p:spPr>
          <a:xfrm>
            <a:off x="7260336" y="2130552"/>
            <a:ext cx="109728" cy="109728"/>
          </a:xfrm>
          <a:prstGeom prst="ellipse">
            <a:avLst/>
          </a:prstGeom>
          <a:solidFill>
            <a:srgbClr val="FFBD2E"/>
          </a:solidFill>
          <a:ln/>
        </p:spPr>
      </p:sp>
      <p:sp>
        <p:nvSpPr>
          <p:cNvPr id="14" name="Shape 12"/>
          <p:cNvSpPr/>
          <p:nvPr/>
        </p:nvSpPr>
        <p:spPr>
          <a:xfrm>
            <a:off x="7461504" y="2130552"/>
            <a:ext cx="109728" cy="109728"/>
          </a:xfrm>
          <a:prstGeom prst="ellipse">
            <a:avLst/>
          </a:prstGeom>
          <a:solidFill>
            <a:srgbClr val="27C93F"/>
          </a:solidFill>
          <a:ln/>
        </p:spPr>
      </p:sp>
      <p:sp>
        <p:nvSpPr>
          <p:cNvPr id="15" name="Shape 13"/>
          <p:cNvSpPr/>
          <p:nvPr/>
        </p:nvSpPr>
        <p:spPr>
          <a:xfrm>
            <a:off x="7818120" y="2084832"/>
            <a:ext cx="3566160" cy="237744"/>
          </a:xfrm>
          <a:prstGeom prst="roundRect">
            <a:avLst>
              <a:gd name="adj" fmla="val 50000"/>
            </a:avLst>
          </a:prstGeom>
          <a:solidFill>
            <a:srgbClr val="FFFFFF"/>
          </a:solidFill>
          <a:ln w="12700">
            <a:solidFill>
              <a:srgbClr val="D5DEEC"/>
            </a:solidFill>
            <a:prstDash val="solid"/>
          </a:ln>
        </p:spPr>
      </p:sp>
      <p:sp>
        <p:nvSpPr>
          <p:cNvPr id="16" name="Text 14"/>
          <p:cNvSpPr/>
          <p:nvPr/>
        </p:nvSpPr>
        <p:spPr>
          <a:xfrm>
            <a:off x="7955280" y="2084832"/>
            <a:ext cx="3337560" cy="237744"/>
          </a:xfrm>
          <a:prstGeom prst="rect">
            <a:avLst/>
          </a:prstGeom>
          <a:noFill/>
          <a:ln/>
        </p:spPr>
        <p:txBody>
          <a:bodyPr wrap="square" lIns="0" tIns="0" rIns="0" bIns="0" rtlCol="0" anchor="ctr"/>
          <a:lstStyle/>
          <a:p>
            <a:pPr algn="l" indent="0" marL="0">
              <a:buNone/>
            </a:pPr>
            <a:r>
              <a:rPr lang="en-US" sz="900" dirty="0">
                <a:solidFill>
                  <a:srgbClr val="64748B"/>
                </a:solidFill>
                <a:latin typeface="Courier New" pitchFamily="34" charset="0"/>
                <a:ea typeface="Courier New" pitchFamily="34" charset="-122"/>
                <a:cs typeface="Courier New" pitchFamily="34" charset="-120"/>
              </a:rPr>
              <a:t>index.html</a:t>
            </a:r>
            <a:endParaRPr lang="en-US" sz="900" dirty="0"/>
          </a:p>
        </p:txBody>
      </p:sp>
      <p:sp>
        <p:nvSpPr>
          <p:cNvPr id="17" name="Shape 15"/>
          <p:cNvSpPr/>
          <p:nvPr/>
        </p:nvSpPr>
        <p:spPr>
          <a:xfrm>
            <a:off x="6967728" y="2423160"/>
            <a:ext cx="4581144" cy="3456432"/>
          </a:xfrm>
          <a:prstGeom prst="rect">
            <a:avLst/>
          </a:prstGeom>
          <a:solidFill>
            <a:srgbClr val="FFFFFF"/>
          </a:solidFill>
          <a:ln/>
        </p:spPr>
      </p:sp>
      <p:sp>
        <p:nvSpPr>
          <p:cNvPr id="18" name="Shape 16"/>
          <p:cNvSpPr/>
          <p:nvPr/>
        </p:nvSpPr>
        <p:spPr>
          <a:xfrm>
            <a:off x="7242048" y="2606040"/>
            <a:ext cx="4032504" cy="3090672"/>
          </a:xfrm>
          <a:prstGeom prst="rect">
            <a:avLst/>
          </a:prstGeom>
          <a:solidFill>
            <a:srgbClr val="FF6347"/>
          </a:solidFill>
          <a:ln w="15875">
            <a:solidFill>
              <a:srgbClr val="111111"/>
            </a:solidFill>
            <a:prstDash val="solid"/>
          </a:ln>
        </p:spPr>
      </p:sp>
      <p:sp>
        <p:nvSpPr>
          <p:cNvPr id="19" name="Shape 17"/>
          <p:cNvSpPr/>
          <p:nvPr/>
        </p:nvSpPr>
        <p:spPr>
          <a:xfrm>
            <a:off x="7351776" y="2715768"/>
            <a:ext cx="3813048" cy="278384"/>
          </a:xfrm>
          <a:prstGeom prst="roundRect">
            <a:avLst>
              <a:gd name="adj" fmla="val 16423"/>
            </a:avLst>
          </a:prstGeom>
          <a:solidFill>
            <a:srgbClr val="1E90FF"/>
          </a:solidFill>
          <a:ln/>
        </p:spPr>
      </p:sp>
      <p:sp>
        <p:nvSpPr>
          <p:cNvPr id="20" name="Text 18"/>
          <p:cNvSpPr/>
          <p:nvPr/>
        </p:nvSpPr>
        <p:spPr>
          <a:xfrm>
            <a:off x="7351776" y="2715768"/>
            <a:ext cx="3813048" cy="2783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Item 1</a:t>
            </a:r>
            <a:endParaRPr lang="en-US" sz="950" dirty="0"/>
          </a:p>
        </p:txBody>
      </p:sp>
      <p:sp>
        <p:nvSpPr>
          <p:cNvPr id="21" name="Shape 19"/>
          <p:cNvSpPr/>
          <p:nvPr/>
        </p:nvSpPr>
        <p:spPr>
          <a:xfrm>
            <a:off x="7351776" y="3039872"/>
            <a:ext cx="3813048" cy="278384"/>
          </a:xfrm>
          <a:prstGeom prst="roundRect">
            <a:avLst>
              <a:gd name="adj" fmla="val 16423"/>
            </a:avLst>
          </a:prstGeom>
          <a:solidFill>
            <a:srgbClr val="1E90FF"/>
          </a:solidFill>
          <a:ln/>
        </p:spPr>
      </p:sp>
      <p:sp>
        <p:nvSpPr>
          <p:cNvPr id="22" name="Text 20"/>
          <p:cNvSpPr/>
          <p:nvPr/>
        </p:nvSpPr>
        <p:spPr>
          <a:xfrm>
            <a:off x="7351776" y="3039872"/>
            <a:ext cx="3813048" cy="2783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Item 2</a:t>
            </a:r>
            <a:endParaRPr lang="en-US" sz="950" dirty="0"/>
          </a:p>
        </p:txBody>
      </p:sp>
      <p:sp>
        <p:nvSpPr>
          <p:cNvPr id="23" name="Shape 21"/>
          <p:cNvSpPr/>
          <p:nvPr/>
        </p:nvSpPr>
        <p:spPr>
          <a:xfrm>
            <a:off x="7351776" y="3363976"/>
            <a:ext cx="3813048" cy="278384"/>
          </a:xfrm>
          <a:prstGeom prst="roundRect">
            <a:avLst>
              <a:gd name="adj" fmla="val 16423"/>
            </a:avLst>
          </a:prstGeom>
          <a:solidFill>
            <a:srgbClr val="1E90FF"/>
          </a:solidFill>
          <a:ln/>
        </p:spPr>
      </p:sp>
      <p:sp>
        <p:nvSpPr>
          <p:cNvPr id="24" name="Text 22"/>
          <p:cNvSpPr/>
          <p:nvPr/>
        </p:nvSpPr>
        <p:spPr>
          <a:xfrm>
            <a:off x="7351776" y="3363976"/>
            <a:ext cx="3813048" cy="2783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Item 3</a:t>
            </a:r>
            <a:endParaRPr lang="en-US" sz="950" dirty="0"/>
          </a:p>
        </p:txBody>
      </p:sp>
      <p:sp>
        <p:nvSpPr>
          <p:cNvPr id="25" name="Shape 23"/>
          <p:cNvSpPr/>
          <p:nvPr/>
        </p:nvSpPr>
        <p:spPr>
          <a:xfrm>
            <a:off x="7351776" y="3688080"/>
            <a:ext cx="3813048" cy="278384"/>
          </a:xfrm>
          <a:prstGeom prst="roundRect">
            <a:avLst>
              <a:gd name="adj" fmla="val 16423"/>
            </a:avLst>
          </a:prstGeom>
          <a:solidFill>
            <a:srgbClr val="1E90FF"/>
          </a:solidFill>
          <a:ln/>
        </p:spPr>
      </p:sp>
      <p:sp>
        <p:nvSpPr>
          <p:cNvPr id="26" name="Text 24"/>
          <p:cNvSpPr/>
          <p:nvPr/>
        </p:nvSpPr>
        <p:spPr>
          <a:xfrm>
            <a:off x="7351776" y="3688080"/>
            <a:ext cx="3813048" cy="2783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Item 4</a:t>
            </a:r>
            <a:endParaRPr lang="en-US" sz="950" dirty="0"/>
          </a:p>
        </p:txBody>
      </p:sp>
      <p:sp>
        <p:nvSpPr>
          <p:cNvPr id="27" name="Shape 25"/>
          <p:cNvSpPr/>
          <p:nvPr/>
        </p:nvSpPr>
        <p:spPr>
          <a:xfrm>
            <a:off x="7351776" y="4012184"/>
            <a:ext cx="3813048" cy="278384"/>
          </a:xfrm>
          <a:prstGeom prst="roundRect">
            <a:avLst>
              <a:gd name="adj" fmla="val 16423"/>
            </a:avLst>
          </a:prstGeom>
          <a:solidFill>
            <a:srgbClr val="1E90FF"/>
          </a:solidFill>
          <a:ln/>
        </p:spPr>
      </p:sp>
      <p:sp>
        <p:nvSpPr>
          <p:cNvPr id="28" name="Text 26"/>
          <p:cNvSpPr/>
          <p:nvPr/>
        </p:nvSpPr>
        <p:spPr>
          <a:xfrm>
            <a:off x="7351776" y="4012184"/>
            <a:ext cx="3813048" cy="2783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Item 5</a:t>
            </a:r>
            <a:endParaRPr lang="en-US" sz="950" dirty="0"/>
          </a:p>
        </p:txBody>
      </p:sp>
      <p:sp>
        <p:nvSpPr>
          <p:cNvPr id="29" name="Shape 27"/>
          <p:cNvSpPr/>
          <p:nvPr/>
        </p:nvSpPr>
        <p:spPr>
          <a:xfrm>
            <a:off x="7351776" y="4336288"/>
            <a:ext cx="3813048" cy="278384"/>
          </a:xfrm>
          <a:prstGeom prst="roundRect">
            <a:avLst>
              <a:gd name="adj" fmla="val 16423"/>
            </a:avLst>
          </a:prstGeom>
          <a:solidFill>
            <a:srgbClr val="1E90FF"/>
          </a:solidFill>
          <a:ln/>
        </p:spPr>
      </p:sp>
      <p:sp>
        <p:nvSpPr>
          <p:cNvPr id="30" name="Text 28"/>
          <p:cNvSpPr/>
          <p:nvPr/>
        </p:nvSpPr>
        <p:spPr>
          <a:xfrm>
            <a:off x="7351776" y="4336288"/>
            <a:ext cx="3813048" cy="2783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Item 6</a:t>
            </a:r>
            <a:endParaRPr lang="en-US" sz="950" dirty="0"/>
          </a:p>
        </p:txBody>
      </p:sp>
      <p:sp>
        <p:nvSpPr>
          <p:cNvPr id="31" name="Shape 29"/>
          <p:cNvSpPr/>
          <p:nvPr/>
        </p:nvSpPr>
        <p:spPr>
          <a:xfrm>
            <a:off x="7351776" y="4660392"/>
            <a:ext cx="3813048" cy="278384"/>
          </a:xfrm>
          <a:prstGeom prst="roundRect">
            <a:avLst>
              <a:gd name="adj" fmla="val 16423"/>
            </a:avLst>
          </a:prstGeom>
          <a:solidFill>
            <a:srgbClr val="1E90FF"/>
          </a:solidFill>
          <a:ln/>
        </p:spPr>
      </p:sp>
      <p:sp>
        <p:nvSpPr>
          <p:cNvPr id="32" name="Text 30"/>
          <p:cNvSpPr/>
          <p:nvPr/>
        </p:nvSpPr>
        <p:spPr>
          <a:xfrm>
            <a:off x="7351776" y="4660392"/>
            <a:ext cx="3813048" cy="2783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Item 7</a:t>
            </a:r>
            <a:endParaRPr lang="en-US" sz="950" dirty="0"/>
          </a:p>
        </p:txBody>
      </p:sp>
      <p:sp>
        <p:nvSpPr>
          <p:cNvPr id="33" name="Shape 31"/>
          <p:cNvSpPr/>
          <p:nvPr/>
        </p:nvSpPr>
        <p:spPr>
          <a:xfrm>
            <a:off x="7351776" y="4984496"/>
            <a:ext cx="3813048" cy="278384"/>
          </a:xfrm>
          <a:prstGeom prst="roundRect">
            <a:avLst>
              <a:gd name="adj" fmla="val 16423"/>
            </a:avLst>
          </a:prstGeom>
          <a:solidFill>
            <a:srgbClr val="1E90FF"/>
          </a:solidFill>
          <a:ln/>
        </p:spPr>
      </p:sp>
      <p:sp>
        <p:nvSpPr>
          <p:cNvPr id="34" name="Text 32"/>
          <p:cNvSpPr/>
          <p:nvPr/>
        </p:nvSpPr>
        <p:spPr>
          <a:xfrm>
            <a:off x="7351776" y="4984496"/>
            <a:ext cx="3813048" cy="2783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Item 8</a:t>
            </a:r>
            <a:endParaRPr lang="en-US" sz="950" dirty="0"/>
          </a:p>
        </p:txBody>
      </p:sp>
      <p:sp>
        <p:nvSpPr>
          <p:cNvPr id="35" name="Shape 33"/>
          <p:cNvSpPr/>
          <p:nvPr/>
        </p:nvSpPr>
        <p:spPr>
          <a:xfrm>
            <a:off x="7351776" y="5308600"/>
            <a:ext cx="3813048" cy="278384"/>
          </a:xfrm>
          <a:prstGeom prst="roundRect">
            <a:avLst>
              <a:gd name="adj" fmla="val 16423"/>
            </a:avLst>
          </a:prstGeom>
          <a:solidFill>
            <a:srgbClr val="1E90FF"/>
          </a:solidFill>
          <a:ln/>
        </p:spPr>
      </p:sp>
      <p:sp>
        <p:nvSpPr>
          <p:cNvPr id="36" name="Text 34"/>
          <p:cNvSpPr/>
          <p:nvPr/>
        </p:nvSpPr>
        <p:spPr>
          <a:xfrm>
            <a:off x="7351776" y="5308600"/>
            <a:ext cx="3813048" cy="2783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Item 9</a:t>
            </a:r>
            <a:endParaRPr lang="en-US" sz="950" dirty="0"/>
          </a:p>
        </p:txBody>
      </p:sp>
      <p:sp>
        <p:nvSpPr>
          <p:cNvPr id="37" name="Text 35"/>
          <p:cNvSpPr/>
          <p:nvPr/>
        </p:nvSpPr>
        <p:spPr>
          <a:xfrm>
            <a:off x="6858000" y="6053328"/>
            <a:ext cx="480060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display: grid on its own stacks them. Nothing looks different yet.</a:t>
            </a:r>
            <a:endParaRPr lang="en-US" sz="1200" dirty="0"/>
          </a:p>
        </p:txBody>
      </p:sp>
      <p:sp>
        <p:nvSpPr>
          <p:cNvPr id="38" name="Text 3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548640" y="457200"/>
            <a:ext cx="3291840" cy="310896"/>
          </a:xfrm>
          <a:prstGeom prst="roundRect">
            <a:avLst>
              <a:gd name="adj" fmla="val 50000"/>
            </a:avLst>
          </a:prstGeom>
          <a:solidFill>
            <a:srgbClr val="FB7185"/>
          </a:solidFill>
          <a:ln/>
        </p:spPr>
      </p:sp>
      <p:sp>
        <p:nvSpPr>
          <p:cNvPr id="3" name="Text 1"/>
          <p:cNvSpPr/>
          <p:nvPr/>
        </p:nvSpPr>
        <p:spPr>
          <a:xfrm>
            <a:off x="548640" y="457200"/>
            <a:ext cx="32918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LIVE CODE  -  SWITCH TO VS CODE</a:t>
            </a:r>
            <a:endParaRPr lang="en-US" sz="1100" dirty="0"/>
          </a:p>
        </p:txBody>
      </p:sp>
      <p:sp>
        <p:nvSpPr>
          <p:cNvPr id="4" name="Text 2"/>
          <p:cNvSpPr/>
          <p:nvPr/>
        </p:nvSpPr>
        <p:spPr>
          <a:xfrm>
            <a:off x="548640" y="896112"/>
            <a:ext cx="109728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Turn the container into a grid</a:t>
            </a:r>
            <a:endParaRPr lang="en-US" sz="3000" dirty="0"/>
          </a:p>
        </p:txBody>
      </p:sp>
      <p:sp>
        <p:nvSpPr>
          <p:cNvPr id="5" name="Shape 3"/>
          <p:cNvSpPr/>
          <p:nvPr/>
        </p:nvSpPr>
        <p:spPr>
          <a:xfrm>
            <a:off x="548640" y="1691640"/>
            <a:ext cx="6766560" cy="4480560"/>
          </a:xfrm>
          <a:prstGeom prst="roundRect">
            <a:avLst>
              <a:gd name="adj" fmla="val 2449"/>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911096"/>
            <a:ext cx="128016" cy="128016"/>
          </a:xfrm>
          <a:prstGeom prst="ellipse">
            <a:avLst/>
          </a:prstGeom>
          <a:solidFill>
            <a:srgbClr val="FF5F56"/>
          </a:solidFill>
          <a:ln/>
        </p:spPr>
      </p:sp>
      <p:sp>
        <p:nvSpPr>
          <p:cNvPr id="7" name="Shape 5"/>
          <p:cNvSpPr/>
          <p:nvPr/>
        </p:nvSpPr>
        <p:spPr>
          <a:xfrm>
            <a:off x="1042416" y="1911096"/>
            <a:ext cx="128016" cy="128016"/>
          </a:xfrm>
          <a:prstGeom prst="ellipse">
            <a:avLst/>
          </a:prstGeom>
          <a:solidFill>
            <a:srgbClr val="FFBD2E"/>
          </a:solidFill>
          <a:ln/>
        </p:spPr>
      </p:sp>
      <p:sp>
        <p:nvSpPr>
          <p:cNvPr id="8" name="Shape 6"/>
          <p:cNvSpPr/>
          <p:nvPr/>
        </p:nvSpPr>
        <p:spPr>
          <a:xfrm>
            <a:off x="1280160" y="1911096"/>
            <a:ext cx="128016" cy="128016"/>
          </a:xfrm>
          <a:prstGeom prst="ellipse">
            <a:avLst/>
          </a:prstGeom>
          <a:solidFill>
            <a:srgbClr val="27C93F"/>
          </a:solidFill>
          <a:ln/>
        </p:spPr>
      </p:sp>
      <p:sp>
        <p:nvSpPr>
          <p:cNvPr id="9" name="Text 7"/>
          <p:cNvSpPr/>
          <p:nvPr/>
        </p:nvSpPr>
        <p:spPr>
          <a:xfrm>
            <a:off x="1645920" y="1801368"/>
            <a:ext cx="54864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styles.css</a:t>
            </a:r>
            <a:endParaRPr lang="en-US" sz="1100" dirty="0"/>
          </a:p>
        </p:txBody>
      </p:sp>
      <p:sp>
        <p:nvSpPr>
          <p:cNvPr id="10" name="Text 8"/>
          <p:cNvSpPr/>
          <p:nvPr/>
        </p:nvSpPr>
        <p:spPr>
          <a:xfrm>
            <a:off x="804672" y="2221992"/>
            <a:ext cx="6254496" cy="3767328"/>
          </a:xfrm>
          <a:prstGeom prst="rect">
            <a:avLst/>
          </a:prstGeom>
          <a:noFill/>
          <a:ln/>
        </p:spPr>
        <p:txBody>
          <a:bodyPr wrap="square" lIns="0" tIns="0" rIns="0" bIns="0" rtlCol="0" anchor="t"/>
          <a:lstStyle/>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container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width</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1200px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margin</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100px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auto</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padding</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display</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grid</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&lt;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grid</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container</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7498080" y="1691640"/>
            <a:ext cx="4160520" cy="4480560"/>
          </a:xfrm>
          <a:prstGeom prst="roundRect">
            <a:avLst>
              <a:gd name="adj" fmla="val 2637"/>
            </a:avLst>
          </a:prstGeom>
          <a:solidFill>
            <a:srgbClr val="1B2A4A"/>
          </a:solidFill>
          <a:ln/>
        </p:spPr>
      </p:sp>
      <p:sp>
        <p:nvSpPr>
          <p:cNvPr id="12" name="Text 10"/>
          <p:cNvSpPr/>
          <p:nvPr/>
        </p:nvSpPr>
        <p:spPr>
          <a:xfrm>
            <a:off x="7726680" y="1874520"/>
            <a:ext cx="3749040" cy="320040"/>
          </a:xfrm>
          <a:prstGeom prst="rect">
            <a:avLst/>
          </a:prstGeom>
          <a:noFill/>
          <a:ln/>
        </p:spPr>
        <p:txBody>
          <a:bodyPr wrap="square" lIns="0" tIns="0" rIns="0" bIns="0" rtlCol="0" anchor="ctr"/>
          <a:lstStyle/>
          <a:p>
            <a:pPr algn="l" indent="0" marL="0">
              <a:buNone/>
            </a:pPr>
            <a:r>
              <a:rPr lang="en-US" sz="1200" b="1" spc="150" kern="0" dirty="0">
                <a:solidFill>
                  <a:srgbClr val="F59E0B"/>
                </a:solidFill>
                <a:latin typeface="Calibri" pitchFamily="34" charset="0"/>
                <a:ea typeface="Calibri" pitchFamily="34" charset="-122"/>
                <a:cs typeface="Calibri" pitchFamily="34" charset="-120"/>
              </a:rPr>
              <a:t>SAY THIS WHILE YOU TYPE</a:t>
            </a:r>
            <a:endParaRPr lang="en-US" sz="1200" dirty="0"/>
          </a:p>
        </p:txBody>
      </p:sp>
      <p:sp>
        <p:nvSpPr>
          <p:cNvPr id="13" name="Text 11"/>
          <p:cNvSpPr/>
          <p:nvPr/>
        </p:nvSpPr>
        <p:spPr>
          <a:xfrm>
            <a:off x="7726680" y="2286000"/>
            <a:ext cx="3794760" cy="3749040"/>
          </a:xfrm>
          <a:prstGeom prst="rect">
            <a:avLst/>
          </a:prstGeom>
          <a:noFill/>
          <a:ln/>
        </p:spPr>
        <p:txBody>
          <a:bodyPr wrap="square" lIns="0" tIns="0" rIns="0" bIns="0" rtlCol="0" anchor="t"/>
          <a:lstStyle/>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Ask the room first: what would display: flex do here?</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Right, it would put all nine items in one row.</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Now switch it to grid. Save. Nothing visibly changes.</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Open inspect. See the grid badge next to the container?</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That badge means every grid property is now available to us.</a:t>
            </a:r>
            <a:endParaRPr lang="en-US" sz="1350" dirty="0"/>
          </a:p>
        </p:txBody>
      </p:sp>
      <p:sp>
        <p:nvSpPr>
          <p:cNvPr id="14" name="Text 1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Responsive Layout and CSS Grid</a:t>
            </a:r>
            <a:endParaRPr lang="en-US" sz="1000" dirty="0"/>
          </a:p>
        </p:txBody>
      </p:sp>
      <p:sp>
        <p:nvSpPr>
          <p:cNvPr id="15" name="Text 1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grid-template-columns</a:t>
            </a:r>
            <a:endParaRPr lang="en-US" sz="3400" dirty="0"/>
          </a:p>
        </p:txBody>
      </p:sp>
      <p:sp>
        <p:nvSpPr>
          <p:cNvPr id="5" name="Shape 3"/>
          <p:cNvSpPr/>
          <p:nvPr/>
        </p:nvSpPr>
        <p:spPr>
          <a:xfrm>
            <a:off x="548640" y="1920240"/>
            <a:ext cx="5029200" cy="1691640"/>
          </a:xfrm>
          <a:prstGeom prst="roundRect">
            <a:avLst>
              <a:gd name="adj" fmla="val 6486"/>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39696"/>
            <a:ext cx="128016" cy="128016"/>
          </a:xfrm>
          <a:prstGeom prst="ellipse">
            <a:avLst/>
          </a:prstGeom>
          <a:solidFill>
            <a:srgbClr val="FF5F56"/>
          </a:solidFill>
          <a:ln/>
        </p:spPr>
      </p:sp>
      <p:sp>
        <p:nvSpPr>
          <p:cNvPr id="7" name="Shape 5"/>
          <p:cNvSpPr/>
          <p:nvPr/>
        </p:nvSpPr>
        <p:spPr>
          <a:xfrm>
            <a:off x="1042416" y="2139696"/>
            <a:ext cx="128016" cy="128016"/>
          </a:xfrm>
          <a:prstGeom prst="ellipse">
            <a:avLst/>
          </a:prstGeom>
          <a:solidFill>
            <a:srgbClr val="FFBD2E"/>
          </a:solidFill>
          <a:ln/>
        </p:spPr>
      </p:sp>
      <p:sp>
        <p:nvSpPr>
          <p:cNvPr id="8" name="Shape 6"/>
          <p:cNvSpPr/>
          <p:nvPr/>
        </p:nvSpPr>
        <p:spPr>
          <a:xfrm>
            <a:off x="1280160" y="2139696"/>
            <a:ext cx="128016" cy="128016"/>
          </a:xfrm>
          <a:prstGeom prst="ellipse">
            <a:avLst/>
          </a:prstGeom>
          <a:solidFill>
            <a:srgbClr val="27C93F"/>
          </a:solidFill>
          <a:ln/>
        </p:spPr>
      </p:sp>
      <p:sp>
        <p:nvSpPr>
          <p:cNvPr id="9" name="Text 7"/>
          <p:cNvSpPr/>
          <p:nvPr/>
        </p:nvSpPr>
        <p:spPr>
          <a:xfrm>
            <a:off x="1645920" y="2029968"/>
            <a:ext cx="374904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styles.css</a:t>
            </a:r>
            <a:endParaRPr lang="en-US" sz="1100" dirty="0"/>
          </a:p>
        </p:txBody>
      </p:sp>
      <p:sp>
        <p:nvSpPr>
          <p:cNvPr id="10" name="Text 8"/>
          <p:cNvSpPr/>
          <p:nvPr/>
        </p:nvSpPr>
        <p:spPr>
          <a:xfrm>
            <a:off x="804672" y="2450592"/>
            <a:ext cx="4517136" cy="978408"/>
          </a:xfrm>
          <a:prstGeom prst="rect">
            <a:avLst/>
          </a:prstGeom>
          <a:noFill/>
          <a:ln/>
        </p:spPr>
        <p:txBody>
          <a:bodyPr wrap="square" lIns="0" tIns="0" rIns="0" bIns="0" rtlCol="0" anchor="t"/>
          <a:lstStyle/>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container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grid-template-columns</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100px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100px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100px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border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2px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solid</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black</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1" name="Text 9"/>
          <p:cNvSpPr/>
          <p:nvPr/>
        </p:nvSpPr>
        <p:spPr>
          <a:xfrm>
            <a:off x="548640" y="3749040"/>
            <a:ext cx="5029200" cy="640080"/>
          </a:xfrm>
          <a:prstGeom prst="rect">
            <a:avLst/>
          </a:prstGeom>
          <a:noFill/>
          <a:ln/>
        </p:spPr>
        <p:txBody>
          <a:bodyPr wrap="square" lIns="0" tIns="0" rIns="0" bIns="0" rtlCol="0" anchor="t"/>
          <a:lstStyle/>
          <a:p>
            <a:pPr algn="l" indent="0" marL="0">
              <a:buNone/>
            </a:pPr>
            <a:r>
              <a:rPr lang="en-US" sz="1400" dirty="0">
                <a:solidFill>
                  <a:srgbClr val="64748B"/>
                </a:solidFill>
                <a:latin typeface="Calibri" pitchFamily="34" charset="0"/>
                <a:ea typeface="Calibri" pitchFamily="34" charset="-122"/>
                <a:cs typeface="Calibri" pitchFamily="34" charset="-120"/>
              </a:rPr>
              <a:t>Three tracks of 100px each. The nine items now flow into three columns and three rows.</a:t>
            </a:r>
            <a:endParaRPr lang="en-US" sz="1400" dirty="0"/>
          </a:p>
        </p:txBody>
      </p:sp>
      <p:sp>
        <p:nvSpPr>
          <p:cNvPr id="12" name="Shape 10"/>
          <p:cNvSpPr/>
          <p:nvPr/>
        </p:nvSpPr>
        <p:spPr>
          <a:xfrm>
            <a:off x="548640" y="4480560"/>
            <a:ext cx="5029200" cy="1371600"/>
          </a:xfrm>
          <a:prstGeom prst="roundRect">
            <a:avLst>
              <a:gd name="adj" fmla="val 8000"/>
            </a:avLst>
          </a:prstGeom>
          <a:solidFill>
            <a:srgbClr val="FFF3E0"/>
          </a:solidFill>
          <a:ln/>
        </p:spPr>
      </p:sp>
      <p:sp>
        <p:nvSpPr>
          <p:cNvPr id="13" name="Shape 11"/>
          <p:cNvSpPr/>
          <p:nvPr/>
        </p:nvSpPr>
        <p:spPr>
          <a:xfrm>
            <a:off x="749808" y="5038344"/>
            <a:ext cx="256032" cy="256032"/>
          </a:xfrm>
          <a:prstGeom prst="ellipse">
            <a:avLst/>
          </a:prstGeom>
          <a:solidFill>
            <a:srgbClr val="F59E0B"/>
          </a:solidFill>
          <a:ln/>
        </p:spPr>
      </p:sp>
      <p:sp>
        <p:nvSpPr>
          <p:cNvPr id="14" name="Text 12"/>
          <p:cNvSpPr/>
          <p:nvPr/>
        </p:nvSpPr>
        <p:spPr>
          <a:xfrm>
            <a:off x="1207008" y="4480560"/>
            <a:ext cx="4160520" cy="1371600"/>
          </a:xfrm>
          <a:prstGeom prst="rect">
            <a:avLst/>
          </a:prstGeom>
          <a:noFill/>
          <a:ln/>
        </p:spPr>
        <p:txBody>
          <a:bodyPr wrap="square" lIns="0" tIns="0" rIns="0" bIns="0" rtlCol="0" anchor="ctr"/>
          <a:lstStyle/>
          <a:p>
            <a:pPr algn="l" indent="0" marL="0">
              <a:buNone/>
            </a:pPr>
            <a:r>
              <a:rPr lang="en-US" sz="1400" dirty="0">
                <a:solidFill>
                  <a:srgbClr val="7A4A05"/>
                </a:solidFill>
                <a:latin typeface="Calibri" pitchFamily="34" charset="0"/>
                <a:ea typeface="Calibri" pitchFamily="34" charset="-122"/>
                <a:cs typeface="Calibri" pitchFamily="34" charset="-120"/>
              </a:rPr>
              <a:t>But the container is 1200px wide. The items use 300px and the other 900px sits empty.</a:t>
            </a:r>
            <a:endParaRPr lang="en-US" sz="1400" dirty="0"/>
          </a:p>
        </p:txBody>
      </p:sp>
      <p:sp>
        <p:nvSpPr>
          <p:cNvPr id="15" name="Text 13"/>
          <p:cNvSpPr/>
          <p:nvPr/>
        </p:nvSpPr>
        <p:spPr>
          <a:xfrm>
            <a:off x="6035040" y="1920240"/>
            <a:ext cx="5623560" cy="274320"/>
          </a:xfrm>
          <a:prstGeom prst="rect">
            <a:avLst/>
          </a:prstGeom>
          <a:noFill/>
          <a:ln/>
        </p:spPr>
        <p:txBody>
          <a:bodyPr wrap="square" lIns="0" tIns="0" rIns="0" bIns="0" rtlCol="0" anchor="ctr"/>
          <a:lstStyle/>
          <a:p>
            <a:pPr algn="l" indent="0" marL="0">
              <a:buNone/>
            </a:pPr>
            <a:r>
              <a:rPr lang="en-US" sz="1150" b="1" spc="120" kern="0" dirty="0">
                <a:solidFill>
                  <a:srgbClr val="FB7185"/>
                </a:solidFill>
                <a:latin typeface="Calibri" pitchFamily="34" charset="0"/>
                <a:ea typeface="Calibri" pitchFamily="34" charset="-122"/>
                <a:cs typeface="Calibri" pitchFamily="34" charset="-120"/>
              </a:rPr>
              <a:t>THE PROBLEM</a:t>
            </a:r>
            <a:endParaRPr lang="en-US" sz="1150" dirty="0"/>
          </a:p>
        </p:txBody>
      </p:sp>
      <p:sp>
        <p:nvSpPr>
          <p:cNvPr id="16" name="Shape 14"/>
          <p:cNvSpPr/>
          <p:nvPr/>
        </p:nvSpPr>
        <p:spPr>
          <a:xfrm>
            <a:off x="6035040" y="2286000"/>
            <a:ext cx="5623560" cy="2651760"/>
          </a:xfrm>
          <a:prstGeom prst="rect">
            <a:avLst/>
          </a:prstGeom>
          <a:solidFill>
            <a:srgbClr val="FFFFFF"/>
          </a:solidFill>
          <a:ln w="19050">
            <a:solidFill>
              <a:srgbClr val="111111"/>
            </a:solidFill>
            <a:prstDash val="solid"/>
          </a:ln>
        </p:spPr>
      </p:sp>
      <p:sp>
        <p:nvSpPr>
          <p:cNvPr id="17" name="Shape 15"/>
          <p:cNvSpPr/>
          <p:nvPr/>
        </p:nvSpPr>
        <p:spPr>
          <a:xfrm>
            <a:off x="6135624" y="2386584"/>
            <a:ext cx="426720" cy="786384"/>
          </a:xfrm>
          <a:prstGeom prst="roundRect">
            <a:avLst>
              <a:gd name="adj" fmla="val 10714"/>
            </a:avLst>
          </a:prstGeom>
          <a:solidFill>
            <a:srgbClr val="1E90FF"/>
          </a:solidFill>
          <a:ln/>
        </p:spPr>
      </p:sp>
      <p:sp>
        <p:nvSpPr>
          <p:cNvPr id="18" name="Text 16"/>
          <p:cNvSpPr/>
          <p:nvPr/>
        </p:nvSpPr>
        <p:spPr>
          <a:xfrm>
            <a:off x="6135624" y="2386584"/>
            <a:ext cx="426720" cy="7863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9" name="Shape 17"/>
          <p:cNvSpPr/>
          <p:nvPr/>
        </p:nvSpPr>
        <p:spPr>
          <a:xfrm>
            <a:off x="6608064" y="2386584"/>
            <a:ext cx="426720" cy="786384"/>
          </a:xfrm>
          <a:prstGeom prst="roundRect">
            <a:avLst>
              <a:gd name="adj" fmla="val 10714"/>
            </a:avLst>
          </a:prstGeom>
          <a:solidFill>
            <a:srgbClr val="1E90FF"/>
          </a:solidFill>
          <a:ln/>
        </p:spPr>
      </p:sp>
      <p:sp>
        <p:nvSpPr>
          <p:cNvPr id="20" name="Text 18"/>
          <p:cNvSpPr/>
          <p:nvPr/>
        </p:nvSpPr>
        <p:spPr>
          <a:xfrm>
            <a:off x="6608064" y="2386584"/>
            <a:ext cx="426720" cy="7863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1" name="Shape 19"/>
          <p:cNvSpPr/>
          <p:nvPr/>
        </p:nvSpPr>
        <p:spPr>
          <a:xfrm>
            <a:off x="7080504" y="2386584"/>
            <a:ext cx="426720" cy="786384"/>
          </a:xfrm>
          <a:prstGeom prst="roundRect">
            <a:avLst>
              <a:gd name="adj" fmla="val 10714"/>
            </a:avLst>
          </a:prstGeom>
          <a:solidFill>
            <a:srgbClr val="1E90FF"/>
          </a:solidFill>
          <a:ln/>
        </p:spPr>
      </p:sp>
      <p:sp>
        <p:nvSpPr>
          <p:cNvPr id="22" name="Text 20"/>
          <p:cNvSpPr/>
          <p:nvPr/>
        </p:nvSpPr>
        <p:spPr>
          <a:xfrm>
            <a:off x="7080504" y="2386584"/>
            <a:ext cx="426720" cy="7863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3" name="Shape 21"/>
          <p:cNvSpPr/>
          <p:nvPr/>
        </p:nvSpPr>
        <p:spPr>
          <a:xfrm>
            <a:off x="6135624" y="3218688"/>
            <a:ext cx="426720" cy="786384"/>
          </a:xfrm>
          <a:prstGeom prst="roundRect">
            <a:avLst>
              <a:gd name="adj" fmla="val 10714"/>
            </a:avLst>
          </a:prstGeom>
          <a:solidFill>
            <a:srgbClr val="1E90FF"/>
          </a:solidFill>
          <a:ln/>
        </p:spPr>
      </p:sp>
      <p:sp>
        <p:nvSpPr>
          <p:cNvPr id="24" name="Text 22"/>
          <p:cNvSpPr/>
          <p:nvPr/>
        </p:nvSpPr>
        <p:spPr>
          <a:xfrm>
            <a:off x="6135624" y="3218688"/>
            <a:ext cx="426720" cy="7863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5" name="Shape 23"/>
          <p:cNvSpPr/>
          <p:nvPr/>
        </p:nvSpPr>
        <p:spPr>
          <a:xfrm>
            <a:off x="6608064" y="3218688"/>
            <a:ext cx="426720" cy="786384"/>
          </a:xfrm>
          <a:prstGeom prst="roundRect">
            <a:avLst>
              <a:gd name="adj" fmla="val 10714"/>
            </a:avLst>
          </a:prstGeom>
          <a:solidFill>
            <a:srgbClr val="1E90FF"/>
          </a:solidFill>
          <a:ln/>
        </p:spPr>
      </p:sp>
      <p:sp>
        <p:nvSpPr>
          <p:cNvPr id="26" name="Text 24"/>
          <p:cNvSpPr/>
          <p:nvPr/>
        </p:nvSpPr>
        <p:spPr>
          <a:xfrm>
            <a:off x="6608064" y="3218688"/>
            <a:ext cx="426720" cy="7863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7" name="Shape 25"/>
          <p:cNvSpPr/>
          <p:nvPr/>
        </p:nvSpPr>
        <p:spPr>
          <a:xfrm>
            <a:off x="7080504" y="3218688"/>
            <a:ext cx="426720" cy="786384"/>
          </a:xfrm>
          <a:prstGeom prst="roundRect">
            <a:avLst>
              <a:gd name="adj" fmla="val 10714"/>
            </a:avLst>
          </a:prstGeom>
          <a:solidFill>
            <a:srgbClr val="1E90FF"/>
          </a:solidFill>
          <a:ln/>
        </p:spPr>
      </p:sp>
      <p:sp>
        <p:nvSpPr>
          <p:cNvPr id="28" name="Text 26"/>
          <p:cNvSpPr/>
          <p:nvPr/>
        </p:nvSpPr>
        <p:spPr>
          <a:xfrm>
            <a:off x="7080504" y="3218688"/>
            <a:ext cx="426720" cy="7863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9" name="Shape 27"/>
          <p:cNvSpPr/>
          <p:nvPr/>
        </p:nvSpPr>
        <p:spPr>
          <a:xfrm>
            <a:off x="6135624" y="4050792"/>
            <a:ext cx="426720" cy="786384"/>
          </a:xfrm>
          <a:prstGeom prst="roundRect">
            <a:avLst>
              <a:gd name="adj" fmla="val 10714"/>
            </a:avLst>
          </a:prstGeom>
          <a:solidFill>
            <a:srgbClr val="1E90FF"/>
          </a:solidFill>
          <a:ln/>
        </p:spPr>
      </p:sp>
      <p:sp>
        <p:nvSpPr>
          <p:cNvPr id="30" name="Text 28"/>
          <p:cNvSpPr/>
          <p:nvPr/>
        </p:nvSpPr>
        <p:spPr>
          <a:xfrm>
            <a:off x="6135624" y="4050792"/>
            <a:ext cx="426720" cy="7863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31" name="Shape 29"/>
          <p:cNvSpPr/>
          <p:nvPr/>
        </p:nvSpPr>
        <p:spPr>
          <a:xfrm>
            <a:off x="6608064" y="4050792"/>
            <a:ext cx="426720" cy="786384"/>
          </a:xfrm>
          <a:prstGeom prst="roundRect">
            <a:avLst>
              <a:gd name="adj" fmla="val 10714"/>
            </a:avLst>
          </a:prstGeom>
          <a:solidFill>
            <a:srgbClr val="1E90FF"/>
          </a:solidFill>
          <a:ln/>
        </p:spPr>
      </p:sp>
      <p:sp>
        <p:nvSpPr>
          <p:cNvPr id="32" name="Text 30"/>
          <p:cNvSpPr/>
          <p:nvPr/>
        </p:nvSpPr>
        <p:spPr>
          <a:xfrm>
            <a:off x="6608064" y="4050792"/>
            <a:ext cx="426720" cy="7863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33" name="Shape 31"/>
          <p:cNvSpPr/>
          <p:nvPr/>
        </p:nvSpPr>
        <p:spPr>
          <a:xfrm>
            <a:off x="7080504" y="4050792"/>
            <a:ext cx="426720" cy="786384"/>
          </a:xfrm>
          <a:prstGeom prst="roundRect">
            <a:avLst>
              <a:gd name="adj" fmla="val 10714"/>
            </a:avLst>
          </a:prstGeom>
          <a:solidFill>
            <a:srgbClr val="1E90FF"/>
          </a:solidFill>
          <a:ln/>
        </p:spPr>
      </p:sp>
      <p:sp>
        <p:nvSpPr>
          <p:cNvPr id="34" name="Text 32"/>
          <p:cNvSpPr/>
          <p:nvPr/>
        </p:nvSpPr>
        <p:spPr>
          <a:xfrm>
            <a:off x="7080504" y="4050792"/>
            <a:ext cx="426720" cy="7863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9</a:t>
            </a:r>
            <a:endParaRPr lang="en-US" sz="800" dirty="0"/>
          </a:p>
        </p:txBody>
      </p:sp>
      <p:sp>
        <p:nvSpPr>
          <p:cNvPr id="35" name="Shape 33"/>
          <p:cNvSpPr/>
          <p:nvPr/>
        </p:nvSpPr>
        <p:spPr>
          <a:xfrm>
            <a:off x="7607808" y="2395728"/>
            <a:ext cx="3931920" cy="2432304"/>
          </a:xfrm>
          <a:prstGeom prst="rect">
            <a:avLst/>
          </a:prstGeom>
          <a:solidFill>
            <a:srgbClr val="FEF2F4"/>
          </a:solidFill>
          <a:ln w="15875">
            <a:solidFill>
              <a:srgbClr val="FB7185"/>
            </a:solidFill>
            <a:prstDash val="dash"/>
          </a:ln>
        </p:spPr>
      </p:sp>
      <p:sp>
        <p:nvSpPr>
          <p:cNvPr id="36" name="Text 34"/>
          <p:cNvSpPr/>
          <p:nvPr/>
        </p:nvSpPr>
        <p:spPr>
          <a:xfrm>
            <a:off x="7607808" y="2395728"/>
            <a:ext cx="3931920" cy="2432304"/>
          </a:xfrm>
          <a:prstGeom prst="rect">
            <a:avLst/>
          </a:prstGeom>
          <a:noFill/>
          <a:ln/>
        </p:spPr>
        <p:txBody>
          <a:bodyPr wrap="square" lIns="0" tIns="0" rIns="0" bIns="0" rtlCol="0" anchor="ctr"/>
          <a:lstStyle/>
          <a:p>
            <a:pPr algn="ctr" indent="0" marL="0">
              <a:buNone/>
            </a:pPr>
            <a:r>
              <a:rPr lang="en-US" sz="1400" b="1" dirty="0">
                <a:solidFill>
                  <a:srgbClr val="FB7185"/>
                </a:solidFill>
                <a:latin typeface="Calibri" pitchFamily="34" charset="0"/>
                <a:ea typeface="Calibri" pitchFamily="34" charset="-122"/>
                <a:cs typeface="Calibri" pitchFamily="34" charset="-120"/>
              </a:rPr>
              <a:t>900px of wasted space</a:t>
            </a:r>
            <a:endParaRPr lang="en-US" sz="1400" dirty="0"/>
          </a:p>
        </p:txBody>
      </p:sp>
      <p:sp>
        <p:nvSpPr>
          <p:cNvPr id="37" name="Shape 35"/>
          <p:cNvSpPr/>
          <p:nvPr/>
        </p:nvSpPr>
        <p:spPr>
          <a:xfrm>
            <a:off x="6035040" y="5166360"/>
            <a:ext cx="1572768" cy="0"/>
          </a:xfrm>
          <a:prstGeom prst="line">
            <a:avLst/>
          </a:prstGeom>
          <a:noFill/>
          <a:ln w="19050">
            <a:solidFill>
              <a:srgbClr val="2563EB"/>
            </a:solidFill>
            <a:prstDash val="solid"/>
            <a:headEnd type="triangle"/>
            <a:tailEnd type="triangle"/>
          </a:ln>
        </p:spPr>
      </p:sp>
      <p:sp>
        <p:nvSpPr>
          <p:cNvPr id="38" name="Text 36"/>
          <p:cNvSpPr/>
          <p:nvPr/>
        </p:nvSpPr>
        <p:spPr>
          <a:xfrm>
            <a:off x="6035040" y="4855464"/>
            <a:ext cx="1572768" cy="274320"/>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300px</a:t>
            </a:r>
            <a:endParaRPr lang="en-US" sz="1100" dirty="0"/>
          </a:p>
        </p:txBody>
      </p:sp>
      <p:sp>
        <p:nvSpPr>
          <p:cNvPr id="39" name="Shape 37"/>
          <p:cNvSpPr/>
          <p:nvPr/>
        </p:nvSpPr>
        <p:spPr>
          <a:xfrm>
            <a:off x="6035040" y="5806440"/>
            <a:ext cx="5623560" cy="0"/>
          </a:xfrm>
          <a:prstGeom prst="line">
            <a:avLst/>
          </a:prstGeom>
          <a:noFill/>
          <a:ln w="19050">
            <a:solidFill>
              <a:srgbClr val="64748B"/>
            </a:solidFill>
            <a:prstDash val="solid"/>
            <a:headEnd type="triangle"/>
            <a:tailEnd type="triangle"/>
          </a:ln>
        </p:spPr>
      </p:sp>
      <p:sp>
        <p:nvSpPr>
          <p:cNvPr id="40" name="Text 38"/>
          <p:cNvSpPr/>
          <p:nvPr/>
        </p:nvSpPr>
        <p:spPr>
          <a:xfrm>
            <a:off x="6035040" y="5495544"/>
            <a:ext cx="5623560" cy="274320"/>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container: 1200px</a:t>
            </a:r>
            <a:endParaRPr lang="en-US" sz="1100" dirty="0"/>
          </a:p>
        </p:txBody>
      </p:sp>
      <p:sp>
        <p:nvSpPr>
          <p:cNvPr id="41" name="Text 39"/>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THE FIX</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fr: the fraction unit</a:t>
            </a:r>
            <a:endParaRPr lang="en-US" sz="3400" dirty="0"/>
          </a:p>
        </p:txBody>
      </p:sp>
      <p:sp>
        <p:nvSpPr>
          <p:cNvPr id="5" name="Text 3"/>
          <p:cNvSpPr/>
          <p:nvPr/>
        </p:nvSpPr>
        <p:spPr>
          <a:xfrm>
            <a:off x="548640" y="1828800"/>
            <a:ext cx="11064240" cy="457200"/>
          </a:xfrm>
          <a:prstGeom prst="rect">
            <a:avLst/>
          </a:prstGeom>
          <a:noFill/>
          <a:ln/>
        </p:spPr>
        <p:txBody>
          <a:bodyPr wrap="square" lIns="0" tIns="0" rIns="0" bIns="0" rtlCol="0" anchor="ctr"/>
          <a:lstStyle/>
          <a:p>
            <a:pPr algn="l" indent="0" marL="0">
              <a:buNone/>
            </a:pPr>
            <a:r>
              <a:rPr lang="en-US" sz="1500" dirty="0">
                <a:solidFill>
                  <a:srgbClr val="64748B"/>
                </a:solidFill>
                <a:latin typeface="Calibri" pitchFamily="34" charset="0"/>
                <a:ea typeface="Calibri" pitchFamily="34" charset="-122"/>
                <a:cs typeface="Calibri" pitchFamily="34" charset="-120"/>
              </a:rPr>
              <a:t>One fr means one share of whatever space is available. Add the fractions up, then split the width in that ratio.</a:t>
            </a:r>
            <a:endParaRPr lang="en-US" sz="1500" dirty="0"/>
          </a:p>
        </p:txBody>
      </p:sp>
      <p:sp>
        <p:nvSpPr>
          <p:cNvPr id="6" name="Shape 4"/>
          <p:cNvSpPr/>
          <p:nvPr/>
        </p:nvSpPr>
        <p:spPr>
          <a:xfrm>
            <a:off x="548640" y="2377440"/>
            <a:ext cx="3657600" cy="3566160"/>
          </a:xfrm>
          <a:prstGeom prst="roundRect">
            <a:avLst>
              <a:gd name="adj" fmla="val 3077"/>
            </a:avLst>
          </a:prstGeom>
          <a:solidFill>
            <a:srgbClr val="111B34"/>
          </a:solidFill>
          <a:ln/>
          <a:effectLst>
            <a:outerShdw sx="100000" sy="100000" kx="0" ky="0" algn="bl" rotWithShape="0" blurRad="101600" dist="38100" dir="5400000">
              <a:srgbClr val="0B1220">
                <a:alpha val="18000"/>
              </a:srgbClr>
            </a:outerShdw>
          </a:effectLst>
        </p:spPr>
      </p:sp>
      <p:sp>
        <p:nvSpPr>
          <p:cNvPr id="7" name="Text 5"/>
          <p:cNvSpPr/>
          <p:nvPr/>
        </p:nvSpPr>
        <p:spPr>
          <a:xfrm>
            <a:off x="777240" y="2578608"/>
            <a:ext cx="3200400" cy="274320"/>
          </a:xfrm>
          <a:prstGeom prst="rect">
            <a:avLst/>
          </a:prstGeom>
          <a:noFill/>
          <a:ln/>
        </p:spPr>
        <p:txBody>
          <a:bodyPr wrap="square" lIns="0" tIns="0" rIns="0" bIns="0" rtlCol="0" anchor="ctr"/>
          <a:lstStyle/>
          <a:p>
            <a:pPr algn="l" indent="0" marL="0">
              <a:buNone/>
            </a:pPr>
            <a:r>
              <a:rPr lang="en-US" sz="1100" b="1" spc="120" kern="0" dirty="0">
                <a:solidFill>
                  <a:srgbClr val="F59E0B"/>
                </a:solidFill>
                <a:latin typeface="Calibri" pitchFamily="34" charset="0"/>
                <a:ea typeface="Calibri" pitchFamily="34" charset="-122"/>
                <a:cs typeface="Calibri" pitchFamily="34" charset="-120"/>
              </a:rPr>
              <a:t>WORKED EXAMPLE</a:t>
            </a:r>
            <a:endParaRPr lang="en-US" sz="1100" dirty="0"/>
          </a:p>
        </p:txBody>
      </p:sp>
      <p:sp>
        <p:nvSpPr>
          <p:cNvPr id="8" name="Text 6"/>
          <p:cNvSpPr/>
          <p:nvPr/>
        </p:nvSpPr>
        <p:spPr>
          <a:xfrm>
            <a:off x="777240" y="3017520"/>
            <a:ext cx="3200400" cy="411480"/>
          </a:xfrm>
          <a:prstGeom prst="rect">
            <a:avLst/>
          </a:prstGeom>
          <a:noFill/>
          <a:ln/>
        </p:spPr>
        <p:txBody>
          <a:bodyPr wrap="square" lIns="0" tIns="0" rIns="0" bIns="0" rtlCol="0" anchor="ctr"/>
          <a:lstStyle/>
          <a:p>
            <a:pPr algn="l" indent="0" marL="0">
              <a:buNone/>
            </a:pPr>
            <a:r>
              <a:rPr lang="en-US" sz="1400" dirty="0">
                <a:solidFill>
                  <a:srgbClr val="C7DBFF"/>
                </a:solidFill>
                <a:latin typeface="Courier New" pitchFamily="34" charset="0"/>
                <a:ea typeface="Courier New" pitchFamily="34" charset="-122"/>
                <a:cs typeface="Courier New" pitchFamily="34" charset="-120"/>
              </a:rPr>
              <a:t>container = 120px</a:t>
            </a:r>
            <a:endParaRPr lang="en-US" sz="1400" dirty="0"/>
          </a:p>
        </p:txBody>
      </p:sp>
      <p:sp>
        <p:nvSpPr>
          <p:cNvPr id="9" name="Text 7"/>
          <p:cNvSpPr/>
          <p:nvPr/>
        </p:nvSpPr>
        <p:spPr>
          <a:xfrm>
            <a:off x="777240" y="3566160"/>
            <a:ext cx="3200400" cy="411480"/>
          </a:xfrm>
          <a:prstGeom prst="rect">
            <a:avLst/>
          </a:prstGeom>
          <a:noFill/>
          <a:ln/>
        </p:spPr>
        <p:txBody>
          <a:bodyPr wrap="square" lIns="0" tIns="0" rIns="0" bIns="0" rtlCol="0" anchor="ctr"/>
          <a:lstStyle/>
          <a:p>
            <a:pPr algn="l" indent="0" marL="0">
              <a:buNone/>
            </a:pPr>
            <a:r>
              <a:rPr lang="en-US" sz="1400" dirty="0">
                <a:solidFill>
                  <a:srgbClr val="C7DBFF"/>
                </a:solidFill>
                <a:latin typeface="Courier New" pitchFamily="34" charset="0"/>
                <a:ea typeface="Courier New" pitchFamily="34" charset="-122"/>
                <a:cs typeface="Courier New" pitchFamily="34" charset="-120"/>
              </a:rPr>
              <a:t>1fr 1fr 1fr</a:t>
            </a:r>
            <a:endParaRPr lang="en-US" sz="1400" dirty="0"/>
          </a:p>
        </p:txBody>
      </p:sp>
      <p:sp>
        <p:nvSpPr>
          <p:cNvPr id="10" name="Text 8"/>
          <p:cNvSpPr/>
          <p:nvPr/>
        </p:nvSpPr>
        <p:spPr>
          <a:xfrm>
            <a:off x="777240" y="4114800"/>
            <a:ext cx="3200400" cy="411480"/>
          </a:xfrm>
          <a:prstGeom prst="rect">
            <a:avLst/>
          </a:prstGeom>
          <a:noFill/>
          <a:ln/>
        </p:spPr>
        <p:txBody>
          <a:bodyPr wrap="square" lIns="0" tIns="0" rIns="0" bIns="0" rtlCol="0" anchor="ctr"/>
          <a:lstStyle/>
          <a:p>
            <a:pPr algn="l" indent="0" marL="0">
              <a:buNone/>
            </a:pPr>
            <a:r>
              <a:rPr lang="en-US" sz="1400" dirty="0">
                <a:solidFill>
                  <a:srgbClr val="C7DBFF"/>
                </a:solidFill>
                <a:latin typeface="Courier New" pitchFamily="34" charset="0"/>
                <a:ea typeface="Courier New" pitchFamily="34" charset="-122"/>
                <a:cs typeface="Courier New" pitchFamily="34" charset="-120"/>
              </a:rPr>
              <a:t>total = 1 + 1 + 1 = 3</a:t>
            </a:r>
            <a:endParaRPr lang="en-US" sz="1400" dirty="0"/>
          </a:p>
        </p:txBody>
      </p:sp>
      <p:sp>
        <p:nvSpPr>
          <p:cNvPr id="11" name="Text 9"/>
          <p:cNvSpPr/>
          <p:nvPr/>
        </p:nvSpPr>
        <p:spPr>
          <a:xfrm>
            <a:off x="777240" y="4663440"/>
            <a:ext cx="3200400" cy="411480"/>
          </a:xfrm>
          <a:prstGeom prst="rect">
            <a:avLst/>
          </a:prstGeom>
          <a:noFill/>
          <a:ln/>
        </p:spPr>
        <p:txBody>
          <a:bodyPr wrap="square" lIns="0" tIns="0" rIns="0" bIns="0" rtlCol="0" anchor="ctr"/>
          <a:lstStyle/>
          <a:p>
            <a:pPr algn="l" indent="0" marL="0">
              <a:buNone/>
            </a:pPr>
            <a:r>
              <a:rPr lang="en-US" sz="1400" dirty="0">
                <a:solidFill>
                  <a:srgbClr val="C7DBFF"/>
                </a:solidFill>
                <a:latin typeface="Courier New" pitchFamily="34" charset="0"/>
                <a:ea typeface="Courier New" pitchFamily="34" charset="-122"/>
                <a:cs typeface="Courier New" pitchFamily="34" charset="-120"/>
              </a:rPr>
              <a:t>each = 120 / 3</a:t>
            </a:r>
            <a:endParaRPr lang="en-US" sz="1400" dirty="0"/>
          </a:p>
        </p:txBody>
      </p:sp>
      <p:sp>
        <p:nvSpPr>
          <p:cNvPr id="12" name="Text 10"/>
          <p:cNvSpPr/>
          <p:nvPr/>
        </p:nvSpPr>
        <p:spPr>
          <a:xfrm>
            <a:off x="777240" y="5212080"/>
            <a:ext cx="3200400" cy="411480"/>
          </a:xfrm>
          <a:prstGeom prst="rect">
            <a:avLst/>
          </a:prstGeom>
          <a:noFill/>
          <a:ln/>
        </p:spPr>
        <p:txBody>
          <a:bodyPr wrap="square" lIns="0" tIns="0" rIns="0" bIns="0" rtlCol="0" anchor="ctr"/>
          <a:lstStyle/>
          <a:p>
            <a:pPr algn="l" indent="0" marL="0">
              <a:buNone/>
            </a:pPr>
            <a:r>
              <a:rPr lang="en-US" sz="1700" b="1" dirty="0">
                <a:solidFill>
                  <a:srgbClr val="22C55E"/>
                </a:solidFill>
                <a:latin typeface="Courier New" pitchFamily="34" charset="0"/>
                <a:ea typeface="Courier New" pitchFamily="34" charset="-122"/>
                <a:cs typeface="Courier New" pitchFamily="34" charset="-120"/>
              </a:rPr>
              <a:t>each = 40px</a:t>
            </a:r>
            <a:endParaRPr lang="en-US" sz="1700" dirty="0"/>
          </a:p>
        </p:txBody>
      </p:sp>
      <p:sp>
        <p:nvSpPr>
          <p:cNvPr id="13" name="Text 11"/>
          <p:cNvSpPr/>
          <p:nvPr/>
        </p:nvSpPr>
        <p:spPr>
          <a:xfrm>
            <a:off x="4434840" y="2377440"/>
            <a:ext cx="7315200" cy="292608"/>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grid-template-columns: 1fr 1fr 1fr</a:t>
            </a:r>
            <a:endParaRPr lang="en-US" sz="1300" dirty="0"/>
          </a:p>
        </p:txBody>
      </p:sp>
      <p:sp>
        <p:nvSpPr>
          <p:cNvPr id="14" name="Shape 12"/>
          <p:cNvSpPr/>
          <p:nvPr/>
        </p:nvSpPr>
        <p:spPr>
          <a:xfrm>
            <a:off x="4434840" y="2743200"/>
            <a:ext cx="7223760" cy="1280160"/>
          </a:xfrm>
          <a:prstGeom prst="roundRect">
            <a:avLst>
              <a:gd name="adj" fmla="val 5714"/>
            </a:avLst>
          </a:prstGeom>
          <a:solidFill>
            <a:srgbClr val="FFFFFF"/>
          </a:solidFill>
          <a:ln w="12700">
            <a:solidFill>
              <a:srgbClr val="C7DBFF"/>
            </a:solidFill>
            <a:prstDash val="solid"/>
          </a:ln>
        </p:spPr>
      </p:sp>
      <p:sp>
        <p:nvSpPr>
          <p:cNvPr id="15" name="Shape 13"/>
          <p:cNvSpPr/>
          <p:nvPr/>
        </p:nvSpPr>
        <p:spPr>
          <a:xfrm>
            <a:off x="4526280" y="2834640"/>
            <a:ext cx="2286000" cy="1097280"/>
          </a:xfrm>
          <a:prstGeom prst="roundRect">
            <a:avLst>
              <a:gd name="adj" fmla="val 4167"/>
            </a:avLst>
          </a:prstGeom>
          <a:solidFill>
            <a:srgbClr val="1E90FF"/>
          </a:solidFill>
          <a:ln/>
        </p:spPr>
      </p:sp>
      <p:sp>
        <p:nvSpPr>
          <p:cNvPr id="16" name="Text 14"/>
          <p:cNvSpPr/>
          <p:nvPr/>
        </p:nvSpPr>
        <p:spPr>
          <a:xfrm>
            <a:off x="4526280" y="2834640"/>
            <a:ext cx="2286000"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1fr</a:t>
            </a:r>
            <a:endParaRPr lang="en-US" sz="1400" dirty="0"/>
          </a:p>
        </p:txBody>
      </p:sp>
      <p:sp>
        <p:nvSpPr>
          <p:cNvPr id="17" name="Shape 15"/>
          <p:cNvSpPr/>
          <p:nvPr/>
        </p:nvSpPr>
        <p:spPr>
          <a:xfrm>
            <a:off x="6903720" y="2834640"/>
            <a:ext cx="2286000" cy="1097280"/>
          </a:xfrm>
          <a:prstGeom prst="roundRect">
            <a:avLst>
              <a:gd name="adj" fmla="val 4167"/>
            </a:avLst>
          </a:prstGeom>
          <a:solidFill>
            <a:srgbClr val="1E90FF"/>
          </a:solidFill>
          <a:ln/>
        </p:spPr>
      </p:sp>
      <p:sp>
        <p:nvSpPr>
          <p:cNvPr id="18" name="Text 16"/>
          <p:cNvSpPr/>
          <p:nvPr/>
        </p:nvSpPr>
        <p:spPr>
          <a:xfrm>
            <a:off x="6903720" y="2834640"/>
            <a:ext cx="2286000"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1fr</a:t>
            </a:r>
            <a:endParaRPr lang="en-US" sz="1400" dirty="0"/>
          </a:p>
        </p:txBody>
      </p:sp>
      <p:sp>
        <p:nvSpPr>
          <p:cNvPr id="19" name="Shape 17"/>
          <p:cNvSpPr/>
          <p:nvPr/>
        </p:nvSpPr>
        <p:spPr>
          <a:xfrm>
            <a:off x="9281160" y="2834640"/>
            <a:ext cx="2286000" cy="1097280"/>
          </a:xfrm>
          <a:prstGeom prst="roundRect">
            <a:avLst>
              <a:gd name="adj" fmla="val 4167"/>
            </a:avLst>
          </a:prstGeom>
          <a:solidFill>
            <a:srgbClr val="1E90FF"/>
          </a:solidFill>
          <a:ln/>
        </p:spPr>
      </p:sp>
      <p:sp>
        <p:nvSpPr>
          <p:cNvPr id="20" name="Text 18"/>
          <p:cNvSpPr/>
          <p:nvPr/>
        </p:nvSpPr>
        <p:spPr>
          <a:xfrm>
            <a:off x="9281160" y="2834640"/>
            <a:ext cx="2286000"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1fr</a:t>
            </a:r>
            <a:endParaRPr lang="en-US" sz="1400" dirty="0"/>
          </a:p>
        </p:txBody>
      </p:sp>
      <p:sp>
        <p:nvSpPr>
          <p:cNvPr id="21" name="Text 19"/>
          <p:cNvSpPr/>
          <p:nvPr/>
        </p:nvSpPr>
        <p:spPr>
          <a:xfrm>
            <a:off x="4434840" y="4069080"/>
            <a:ext cx="7223760" cy="274320"/>
          </a:xfrm>
          <a:prstGeom prst="rect">
            <a:avLst/>
          </a:prstGeom>
          <a:noFill/>
          <a:ln/>
        </p:spPr>
        <p:txBody>
          <a:bodyPr wrap="square" lIns="0" tIns="0" rIns="0" bIns="0" rtlCol="0" anchor="ctr"/>
          <a:lstStyle/>
          <a:p>
            <a:pPr algn="l" indent="0" marL="0">
              <a:buNone/>
            </a:pPr>
            <a:r>
              <a:rPr lang="en-US" sz="1200" i="1" dirty="0">
                <a:solidFill>
                  <a:srgbClr val="64748B"/>
                </a:solidFill>
                <a:latin typeface="Calibri" pitchFamily="34" charset="0"/>
                <a:ea typeface="Calibri" pitchFamily="34" charset="-122"/>
                <a:cs typeface="Calibri" pitchFamily="34" charset="-120"/>
              </a:rPr>
              <a:t>equal thirds, and the full width is used</a:t>
            </a:r>
            <a:endParaRPr lang="en-US" sz="1200" dirty="0"/>
          </a:p>
        </p:txBody>
      </p:sp>
      <p:sp>
        <p:nvSpPr>
          <p:cNvPr id="22" name="Text 20"/>
          <p:cNvSpPr/>
          <p:nvPr/>
        </p:nvSpPr>
        <p:spPr>
          <a:xfrm>
            <a:off x="4434840" y="4480560"/>
            <a:ext cx="7315200" cy="292608"/>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grid-template-columns: 1fr 2fr 1fr</a:t>
            </a:r>
            <a:endParaRPr lang="en-US" sz="1300" dirty="0"/>
          </a:p>
        </p:txBody>
      </p:sp>
      <p:sp>
        <p:nvSpPr>
          <p:cNvPr id="23" name="Shape 21"/>
          <p:cNvSpPr/>
          <p:nvPr/>
        </p:nvSpPr>
        <p:spPr>
          <a:xfrm>
            <a:off x="4434840" y="4846320"/>
            <a:ext cx="7223760" cy="1280160"/>
          </a:xfrm>
          <a:prstGeom prst="roundRect">
            <a:avLst>
              <a:gd name="adj" fmla="val 5714"/>
            </a:avLst>
          </a:prstGeom>
          <a:solidFill>
            <a:srgbClr val="FFFFFF"/>
          </a:solidFill>
          <a:ln w="12700">
            <a:solidFill>
              <a:srgbClr val="C7DBFF"/>
            </a:solidFill>
            <a:prstDash val="solid"/>
          </a:ln>
        </p:spPr>
      </p:sp>
      <p:sp>
        <p:nvSpPr>
          <p:cNvPr id="24" name="Shape 22"/>
          <p:cNvSpPr/>
          <p:nvPr/>
        </p:nvSpPr>
        <p:spPr>
          <a:xfrm>
            <a:off x="4526280" y="4937760"/>
            <a:ext cx="1714500" cy="1097280"/>
          </a:xfrm>
          <a:prstGeom prst="roundRect">
            <a:avLst>
              <a:gd name="adj" fmla="val 4167"/>
            </a:avLst>
          </a:prstGeom>
          <a:solidFill>
            <a:srgbClr val="1E90FF"/>
          </a:solidFill>
          <a:ln/>
        </p:spPr>
      </p:sp>
      <p:sp>
        <p:nvSpPr>
          <p:cNvPr id="25" name="Text 23"/>
          <p:cNvSpPr/>
          <p:nvPr/>
        </p:nvSpPr>
        <p:spPr>
          <a:xfrm>
            <a:off x="4526280" y="4937760"/>
            <a:ext cx="1714500" cy="10972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1fr  =  300px</a:t>
            </a:r>
            <a:endParaRPr lang="en-US" sz="1250" dirty="0"/>
          </a:p>
        </p:txBody>
      </p:sp>
      <p:sp>
        <p:nvSpPr>
          <p:cNvPr id="26" name="Shape 24"/>
          <p:cNvSpPr/>
          <p:nvPr/>
        </p:nvSpPr>
        <p:spPr>
          <a:xfrm>
            <a:off x="6332220" y="4937760"/>
            <a:ext cx="3429000" cy="1097280"/>
          </a:xfrm>
          <a:prstGeom prst="roundRect">
            <a:avLst>
              <a:gd name="adj" fmla="val 4167"/>
            </a:avLst>
          </a:prstGeom>
          <a:solidFill>
            <a:srgbClr val="1D4ED8"/>
          </a:solidFill>
          <a:ln/>
        </p:spPr>
      </p:sp>
      <p:sp>
        <p:nvSpPr>
          <p:cNvPr id="27" name="Text 25"/>
          <p:cNvSpPr/>
          <p:nvPr/>
        </p:nvSpPr>
        <p:spPr>
          <a:xfrm>
            <a:off x="6332220" y="4937760"/>
            <a:ext cx="3429000" cy="10972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2fr  =  600px</a:t>
            </a:r>
            <a:endParaRPr lang="en-US" sz="1250" dirty="0"/>
          </a:p>
        </p:txBody>
      </p:sp>
      <p:sp>
        <p:nvSpPr>
          <p:cNvPr id="28" name="Shape 26"/>
          <p:cNvSpPr/>
          <p:nvPr/>
        </p:nvSpPr>
        <p:spPr>
          <a:xfrm>
            <a:off x="9852660" y="4937760"/>
            <a:ext cx="1714500" cy="1097280"/>
          </a:xfrm>
          <a:prstGeom prst="roundRect">
            <a:avLst>
              <a:gd name="adj" fmla="val 4167"/>
            </a:avLst>
          </a:prstGeom>
          <a:solidFill>
            <a:srgbClr val="1E90FF"/>
          </a:solidFill>
          <a:ln/>
        </p:spPr>
      </p:sp>
      <p:sp>
        <p:nvSpPr>
          <p:cNvPr id="29" name="Text 27"/>
          <p:cNvSpPr/>
          <p:nvPr/>
        </p:nvSpPr>
        <p:spPr>
          <a:xfrm>
            <a:off x="9852660" y="4937760"/>
            <a:ext cx="1714500" cy="10972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1fr  =  300px</a:t>
            </a:r>
            <a:endParaRPr lang="en-US" sz="1250" dirty="0"/>
          </a:p>
        </p:txBody>
      </p:sp>
      <p:sp>
        <p:nvSpPr>
          <p:cNvPr id="30" name="Text 28"/>
          <p:cNvSpPr/>
          <p:nvPr/>
        </p:nvSpPr>
        <p:spPr>
          <a:xfrm>
            <a:off x="4434840" y="6172200"/>
            <a:ext cx="7223760" cy="274320"/>
          </a:xfrm>
          <a:prstGeom prst="rect">
            <a:avLst/>
          </a:prstGeom>
          <a:noFill/>
          <a:ln/>
        </p:spPr>
        <p:txBody>
          <a:bodyPr wrap="square" lIns="0" tIns="0" rIns="0" bIns="0" rtlCol="0" anchor="ctr"/>
          <a:lstStyle/>
          <a:p>
            <a:pPr algn="l" indent="0" marL="0">
              <a:buNone/>
            </a:pPr>
            <a:r>
              <a:rPr lang="en-US" sz="1200" i="1" dirty="0">
                <a:solidFill>
                  <a:srgbClr val="64748B"/>
                </a:solidFill>
                <a:latin typeface="Calibri" pitchFamily="34" charset="0"/>
                <a:ea typeface="Calibri" pitchFamily="34" charset="-122"/>
                <a:cs typeface="Calibri" pitchFamily="34" charset="-120"/>
              </a:rPr>
              <a:t>middle track takes a double share of the same 1200px</a:t>
            </a:r>
            <a:endParaRPr lang="en-US" sz="1200" dirty="0"/>
          </a:p>
        </p:txBody>
      </p:sp>
      <p:sp>
        <p:nvSpPr>
          <p:cNvPr id="31" name="Text 29"/>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Breathing room: the gap properties</a:t>
            </a:r>
            <a:endParaRPr lang="en-US" sz="3400" dirty="0"/>
          </a:p>
        </p:txBody>
      </p:sp>
      <p:sp>
        <p:nvSpPr>
          <p:cNvPr id="5" name="Text 3"/>
          <p:cNvSpPr/>
          <p:nvPr/>
        </p:nvSpPr>
        <p:spPr>
          <a:xfrm>
            <a:off x="548640" y="2057400"/>
            <a:ext cx="3566160" cy="310896"/>
          </a:xfrm>
          <a:prstGeom prst="rect">
            <a:avLst/>
          </a:prstGeom>
          <a:noFill/>
          <a:ln/>
        </p:spPr>
        <p:txBody>
          <a:bodyPr wrap="square" lIns="0" tIns="0" rIns="0" bIns="0" rtlCol="0" anchor="ctr"/>
          <a:lstStyle/>
          <a:p>
            <a:pPr algn="ctr" indent="0" marL="0">
              <a:buNone/>
            </a:pPr>
            <a:r>
              <a:rPr lang="en-US" sz="1300" b="1" dirty="0">
                <a:solidFill>
                  <a:srgbClr val="2563EB"/>
                </a:solidFill>
                <a:latin typeface="Courier New" pitchFamily="34" charset="0"/>
                <a:ea typeface="Courier New" pitchFamily="34" charset="-122"/>
                <a:cs typeface="Courier New" pitchFamily="34" charset="-120"/>
              </a:rPr>
              <a:t>column-gap: 20px</a:t>
            </a:r>
            <a:endParaRPr lang="en-US" sz="1300" dirty="0"/>
          </a:p>
        </p:txBody>
      </p:sp>
      <p:sp>
        <p:nvSpPr>
          <p:cNvPr id="6" name="Shape 4"/>
          <p:cNvSpPr/>
          <p:nvPr/>
        </p:nvSpPr>
        <p:spPr>
          <a:xfrm>
            <a:off x="548640" y="2478024"/>
            <a:ext cx="3566160" cy="2514600"/>
          </a:xfrm>
          <a:prstGeom prst="roundRect">
            <a:avLst>
              <a:gd name="adj" fmla="val 436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7" name="Shape 5"/>
          <p:cNvSpPr/>
          <p:nvPr/>
        </p:nvSpPr>
        <p:spPr>
          <a:xfrm>
            <a:off x="694944" y="2624328"/>
            <a:ext cx="717804" cy="1101852"/>
          </a:xfrm>
          <a:prstGeom prst="roundRect">
            <a:avLst>
              <a:gd name="adj" fmla="val 6369"/>
            </a:avLst>
          </a:prstGeom>
          <a:solidFill>
            <a:srgbClr val="1E90FF"/>
          </a:solidFill>
          <a:ln/>
        </p:spPr>
      </p:sp>
      <p:sp>
        <p:nvSpPr>
          <p:cNvPr id="8" name="Shape 6"/>
          <p:cNvSpPr/>
          <p:nvPr/>
        </p:nvSpPr>
        <p:spPr>
          <a:xfrm>
            <a:off x="694944" y="3762756"/>
            <a:ext cx="717804" cy="1101852"/>
          </a:xfrm>
          <a:prstGeom prst="roundRect">
            <a:avLst>
              <a:gd name="adj" fmla="val 6369"/>
            </a:avLst>
          </a:prstGeom>
          <a:solidFill>
            <a:srgbClr val="1E90FF"/>
          </a:solidFill>
          <a:ln/>
        </p:spPr>
      </p:sp>
      <p:sp>
        <p:nvSpPr>
          <p:cNvPr id="9" name="Shape 7"/>
          <p:cNvSpPr/>
          <p:nvPr/>
        </p:nvSpPr>
        <p:spPr>
          <a:xfrm>
            <a:off x="1613916" y="2624328"/>
            <a:ext cx="1435608" cy="1101852"/>
          </a:xfrm>
          <a:prstGeom prst="roundRect">
            <a:avLst>
              <a:gd name="adj" fmla="val 4149"/>
            </a:avLst>
          </a:prstGeom>
          <a:solidFill>
            <a:srgbClr val="1E90FF"/>
          </a:solidFill>
          <a:ln/>
        </p:spPr>
      </p:sp>
      <p:sp>
        <p:nvSpPr>
          <p:cNvPr id="10" name="Shape 8"/>
          <p:cNvSpPr/>
          <p:nvPr/>
        </p:nvSpPr>
        <p:spPr>
          <a:xfrm>
            <a:off x="1613916" y="3762756"/>
            <a:ext cx="1435608" cy="1101852"/>
          </a:xfrm>
          <a:prstGeom prst="roundRect">
            <a:avLst>
              <a:gd name="adj" fmla="val 4149"/>
            </a:avLst>
          </a:prstGeom>
          <a:solidFill>
            <a:srgbClr val="1E90FF"/>
          </a:solidFill>
          <a:ln/>
        </p:spPr>
      </p:sp>
      <p:sp>
        <p:nvSpPr>
          <p:cNvPr id="11" name="Shape 9"/>
          <p:cNvSpPr/>
          <p:nvPr/>
        </p:nvSpPr>
        <p:spPr>
          <a:xfrm>
            <a:off x="3250692" y="2624328"/>
            <a:ext cx="717804" cy="1101852"/>
          </a:xfrm>
          <a:prstGeom prst="roundRect">
            <a:avLst>
              <a:gd name="adj" fmla="val 6369"/>
            </a:avLst>
          </a:prstGeom>
          <a:solidFill>
            <a:srgbClr val="1E90FF"/>
          </a:solidFill>
          <a:ln/>
        </p:spPr>
      </p:sp>
      <p:sp>
        <p:nvSpPr>
          <p:cNvPr id="12" name="Shape 10"/>
          <p:cNvSpPr/>
          <p:nvPr/>
        </p:nvSpPr>
        <p:spPr>
          <a:xfrm>
            <a:off x="3250692" y="3762756"/>
            <a:ext cx="717804" cy="1101852"/>
          </a:xfrm>
          <a:prstGeom prst="roundRect">
            <a:avLst>
              <a:gd name="adj" fmla="val 6369"/>
            </a:avLst>
          </a:prstGeom>
          <a:solidFill>
            <a:srgbClr val="1E90FF"/>
          </a:solidFill>
          <a:ln/>
        </p:spPr>
      </p:sp>
      <p:sp>
        <p:nvSpPr>
          <p:cNvPr id="13" name="Text 11"/>
          <p:cNvSpPr/>
          <p:nvPr/>
        </p:nvSpPr>
        <p:spPr>
          <a:xfrm>
            <a:off x="548640" y="5120640"/>
            <a:ext cx="3566160" cy="457200"/>
          </a:xfrm>
          <a:prstGeom prst="rect">
            <a:avLst/>
          </a:prstGeom>
          <a:noFill/>
          <a:ln/>
        </p:spPr>
        <p:txBody>
          <a:bodyPr wrap="square" lIns="0" tIns="0" rIns="0" bIns="0" rtlCol="0" anchor="t"/>
          <a:lstStyle/>
          <a:p>
            <a:pPr algn="ctr" indent="0" marL="0">
              <a:buNone/>
            </a:pPr>
            <a:r>
              <a:rPr lang="en-US" sz="1250" dirty="0">
                <a:solidFill>
                  <a:srgbClr val="64748B"/>
                </a:solidFill>
                <a:latin typeface="Calibri" pitchFamily="34" charset="0"/>
                <a:ea typeface="Calibri" pitchFamily="34" charset="-122"/>
                <a:cs typeface="Calibri" pitchFamily="34" charset="-120"/>
              </a:rPr>
              <a:t>space between columns only</a:t>
            </a:r>
            <a:endParaRPr lang="en-US" sz="1250" dirty="0"/>
          </a:p>
        </p:txBody>
      </p:sp>
      <p:sp>
        <p:nvSpPr>
          <p:cNvPr id="14" name="Text 12"/>
          <p:cNvSpPr/>
          <p:nvPr/>
        </p:nvSpPr>
        <p:spPr>
          <a:xfrm>
            <a:off x="4315968" y="2057400"/>
            <a:ext cx="3566160" cy="310896"/>
          </a:xfrm>
          <a:prstGeom prst="rect">
            <a:avLst/>
          </a:prstGeom>
          <a:noFill/>
          <a:ln/>
        </p:spPr>
        <p:txBody>
          <a:bodyPr wrap="square" lIns="0" tIns="0" rIns="0" bIns="0" rtlCol="0" anchor="ctr"/>
          <a:lstStyle/>
          <a:p>
            <a:pPr algn="ctr" indent="0" marL="0">
              <a:buNone/>
            </a:pPr>
            <a:r>
              <a:rPr lang="en-US" sz="1300" b="1" dirty="0">
                <a:solidFill>
                  <a:srgbClr val="2563EB"/>
                </a:solidFill>
                <a:latin typeface="Courier New" pitchFamily="34" charset="0"/>
                <a:ea typeface="Courier New" pitchFamily="34" charset="-122"/>
                <a:cs typeface="Courier New" pitchFamily="34" charset="-120"/>
              </a:rPr>
              <a:t>row-gap: 20px</a:t>
            </a:r>
            <a:endParaRPr lang="en-US" sz="1300" dirty="0"/>
          </a:p>
        </p:txBody>
      </p:sp>
      <p:sp>
        <p:nvSpPr>
          <p:cNvPr id="15" name="Shape 13"/>
          <p:cNvSpPr/>
          <p:nvPr/>
        </p:nvSpPr>
        <p:spPr>
          <a:xfrm>
            <a:off x="4315968" y="2478024"/>
            <a:ext cx="3566160" cy="2514600"/>
          </a:xfrm>
          <a:prstGeom prst="roundRect">
            <a:avLst>
              <a:gd name="adj" fmla="val 436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6" name="Shape 14"/>
          <p:cNvSpPr/>
          <p:nvPr/>
        </p:nvSpPr>
        <p:spPr>
          <a:xfrm>
            <a:off x="4462272" y="2624328"/>
            <a:ext cx="800100" cy="1019556"/>
          </a:xfrm>
          <a:prstGeom prst="roundRect">
            <a:avLst>
              <a:gd name="adj" fmla="val 5714"/>
            </a:avLst>
          </a:prstGeom>
          <a:solidFill>
            <a:srgbClr val="1E90FF"/>
          </a:solidFill>
          <a:ln/>
        </p:spPr>
      </p:sp>
      <p:sp>
        <p:nvSpPr>
          <p:cNvPr id="17" name="Shape 15"/>
          <p:cNvSpPr/>
          <p:nvPr/>
        </p:nvSpPr>
        <p:spPr>
          <a:xfrm>
            <a:off x="4462272" y="3845052"/>
            <a:ext cx="800100" cy="1019556"/>
          </a:xfrm>
          <a:prstGeom prst="roundRect">
            <a:avLst>
              <a:gd name="adj" fmla="val 5714"/>
            </a:avLst>
          </a:prstGeom>
          <a:solidFill>
            <a:srgbClr val="1E90FF"/>
          </a:solidFill>
          <a:ln/>
        </p:spPr>
      </p:sp>
      <p:sp>
        <p:nvSpPr>
          <p:cNvPr id="18" name="Shape 16"/>
          <p:cNvSpPr/>
          <p:nvPr/>
        </p:nvSpPr>
        <p:spPr>
          <a:xfrm>
            <a:off x="5298948" y="2624328"/>
            <a:ext cx="1600200" cy="1019556"/>
          </a:xfrm>
          <a:prstGeom prst="roundRect">
            <a:avLst>
              <a:gd name="adj" fmla="val 4484"/>
            </a:avLst>
          </a:prstGeom>
          <a:solidFill>
            <a:srgbClr val="1E90FF"/>
          </a:solidFill>
          <a:ln/>
        </p:spPr>
      </p:sp>
      <p:sp>
        <p:nvSpPr>
          <p:cNvPr id="19" name="Shape 17"/>
          <p:cNvSpPr/>
          <p:nvPr/>
        </p:nvSpPr>
        <p:spPr>
          <a:xfrm>
            <a:off x="5298948" y="3845052"/>
            <a:ext cx="1600200" cy="1019556"/>
          </a:xfrm>
          <a:prstGeom prst="roundRect">
            <a:avLst>
              <a:gd name="adj" fmla="val 4484"/>
            </a:avLst>
          </a:prstGeom>
          <a:solidFill>
            <a:srgbClr val="1E90FF"/>
          </a:solidFill>
          <a:ln/>
        </p:spPr>
      </p:sp>
      <p:sp>
        <p:nvSpPr>
          <p:cNvPr id="20" name="Shape 18"/>
          <p:cNvSpPr/>
          <p:nvPr/>
        </p:nvSpPr>
        <p:spPr>
          <a:xfrm>
            <a:off x="6935724" y="2624328"/>
            <a:ext cx="800100" cy="1019556"/>
          </a:xfrm>
          <a:prstGeom prst="roundRect">
            <a:avLst>
              <a:gd name="adj" fmla="val 5714"/>
            </a:avLst>
          </a:prstGeom>
          <a:solidFill>
            <a:srgbClr val="1E90FF"/>
          </a:solidFill>
          <a:ln/>
        </p:spPr>
      </p:sp>
      <p:sp>
        <p:nvSpPr>
          <p:cNvPr id="21" name="Shape 19"/>
          <p:cNvSpPr/>
          <p:nvPr/>
        </p:nvSpPr>
        <p:spPr>
          <a:xfrm>
            <a:off x="6935724" y="3845052"/>
            <a:ext cx="800100" cy="1019556"/>
          </a:xfrm>
          <a:prstGeom prst="roundRect">
            <a:avLst>
              <a:gd name="adj" fmla="val 5714"/>
            </a:avLst>
          </a:prstGeom>
          <a:solidFill>
            <a:srgbClr val="1E90FF"/>
          </a:solidFill>
          <a:ln/>
        </p:spPr>
      </p:sp>
      <p:sp>
        <p:nvSpPr>
          <p:cNvPr id="22" name="Text 20"/>
          <p:cNvSpPr/>
          <p:nvPr/>
        </p:nvSpPr>
        <p:spPr>
          <a:xfrm>
            <a:off x="4315968" y="5120640"/>
            <a:ext cx="3566160" cy="457200"/>
          </a:xfrm>
          <a:prstGeom prst="rect">
            <a:avLst/>
          </a:prstGeom>
          <a:noFill/>
          <a:ln/>
        </p:spPr>
        <p:txBody>
          <a:bodyPr wrap="square" lIns="0" tIns="0" rIns="0" bIns="0" rtlCol="0" anchor="t"/>
          <a:lstStyle/>
          <a:p>
            <a:pPr algn="ctr" indent="0" marL="0">
              <a:buNone/>
            </a:pPr>
            <a:r>
              <a:rPr lang="en-US" sz="1250" dirty="0">
                <a:solidFill>
                  <a:srgbClr val="64748B"/>
                </a:solidFill>
                <a:latin typeface="Calibri" pitchFamily="34" charset="0"/>
                <a:ea typeface="Calibri" pitchFamily="34" charset="-122"/>
                <a:cs typeface="Calibri" pitchFamily="34" charset="-120"/>
              </a:rPr>
              <a:t>space between rows only</a:t>
            </a:r>
            <a:endParaRPr lang="en-US" sz="1250" dirty="0"/>
          </a:p>
        </p:txBody>
      </p:sp>
      <p:sp>
        <p:nvSpPr>
          <p:cNvPr id="23" name="Text 21"/>
          <p:cNvSpPr/>
          <p:nvPr/>
        </p:nvSpPr>
        <p:spPr>
          <a:xfrm>
            <a:off x="8083296" y="2057400"/>
            <a:ext cx="3566160" cy="310896"/>
          </a:xfrm>
          <a:prstGeom prst="rect">
            <a:avLst/>
          </a:prstGeom>
          <a:noFill/>
          <a:ln/>
        </p:spPr>
        <p:txBody>
          <a:bodyPr wrap="square" lIns="0" tIns="0" rIns="0" bIns="0" rtlCol="0" anchor="ctr"/>
          <a:lstStyle/>
          <a:p>
            <a:pPr algn="ctr" indent="0" marL="0">
              <a:buNone/>
            </a:pPr>
            <a:r>
              <a:rPr lang="en-US" sz="1300" b="1" dirty="0">
                <a:solidFill>
                  <a:srgbClr val="2563EB"/>
                </a:solidFill>
                <a:latin typeface="Courier New" pitchFamily="34" charset="0"/>
                <a:ea typeface="Courier New" pitchFamily="34" charset="-122"/>
                <a:cs typeface="Courier New" pitchFamily="34" charset="-120"/>
              </a:rPr>
              <a:t>gap: 20px</a:t>
            </a:r>
            <a:endParaRPr lang="en-US" sz="1300" dirty="0"/>
          </a:p>
        </p:txBody>
      </p:sp>
      <p:sp>
        <p:nvSpPr>
          <p:cNvPr id="24" name="Shape 22"/>
          <p:cNvSpPr/>
          <p:nvPr/>
        </p:nvSpPr>
        <p:spPr>
          <a:xfrm>
            <a:off x="8083296" y="2478024"/>
            <a:ext cx="3566160" cy="2514600"/>
          </a:xfrm>
          <a:prstGeom prst="roundRect">
            <a:avLst>
              <a:gd name="adj" fmla="val 436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5" name="Shape 23"/>
          <p:cNvSpPr/>
          <p:nvPr/>
        </p:nvSpPr>
        <p:spPr>
          <a:xfrm>
            <a:off x="8229600" y="2624328"/>
            <a:ext cx="717804" cy="1019556"/>
          </a:xfrm>
          <a:prstGeom prst="roundRect">
            <a:avLst>
              <a:gd name="adj" fmla="val 6369"/>
            </a:avLst>
          </a:prstGeom>
          <a:solidFill>
            <a:srgbClr val="1E90FF"/>
          </a:solidFill>
          <a:ln/>
        </p:spPr>
      </p:sp>
      <p:sp>
        <p:nvSpPr>
          <p:cNvPr id="26" name="Shape 24"/>
          <p:cNvSpPr/>
          <p:nvPr/>
        </p:nvSpPr>
        <p:spPr>
          <a:xfrm>
            <a:off x="8229600" y="3845052"/>
            <a:ext cx="717804" cy="1019556"/>
          </a:xfrm>
          <a:prstGeom prst="roundRect">
            <a:avLst>
              <a:gd name="adj" fmla="val 6369"/>
            </a:avLst>
          </a:prstGeom>
          <a:solidFill>
            <a:srgbClr val="1E90FF"/>
          </a:solidFill>
          <a:ln/>
        </p:spPr>
      </p:sp>
      <p:sp>
        <p:nvSpPr>
          <p:cNvPr id="27" name="Shape 25"/>
          <p:cNvSpPr/>
          <p:nvPr/>
        </p:nvSpPr>
        <p:spPr>
          <a:xfrm>
            <a:off x="9148572" y="2624328"/>
            <a:ext cx="1435608" cy="1019556"/>
          </a:xfrm>
          <a:prstGeom prst="roundRect">
            <a:avLst>
              <a:gd name="adj" fmla="val 4484"/>
            </a:avLst>
          </a:prstGeom>
          <a:solidFill>
            <a:srgbClr val="1E90FF"/>
          </a:solidFill>
          <a:ln/>
        </p:spPr>
      </p:sp>
      <p:sp>
        <p:nvSpPr>
          <p:cNvPr id="28" name="Shape 26"/>
          <p:cNvSpPr/>
          <p:nvPr/>
        </p:nvSpPr>
        <p:spPr>
          <a:xfrm>
            <a:off x="9148572" y="3845052"/>
            <a:ext cx="1435608" cy="1019556"/>
          </a:xfrm>
          <a:prstGeom prst="roundRect">
            <a:avLst>
              <a:gd name="adj" fmla="val 4484"/>
            </a:avLst>
          </a:prstGeom>
          <a:solidFill>
            <a:srgbClr val="1E90FF"/>
          </a:solidFill>
          <a:ln/>
        </p:spPr>
      </p:sp>
      <p:sp>
        <p:nvSpPr>
          <p:cNvPr id="29" name="Shape 27"/>
          <p:cNvSpPr/>
          <p:nvPr/>
        </p:nvSpPr>
        <p:spPr>
          <a:xfrm>
            <a:off x="10785348" y="2624328"/>
            <a:ext cx="717804" cy="1019556"/>
          </a:xfrm>
          <a:prstGeom prst="roundRect">
            <a:avLst>
              <a:gd name="adj" fmla="val 6369"/>
            </a:avLst>
          </a:prstGeom>
          <a:solidFill>
            <a:srgbClr val="1E90FF"/>
          </a:solidFill>
          <a:ln/>
        </p:spPr>
      </p:sp>
      <p:sp>
        <p:nvSpPr>
          <p:cNvPr id="30" name="Shape 28"/>
          <p:cNvSpPr/>
          <p:nvPr/>
        </p:nvSpPr>
        <p:spPr>
          <a:xfrm>
            <a:off x="10785348" y="3845052"/>
            <a:ext cx="717804" cy="1019556"/>
          </a:xfrm>
          <a:prstGeom prst="roundRect">
            <a:avLst>
              <a:gd name="adj" fmla="val 6369"/>
            </a:avLst>
          </a:prstGeom>
          <a:solidFill>
            <a:srgbClr val="1E90FF"/>
          </a:solidFill>
          <a:ln/>
        </p:spPr>
      </p:sp>
      <p:sp>
        <p:nvSpPr>
          <p:cNvPr id="31" name="Text 29"/>
          <p:cNvSpPr/>
          <p:nvPr/>
        </p:nvSpPr>
        <p:spPr>
          <a:xfrm>
            <a:off x="8083296" y="5120640"/>
            <a:ext cx="3566160" cy="457200"/>
          </a:xfrm>
          <a:prstGeom prst="rect">
            <a:avLst/>
          </a:prstGeom>
          <a:noFill/>
          <a:ln/>
        </p:spPr>
        <p:txBody>
          <a:bodyPr wrap="square" lIns="0" tIns="0" rIns="0" bIns="0" rtlCol="0" anchor="t"/>
          <a:lstStyle/>
          <a:p>
            <a:pPr algn="ctr" indent="0" marL="0">
              <a:buNone/>
            </a:pPr>
            <a:r>
              <a:rPr lang="en-US" sz="1250" dirty="0">
                <a:solidFill>
                  <a:srgbClr val="64748B"/>
                </a:solidFill>
                <a:latin typeface="Calibri" pitchFamily="34" charset="0"/>
                <a:ea typeface="Calibri" pitchFamily="34" charset="-122"/>
                <a:cs typeface="Calibri" pitchFamily="34" charset="-120"/>
              </a:rPr>
              <a:t>both at once, one property</a:t>
            </a:r>
            <a:endParaRPr lang="en-US" sz="1250" dirty="0"/>
          </a:p>
        </p:txBody>
      </p:sp>
      <p:sp>
        <p:nvSpPr>
          <p:cNvPr id="32" name="Shape 30"/>
          <p:cNvSpPr/>
          <p:nvPr/>
        </p:nvSpPr>
        <p:spPr>
          <a:xfrm>
            <a:off x="3108960" y="5532120"/>
            <a:ext cx="5943600" cy="1005840"/>
          </a:xfrm>
          <a:prstGeom prst="roundRect">
            <a:avLst>
              <a:gd name="adj" fmla="val 10909"/>
            </a:avLst>
          </a:prstGeom>
          <a:solidFill>
            <a:srgbClr val="0C1526"/>
          </a:solidFill>
          <a:ln/>
          <a:effectLst>
            <a:outerShdw sx="100000" sy="100000" kx="0" ky="0" algn="bl" rotWithShape="0" blurRad="101600" dist="38100" dir="5400000">
              <a:srgbClr val="0B1220">
                <a:alpha val="18000"/>
              </a:srgbClr>
            </a:outerShdw>
          </a:effectLst>
        </p:spPr>
      </p:sp>
      <p:sp>
        <p:nvSpPr>
          <p:cNvPr id="33" name="Shape 31"/>
          <p:cNvSpPr/>
          <p:nvPr/>
        </p:nvSpPr>
        <p:spPr>
          <a:xfrm>
            <a:off x="3364992" y="5751576"/>
            <a:ext cx="128016" cy="128016"/>
          </a:xfrm>
          <a:prstGeom prst="ellipse">
            <a:avLst/>
          </a:prstGeom>
          <a:solidFill>
            <a:srgbClr val="FF5F56"/>
          </a:solidFill>
          <a:ln/>
        </p:spPr>
      </p:sp>
      <p:sp>
        <p:nvSpPr>
          <p:cNvPr id="34" name="Shape 32"/>
          <p:cNvSpPr/>
          <p:nvPr/>
        </p:nvSpPr>
        <p:spPr>
          <a:xfrm>
            <a:off x="3602736" y="5751576"/>
            <a:ext cx="128016" cy="128016"/>
          </a:xfrm>
          <a:prstGeom prst="ellipse">
            <a:avLst/>
          </a:prstGeom>
          <a:solidFill>
            <a:srgbClr val="FFBD2E"/>
          </a:solidFill>
          <a:ln/>
        </p:spPr>
      </p:sp>
      <p:sp>
        <p:nvSpPr>
          <p:cNvPr id="35" name="Shape 33"/>
          <p:cNvSpPr/>
          <p:nvPr/>
        </p:nvSpPr>
        <p:spPr>
          <a:xfrm>
            <a:off x="3840480" y="5751576"/>
            <a:ext cx="128016" cy="128016"/>
          </a:xfrm>
          <a:prstGeom prst="ellipse">
            <a:avLst/>
          </a:prstGeom>
          <a:solidFill>
            <a:srgbClr val="27C93F"/>
          </a:solidFill>
          <a:ln/>
        </p:spPr>
      </p:sp>
      <p:sp>
        <p:nvSpPr>
          <p:cNvPr id="36" name="Text 34"/>
          <p:cNvSpPr/>
          <p:nvPr/>
        </p:nvSpPr>
        <p:spPr>
          <a:xfrm>
            <a:off x="3364992" y="6062472"/>
            <a:ext cx="5431536" cy="292608"/>
          </a:xfrm>
          <a:prstGeom prst="rect">
            <a:avLst/>
          </a:prstGeom>
          <a:noFill/>
          <a:ln/>
        </p:spPr>
        <p:txBody>
          <a:bodyPr wrap="square" lIns="0" tIns="0" rIns="0" bIns="0" rtlCol="0" anchor="t"/>
          <a:lstStyle/>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container</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9CC5FF"/>
                </a:solidFill>
                <a:latin typeface="Courier New" pitchFamily="34" charset="0"/>
                <a:ea typeface="Courier New" pitchFamily="34" charset="-122"/>
                <a:cs typeface="Courier New" pitchFamily="34" charset="-120"/>
              </a:rPr>
              <a:t>gap</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20px</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37" name="Text 35"/>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548640" y="457200"/>
            <a:ext cx="3291840" cy="310896"/>
          </a:xfrm>
          <a:prstGeom prst="roundRect">
            <a:avLst>
              <a:gd name="adj" fmla="val 50000"/>
            </a:avLst>
          </a:prstGeom>
          <a:solidFill>
            <a:srgbClr val="FB7185"/>
          </a:solidFill>
          <a:ln/>
        </p:spPr>
      </p:sp>
      <p:sp>
        <p:nvSpPr>
          <p:cNvPr id="3" name="Text 1"/>
          <p:cNvSpPr/>
          <p:nvPr/>
        </p:nvSpPr>
        <p:spPr>
          <a:xfrm>
            <a:off x="548640" y="457200"/>
            <a:ext cx="32918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LIVE CODE  -  SWITCH TO VS CODE</a:t>
            </a:r>
            <a:endParaRPr lang="en-US" sz="1100" dirty="0"/>
          </a:p>
        </p:txBody>
      </p:sp>
      <p:sp>
        <p:nvSpPr>
          <p:cNvPr id="4" name="Text 2"/>
          <p:cNvSpPr/>
          <p:nvPr/>
        </p:nvSpPr>
        <p:spPr>
          <a:xfrm>
            <a:off x="548640" y="896112"/>
            <a:ext cx="109728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Rows, and the repeat shortcut</a:t>
            </a:r>
            <a:endParaRPr lang="en-US" sz="3000" dirty="0"/>
          </a:p>
        </p:txBody>
      </p:sp>
      <p:sp>
        <p:nvSpPr>
          <p:cNvPr id="5" name="Shape 3"/>
          <p:cNvSpPr/>
          <p:nvPr/>
        </p:nvSpPr>
        <p:spPr>
          <a:xfrm>
            <a:off x="548640" y="1691640"/>
            <a:ext cx="6766560" cy="4480560"/>
          </a:xfrm>
          <a:prstGeom prst="roundRect">
            <a:avLst>
              <a:gd name="adj" fmla="val 2449"/>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911096"/>
            <a:ext cx="128016" cy="128016"/>
          </a:xfrm>
          <a:prstGeom prst="ellipse">
            <a:avLst/>
          </a:prstGeom>
          <a:solidFill>
            <a:srgbClr val="FF5F56"/>
          </a:solidFill>
          <a:ln/>
        </p:spPr>
      </p:sp>
      <p:sp>
        <p:nvSpPr>
          <p:cNvPr id="7" name="Shape 5"/>
          <p:cNvSpPr/>
          <p:nvPr/>
        </p:nvSpPr>
        <p:spPr>
          <a:xfrm>
            <a:off x="1042416" y="1911096"/>
            <a:ext cx="128016" cy="128016"/>
          </a:xfrm>
          <a:prstGeom prst="ellipse">
            <a:avLst/>
          </a:prstGeom>
          <a:solidFill>
            <a:srgbClr val="FFBD2E"/>
          </a:solidFill>
          <a:ln/>
        </p:spPr>
      </p:sp>
      <p:sp>
        <p:nvSpPr>
          <p:cNvPr id="8" name="Shape 6"/>
          <p:cNvSpPr/>
          <p:nvPr/>
        </p:nvSpPr>
        <p:spPr>
          <a:xfrm>
            <a:off x="1280160" y="1911096"/>
            <a:ext cx="128016" cy="128016"/>
          </a:xfrm>
          <a:prstGeom prst="ellipse">
            <a:avLst/>
          </a:prstGeom>
          <a:solidFill>
            <a:srgbClr val="27C93F"/>
          </a:solidFill>
          <a:ln/>
        </p:spPr>
      </p:sp>
      <p:sp>
        <p:nvSpPr>
          <p:cNvPr id="9" name="Text 7"/>
          <p:cNvSpPr/>
          <p:nvPr/>
        </p:nvSpPr>
        <p:spPr>
          <a:xfrm>
            <a:off x="1645920" y="1801368"/>
            <a:ext cx="54864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styles.css</a:t>
            </a:r>
            <a:endParaRPr lang="en-US" sz="1100" dirty="0"/>
          </a:p>
        </p:txBody>
      </p:sp>
      <p:sp>
        <p:nvSpPr>
          <p:cNvPr id="10" name="Text 8"/>
          <p:cNvSpPr/>
          <p:nvPr/>
        </p:nvSpPr>
        <p:spPr>
          <a:xfrm>
            <a:off x="804672" y="2221992"/>
            <a:ext cx="6254496" cy="3767328"/>
          </a:xfrm>
          <a:prstGeom prst="rect">
            <a:avLst/>
          </a:prstGeom>
          <a:noFill/>
          <a:ln/>
        </p:spPr>
        <p:txBody>
          <a:bodyPr wrap="square" lIns="0" tIns="0" rIns="0" bIns="0" rtlCol="0" anchor="t"/>
          <a:lstStyle/>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container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display</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grid</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grid-template-columns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2</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grid-template-rows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2</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gap</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20px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same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three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equal</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columns</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less</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typing</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container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grid-template-columns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repeat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3</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7498080" y="1691640"/>
            <a:ext cx="4160520" cy="4480560"/>
          </a:xfrm>
          <a:prstGeom prst="roundRect">
            <a:avLst>
              <a:gd name="adj" fmla="val 2637"/>
            </a:avLst>
          </a:prstGeom>
          <a:solidFill>
            <a:srgbClr val="1B2A4A"/>
          </a:solidFill>
          <a:ln/>
        </p:spPr>
      </p:sp>
      <p:sp>
        <p:nvSpPr>
          <p:cNvPr id="12" name="Text 10"/>
          <p:cNvSpPr/>
          <p:nvPr/>
        </p:nvSpPr>
        <p:spPr>
          <a:xfrm>
            <a:off x="7726680" y="1874520"/>
            <a:ext cx="3749040" cy="320040"/>
          </a:xfrm>
          <a:prstGeom prst="rect">
            <a:avLst/>
          </a:prstGeom>
          <a:noFill/>
          <a:ln/>
        </p:spPr>
        <p:txBody>
          <a:bodyPr wrap="square" lIns="0" tIns="0" rIns="0" bIns="0" rtlCol="0" anchor="ctr"/>
          <a:lstStyle/>
          <a:p>
            <a:pPr algn="l" indent="0" marL="0">
              <a:buNone/>
            </a:pPr>
            <a:r>
              <a:rPr lang="en-US" sz="1200" b="1" spc="150" kern="0" dirty="0">
                <a:solidFill>
                  <a:srgbClr val="F59E0B"/>
                </a:solidFill>
                <a:latin typeface="Calibri" pitchFamily="34" charset="0"/>
                <a:ea typeface="Calibri" pitchFamily="34" charset="-122"/>
                <a:cs typeface="Calibri" pitchFamily="34" charset="-120"/>
              </a:rPr>
              <a:t>SAY THIS WHILE YOU TYPE</a:t>
            </a:r>
            <a:endParaRPr lang="en-US" sz="1200" dirty="0"/>
          </a:p>
        </p:txBody>
      </p:sp>
      <p:sp>
        <p:nvSpPr>
          <p:cNvPr id="13" name="Text 11"/>
          <p:cNvSpPr/>
          <p:nvPr/>
        </p:nvSpPr>
        <p:spPr>
          <a:xfrm>
            <a:off x="7726680" y="2286000"/>
            <a:ext cx="3794760" cy="3749040"/>
          </a:xfrm>
          <a:prstGeom prst="rect">
            <a:avLst/>
          </a:prstGeom>
          <a:noFill/>
          <a:ln/>
        </p:spPr>
        <p:txBody>
          <a:bodyPr wrap="square" lIns="0" tIns="0" rIns="0" bIns="0" rtlCol="0" anchor="t"/>
          <a:lstStyle/>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Rows work exactly like columns, just vertically.</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1fr 2fr 1fr makes the middle row twice as tall.</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Now imagine twelve equal columns. That is a lot of typing.</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repeat(3, 1fr) means: this track, three times.</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Inspect the items and read out the computed sizes.</a:t>
            </a:r>
            <a:endParaRPr lang="en-US" sz="1350" dirty="0"/>
          </a:p>
        </p:txBody>
      </p:sp>
      <p:sp>
        <p:nvSpPr>
          <p:cNvPr id="14" name="Text 1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Responsive Layout and CSS Grid</a:t>
            </a:r>
            <a:endParaRPr lang="en-US" sz="1000" dirty="0"/>
          </a:p>
        </p:txBody>
      </p:sp>
      <p:sp>
        <p:nvSpPr>
          <p:cNvPr id="15" name="Text 1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408176" cy="310896"/>
          </a:xfrm>
          <a:prstGeom prst="roundRect">
            <a:avLst>
              <a:gd name="adj" fmla="val 50000"/>
            </a:avLst>
          </a:prstGeom>
          <a:solidFill>
            <a:srgbClr val="2563EB"/>
          </a:solidFill>
          <a:ln/>
        </p:spPr>
      </p:sp>
      <p:sp>
        <p:nvSpPr>
          <p:cNvPr id="3" name="Text 1"/>
          <p:cNvSpPr/>
          <p:nvPr/>
        </p:nvSpPr>
        <p:spPr>
          <a:xfrm>
            <a:off x="548640" y="457200"/>
            <a:ext cx="140817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MORE CONTROL</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Implicit rows and alignment</a:t>
            </a:r>
            <a:endParaRPr lang="en-US" sz="3400" dirty="0"/>
          </a:p>
        </p:txBody>
      </p:sp>
      <p:sp>
        <p:nvSpPr>
          <p:cNvPr id="5" name="Shape 3"/>
          <p:cNvSpPr/>
          <p:nvPr/>
        </p:nvSpPr>
        <p:spPr>
          <a:xfrm>
            <a:off x="548640" y="1965960"/>
            <a:ext cx="5440680" cy="3977640"/>
          </a:xfrm>
          <a:prstGeom prst="roundRect">
            <a:avLst>
              <a:gd name="adj" fmla="val 275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Text 4"/>
          <p:cNvSpPr/>
          <p:nvPr/>
        </p:nvSpPr>
        <p:spPr>
          <a:xfrm>
            <a:off x="822960" y="2194560"/>
            <a:ext cx="4937760" cy="320040"/>
          </a:xfrm>
          <a:prstGeom prst="rect">
            <a:avLst/>
          </a:prstGeom>
          <a:noFill/>
          <a:ln/>
        </p:spPr>
        <p:txBody>
          <a:bodyPr wrap="square" lIns="0" tIns="0" rIns="0" bIns="0" rtlCol="0" anchor="ctr"/>
          <a:lstStyle/>
          <a:p>
            <a:pPr algn="l" indent="0" marL="0">
              <a:buNone/>
            </a:pPr>
            <a:r>
              <a:rPr lang="en-US" sz="1400" b="1" dirty="0">
                <a:solidFill>
                  <a:srgbClr val="2563EB"/>
                </a:solidFill>
                <a:latin typeface="Courier New" pitchFamily="34" charset="0"/>
                <a:ea typeface="Courier New" pitchFamily="34" charset="-122"/>
                <a:cs typeface="Courier New" pitchFamily="34" charset="-120"/>
              </a:rPr>
              <a:t>grid-auto-rows: 200px</a:t>
            </a:r>
            <a:endParaRPr lang="en-US" sz="1400" dirty="0"/>
          </a:p>
        </p:txBody>
      </p:sp>
      <p:sp>
        <p:nvSpPr>
          <p:cNvPr id="7" name="Text 5"/>
          <p:cNvSpPr/>
          <p:nvPr/>
        </p:nvSpPr>
        <p:spPr>
          <a:xfrm>
            <a:off x="822960" y="2606040"/>
            <a:ext cx="4937760" cy="1371600"/>
          </a:xfrm>
          <a:prstGeom prst="rect">
            <a:avLst/>
          </a:prstGeom>
          <a:noFill/>
          <a:ln/>
        </p:spPr>
        <p:txBody>
          <a:bodyPr wrap="square" lIns="0" tIns="0" rIns="0" bIns="0" rtlCol="0" anchor="t"/>
          <a:lstStyle/>
          <a:p>
            <a:pPr algn="l" indent="0" marL="0">
              <a:buNone/>
            </a:pPr>
            <a:r>
              <a:rPr lang="en-US" sz="1350" dirty="0">
                <a:solidFill>
                  <a:srgbClr val="64748B"/>
                </a:solidFill>
                <a:latin typeface="Calibri" pitchFamily="34" charset="0"/>
                <a:ea typeface="Calibri" pitchFamily="34" charset="-122"/>
                <a:cs typeface="Calibri" pitchFamily="34" charset="-120"/>
              </a:rPr>
              <a:t>When content spills past the rows you defined, Grid creates rows automatically. This sets the height of those implicit rows so the layout stays even instead of growing with the content.</a:t>
            </a:r>
            <a:endParaRPr lang="en-US" sz="1350" dirty="0"/>
          </a:p>
        </p:txBody>
      </p:sp>
      <p:sp>
        <p:nvSpPr>
          <p:cNvPr id="8" name="Shape 6"/>
          <p:cNvSpPr/>
          <p:nvPr/>
        </p:nvSpPr>
        <p:spPr>
          <a:xfrm>
            <a:off x="822960" y="3931920"/>
            <a:ext cx="4937760" cy="1783080"/>
          </a:xfrm>
          <a:prstGeom prst="roundRect">
            <a:avLst>
              <a:gd name="adj" fmla="val 4103"/>
            </a:avLst>
          </a:prstGeom>
          <a:solidFill>
            <a:srgbClr val="F1F5F9"/>
          </a:solidFill>
          <a:ln/>
        </p:spPr>
      </p:sp>
      <p:sp>
        <p:nvSpPr>
          <p:cNvPr id="9" name="Shape 7"/>
          <p:cNvSpPr/>
          <p:nvPr/>
        </p:nvSpPr>
        <p:spPr>
          <a:xfrm>
            <a:off x="914400" y="4023360"/>
            <a:ext cx="1524000" cy="754380"/>
          </a:xfrm>
          <a:prstGeom prst="roundRect">
            <a:avLst>
              <a:gd name="adj" fmla="val 6061"/>
            </a:avLst>
          </a:prstGeom>
          <a:solidFill>
            <a:srgbClr val="1E90FF"/>
          </a:solidFill>
          <a:ln/>
        </p:spPr>
      </p:sp>
      <p:sp>
        <p:nvSpPr>
          <p:cNvPr id="10" name="Text 8"/>
          <p:cNvSpPr/>
          <p:nvPr/>
        </p:nvSpPr>
        <p:spPr>
          <a:xfrm>
            <a:off x="914400" y="4023360"/>
            <a:ext cx="1524000" cy="7543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Shape 9"/>
          <p:cNvSpPr/>
          <p:nvPr/>
        </p:nvSpPr>
        <p:spPr>
          <a:xfrm>
            <a:off x="2529840" y="4023360"/>
            <a:ext cx="1524000" cy="754380"/>
          </a:xfrm>
          <a:prstGeom prst="roundRect">
            <a:avLst>
              <a:gd name="adj" fmla="val 6061"/>
            </a:avLst>
          </a:prstGeom>
          <a:solidFill>
            <a:srgbClr val="1E90FF"/>
          </a:solidFill>
          <a:ln/>
        </p:spPr>
      </p:sp>
      <p:sp>
        <p:nvSpPr>
          <p:cNvPr id="12" name="Text 10"/>
          <p:cNvSpPr/>
          <p:nvPr/>
        </p:nvSpPr>
        <p:spPr>
          <a:xfrm>
            <a:off x="2529840" y="4023360"/>
            <a:ext cx="1524000" cy="7543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Shape 11"/>
          <p:cNvSpPr/>
          <p:nvPr/>
        </p:nvSpPr>
        <p:spPr>
          <a:xfrm>
            <a:off x="4145280" y="4023360"/>
            <a:ext cx="1524000" cy="754380"/>
          </a:xfrm>
          <a:prstGeom prst="roundRect">
            <a:avLst>
              <a:gd name="adj" fmla="val 6061"/>
            </a:avLst>
          </a:prstGeom>
          <a:solidFill>
            <a:srgbClr val="1E90FF"/>
          </a:solidFill>
          <a:ln/>
        </p:spPr>
      </p:sp>
      <p:sp>
        <p:nvSpPr>
          <p:cNvPr id="14" name="Text 12"/>
          <p:cNvSpPr/>
          <p:nvPr/>
        </p:nvSpPr>
        <p:spPr>
          <a:xfrm>
            <a:off x="4145280" y="4023360"/>
            <a:ext cx="1524000" cy="7543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Shape 13"/>
          <p:cNvSpPr/>
          <p:nvPr/>
        </p:nvSpPr>
        <p:spPr>
          <a:xfrm>
            <a:off x="914400" y="4869180"/>
            <a:ext cx="1524000" cy="754380"/>
          </a:xfrm>
          <a:prstGeom prst="roundRect">
            <a:avLst>
              <a:gd name="adj" fmla="val 6061"/>
            </a:avLst>
          </a:prstGeom>
          <a:solidFill>
            <a:srgbClr val="22C55E"/>
          </a:solidFill>
          <a:ln/>
        </p:spPr>
      </p:sp>
      <p:sp>
        <p:nvSpPr>
          <p:cNvPr id="16" name="Text 14"/>
          <p:cNvSpPr/>
          <p:nvPr/>
        </p:nvSpPr>
        <p:spPr>
          <a:xfrm>
            <a:off x="914400" y="4869180"/>
            <a:ext cx="1524000" cy="7543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Shape 15"/>
          <p:cNvSpPr/>
          <p:nvPr/>
        </p:nvSpPr>
        <p:spPr>
          <a:xfrm>
            <a:off x="2529840" y="4869180"/>
            <a:ext cx="1524000" cy="754380"/>
          </a:xfrm>
          <a:prstGeom prst="roundRect">
            <a:avLst>
              <a:gd name="adj" fmla="val 6061"/>
            </a:avLst>
          </a:prstGeom>
          <a:solidFill>
            <a:srgbClr val="22C55E"/>
          </a:solidFill>
          <a:ln/>
        </p:spPr>
      </p:sp>
      <p:sp>
        <p:nvSpPr>
          <p:cNvPr id="18" name="Text 16"/>
          <p:cNvSpPr/>
          <p:nvPr/>
        </p:nvSpPr>
        <p:spPr>
          <a:xfrm>
            <a:off x="2529840" y="4869180"/>
            <a:ext cx="1524000" cy="7543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Shape 17"/>
          <p:cNvSpPr/>
          <p:nvPr/>
        </p:nvSpPr>
        <p:spPr>
          <a:xfrm>
            <a:off x="4145280" y="4869180"/>
            <a:ext cx="1524000" cy="754380"/>
          </a:xfrm>
          <a:prstGeom prst="roundRect">
            <a:avLst>
              <a:gd name="adj" fmla="val 6061"/>
            </a:avLst>
          </a:prstGeom>
          <a:solidFill>
            <a:srgbClr val="22C55E"/>
          </a:solidFill>
          <a:ln/>
        </p:spPr>
      </p:sp>
      <p:sp>
        <p:nvSpPr>
          <p:cNvPr id="20" name="Text 18"/>
          <p:cNvSpPr/>
          <p:nvPr/>
        </p:nvSpPr>
        <p:spPr>
          <a:xfrm>
            <a:off x="4145280" y="4869180"/>
            <a:ext cx="1524000" cy="7543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822960" y="5760720"/>
            <a:ext cx="4937760" cy="274320"/>
          </a:xfrm>
          <a:prstGeom prst="rect">
            <a:avLst/>
          </a:prstGeom>
          <a:noFill/>
          <a:ln/>
        </p:spPr>
        <p:txBody>
          <a:bodyPr wrap="square" lIns="0" tIns="0" rIns="0" bIns="0" rtlCol="0" anchor="ctr"/>
          <a:lstStyle/>
          <a:p>
            <a:pPr algn="l" indent="0" marL="0">
              <a:buNone/>
            </a:pPr>
            <a:r>
              <a:rPr lang="en-US" sz="1150" i="1" dirty="0">
                <a:solidFill>
                  <a:srgbClr val="64748B"/>
                </a:solidFill>
                <a:latin typeface="Calibri" pitchFamily="34" charset="0"/>
                <a:ea typeface="Calibri" pitchFamily="34" charset="-122"/>
                <a:cs typeface="Calibri" pitchFamily="34" charset="-120"/>
              </a:rPr>
              <a:t>green rows were created implicitly, all 200px tall</a:t>
            </a:r>
            <a:endParaRPr lang="en-US" sz="1150" dirty="0"/>
          </a:p>
        </p:txBody>
      </p:sp>
      <p:sp>
        <p:nvSpPr>
          <p:cNvPr id="22" name="Shape 20"/>
          <p:cNvSpPr/>
          <p:nvPr/>
        </p:nvSpPr>
        <p:spPr>
          <a:xfrm>
            <a:off x="6217920" y="1965960"/>
            <a:ext cx="5440680" cy="3977640"/>
          </a:xfrm>
          <a:prstGeom prst="roundRect">
            <a:avLst>
              <a:gd name="adj" fmla="val 2759"/>
            </a:avLst>
          </a:prstGeom>
          <a:solidFill>
            <a:srgbClr val="E5EEFF"/>
          </a:solidFill>
          <a:ln/>
          <a:effectLst>
            <a:outerShdw sx="100000" sy="100000" kx="0" ky="0" algn="bl" rotWithShape="0" blurRad="101600" dist="38100" dir="5400000">
              <a:srgbClr val="0B1220">
                <a:alpha val="18000"/>
              </a:srgbClr>
            </a:outerShdw>
          </a:effectLst>
        </p:spPr>
      </p:sp>
      <p:sp>
        <p:nvSpPr>
          <p:cNvPr id="23" name="Text 21"/>
          <p:cNvSpPr/>
          <p:nvPr/>
        </p:nvSpPr>
        <p:spPr>
          <a:xfrm>
            <a:off x="6492240" y="2194560"/>
            <a:ext cx="4937760" cy="365760"/>
          </a:xfrm>
          <a:prstGeom prst="rect">
            <a:avLst/>
          </a:prstGeom>
          <a:noFill/>
          <a:ln/>
        </p:spPr>
        <p:txBody>
          <a:bodyPr wrap="square" lIns="0" tIns="0" rIns="0" bIns="0" rtlCol="0" anchor="ctr"/>
          <a:lstStyle/>
          <a:p>
            <a:pPr algn="l" indent="0" marL="0">
              <a:buNone/>
            </a:pPr>
            <a:r>
              <a:rPr lang="en-US" sz="1650" b="1" dirty="0">
                <a:solidFill>
                  <a:srgbClr val="0F172A"/>
                </a:solidFill>
                <a:latin typeface="Calibri" pitchFamily="34" charset="0"/>
                <a:ea typeface="Calibri" pitchFamily="34" charset="-122"/>
                <a:cs typeface="Calibri" pitchFamily="34" charset="-120"/>
              </a:rPr>
              <a:t>Flexbox properties still work</a:t>
            </a:r>
            <a:endParaRPr lang="en-US" sz="1650" dirty="0"/>
          </a:p>
        </p:txBody>
      </p:sp>
      <p:sp>
        <p:nvSpPr>
          <p:cNvPr id="24" name="Text 22"/>
          <p:cNvSpPr/>
          <p:nvPr/>
        </p:nvSpPr>
        <p:spPr>
          <a:xfrm>
            <a:off x="6492240" y="2606040"/>
            <a:ext cx="4937760" cy="914400"/>
          </a:xfrm>
          <a:prstGeom prst="rect">
            <a:avLst/>
          </a:prstGeom>
          <a:noFill/>
          <a:ln/>
        </p:spPr>
        <p:txBody>
          <a:bodyPr wrap="square" lIns="0" tIns="0" rIns="0" bIns="0" rtlCol="0" anchor="t"/>
          <a:lstStyle/>
          <a:p>
            <a:pPr algn="l" indent="0" marL="0">
              <a:buNone/>
            </a:pPr>
            <a:r>
              <a:rPr lang="en-US" sz="1350" dirty="0">
                <a:solidFill>
                  <a:srgbClr val="64748B"/>
                </a:solidFill>
                <a:latin typeface="Calibri" pitchFamily="34" charset="0"/>
                <a:ea typeface="Calibri" pitchFamily="34" charset="-122"/>
                <a:cs typeface="Calibri" pitchFamily="34" charset="-120"/>
              </a:rPr>
              <a:t>align-items, justify-content, align-self and the rest all apply to Grid too. Everything you learned last class carries over.</a:t>
            </a:r>
            <a:endParaRPr lang="en-US" sz="1350" dirty="0"/>
          </a:p>
        </p:txBody>
      </p:sp>
      <p:sp>
        <p:nvSpPr>
          <p:cNvPr id="25" name="Text 23"/>
          <p:cNvSpPr/>
          <p:nvPr/>
        </p:nvSpPr>
        <p:spPr>
          <a:xfrm>
            <a:off x="6492240" y="3566160"/>
            <a:ext cx="4937760" cy="292608"/>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align-items: end</a:t>
            </a:r>
            <a:endParaRPr lang="en-US" sz="1300" dirty="0"/>
          </a:p>
        </p:txBody>
      </p:sp>
      <p:sp>
        <p:nvSpPr>
          <p:cNvPr id="26" name="Shape 24"/>
          <p:cNvSpPr/>
          <p:nvPr/>
        </p:nvSpPr>
        <p:spPr>
          <a:xfrm>
            <a:off x="6492240" y="3931920"/>
            <a:ext cx="4937760" cy="1783080"/>
          </a:xfrm>
          <a:prstGeom prst="roundRect">
            <a:avLst>
              <a:gd name="adj" fmla="val 615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7" name="Shape 25"/>
          <p:cNvSpPr/>
          <p:nvPr/>
        </p:nvSpPr>
        <p:spPr>
          <a:xfrm>
            <a:off x="6638544" y="4892040"/>
            <a:ext cx="1487424" cy="685800"/>
          </a:xfrm>
          <a:prstGeom prst="roundRect">
            <a:avLst>
              <a:gd name="adj" fmla="val 6667"/>
            </a:avLst>
          </a:prstGeom>
          <a:solidFill>
            <a:srgbClr val="1E90FF"/>
          </a:solidFill>
          <a:ln/>
        </p:spPr>
      </p:sp>
      <p:sp>
        <p:nvSpPr>
          <p:cNvPr id="28" name="Text 26"/>
          <p:cNvSpPr/>
          <p:nvPr/>
        </p:nvSpPr>
        <p:spPr>
          <a:xfrm>
            <a:off x="6638544" y="4892040"/>
            <a:ext cx="1487424"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9" name="Shape 27"/>
          <p:cNvSpPr/>
          <p:nvPr/>
        </p:nvSpPr>
        <p:spPr>
          <a:xfrm>
            <a:off x="8217408" y="4892040"/>
            <a:ext cx="1487424" cy="685800"/>
          </a:xfrm>
          <a:prstGeom prst="roundRect">
            <a:avLst>
              <a:gd name="adj" fmla="val 6667"/>
            </a:avLst>
          </a:prstGeom>
          <a:solidFill>
            <a:srgbClr val="1E90FF"/>
          </a:solidFill>
          <a:ln/>
        </p:spPr>
      </p:sp>
      <p:sp>
        <p:nvSpPr>
          <p:cNvPr id="30" name="Text 28"/>
          <p:cNvSpPr/>
          <p:nvPr/>
        </p:nvSpPr>
        <p:spPr>
          <a:xfrm>
            <a:off x="8217408" y="4892040"/>
            <a:ext cx="1487424"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9"/>
          <p:cNvSpPr/>
          <p:nvPr/>
        </p:nvSpPr>
        <p:spPr>
          <a:xfrm>
            <a:off x="9796272" y="4892040"/>
            <a:ext cx="1487424" cy="685800"/>
          </a:xfrm>
          <a:prstGeom prst="roundRect">
            <a:avLst>
              <a:gd name="adj" fmla="val 6667"/>
            </a:avLst>
          </a:prstGeom>
          <a:solidFill>
            <a:srgbClr val="1E90FF"/>
          </a:solidFill>
          <a:ln/>
        </p:spPr>
      </p:sp>
      <p:sp>
        <p:nvSpPr>
          <p:cNvPr id="32" name="Text 30"/>
          <p:cNvSpPr/>
          <p:nvPr/>
        </p:nvSpPr>
        <p:spPr>
          <a:xfrm>
            <a:off x="9796272" y="4892040"/>
            <a:ext cx="1487424"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3" name="Text 31"/>
          <p:cNvSpPr/>
          <p:nvPr/>
        </p:nvSpPr>
        <p:spPr>
          <a:xfrm>
            <a:off x="6492240" y="5760720"/>
            <a:ext cx="4937760" cy="274320"/>
          </a:xfrm>
          <a:prstGeom prst="rect">
            <a:avLst/>
          </a:prstGeom>
          <a:noFill/>
          <a:ln/>
        </p:spPr>
        <p:txBody>
          <a:bodyPr wrap="square" lIns="0" tIns="0" rIns="0" bIns="0" rtlCol="0" anchor="ctr"/>
          <a:lstStyle/>
          <a:p>
            <a:pPr algn="l" indent="0" marL="0">
              <a:buNone/>
            </a:pPr>
            <a:r>
              <a:rPr lang="en-US" sz="1150" i="1" dirty="0">
                <a:solidFill>
                  <a:srgbClr val="64748B"/>
                </a:solidFill>
                <a:latin typeface="Calibri" pitchFamily="34" charset="0"/>
                <a:ea typeface="Calibri" pitchFamily="34" charset="-122"/>
                <a:cs typeface="Calibri" pitchFamily="34" charset="-120"/>
              </a:rPr>
              <a:t>items sit at the bottom of their cells</a:t>
            </a:r>
            <a:endParaRPr lang="en-US" sz="1150" dirty="0"/>
          </a:p>
        </p:txBody>
      </p:sp>
      <p:sp>
        <p:nvSpPr>
          <p:cNvPr id="34" name="Text 32"/>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502920"/>
            <a:ext cx="1371600" cy="310896"/>
          </a:xfrm>
          <a:prstGeom prst="roundRect">
            <a:avLst>
              <a:gd name="adj" fmla="val 50000"/>
            </a:avLst>
          </a:prstGeom>
          <a:solidFill>
            <a:srgbClr val="8B5CF6"/>
          </a:solidFill>
          <a:ln/>
        </p:spPr>
      </p:sp>
      <p:sp>
        <p:nvSpPr>
          <p:cNvPr id="3" name="Text 1"/>
          <p:cNvSpPr/>
          <p:nvPr/>
        </p:nvSpPr>
        <p:spPr>
          <a:xfrm>
            <a:off x="548640" y="50292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QUIZ 1</a:t>
            </a:r>
            <a:endParaRPr lang="en-US" sz="1100" dirty="0"/>
          </a:p>
        </p:txBody>
      </p:sp>
      <p:sp>
        <p:nvSpPr>
          <p:cNvPr id="4" name="Text 2"/>
          <p:cNvSpPr/>
          <p:nvPr/>
        </p:nvSpPr>
        <p:spPr>
          <a:xfrm>
            <a:off x="548640" y="1005840"/>
            <a:ext cx="11064240" cy="1005840"/>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What property is used to define the size of columns and rows in a CSS Grid?</a:t>
            </a:r>
            <a:endParaRPr lang="en-US" sz="3000" dirty="0"/>
          </a:p>
        </p:txBody>
      </p:sp>
      <p:sp>
        <p:nvSpPr>
          <p:cNvPr id="5" name="Shape 3"/>
          <p:cNvSpPr/>
          <p:nvPr/>
        </p:nvSpPr>
        <p:spPr>
          <a:xfrm>
            <a:off x="54864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715768"/>
            <a:ext cx="457200" cy="457200"/>
          </a:xfrm>
          <a:prstGeom prst="roundRect">
            <a:avLst>
              <a:gd name="adj" fmla="val 20000"/>
            </a:avLst>
          </a:prstGeom>
          <a:solidFill>
            <a:srgbClr val="2563EB"/>
          </a:solidFill>
          <a:ln/>
        </p:spPr>
      </p:sp>
      <p:sp>
        <p:nvSpPr>
          <p:cNvPr id="7" name="Text 5"/>
          <p:cNvSpPr/>
          <p:nvPr/>
        </p:nvSpPr>
        <p:spPr>
          <a:xfrm>
            <a:off x="82296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50876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grid-gap</a:t>
            </a:r>
            <a:endParaRPr lang="en-US" sz="1500" dirty="0"/>
          </a:p>
        </p:txBody>
      </p:sp>
      <p:sp>
        <p:nvSpPr>
          <p:cNvPr id="9" name="Shape 7"/>
          <p:cNvSpPr/>
          <p:nvPr/>
        </p:nvSpPr>
        <p:spPr>
          <a:xfrm>
            <a:off x="628650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0" name="Shape 8"/>
          <p:cNvSpPr/>
          <p:nvPr/>
        </p:nvSpPr>
        <p:spPr>
          <a:xfrm>
            <a:off x="6560820" y="2715768"/>
            <a:ext cx="457200" cy="457200"/>
          </a:xfrm>
          <a:prstGeom prst="roundRect">
            <a:avLst>
              <a:gd name="adj" fmla="val 20000"/>
            </a:avLst>
          </a:prstGeom>
          <a:solidFill>
            <a:srgbClr val="2563EB"/>
          </a:solidFill>
          <a:ln/>
        </p:spPr>
      </p:sp>
      <p:sp>
        <p:nvSpPr>
          <p:cNvPr id="11" name="Text 9"/>
          <p:cNvSpPr/>
          <p:nvPr/>
        </p:nvSpPr>
        <p:spPr>
          <a:xfrm>
            <a:off x="656082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724662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grid-size</a:t>
            </a:r>
            <a:endParaRPr lang="en-US" sz="1500" dirty="0"/>
          </a:p>
        </p:txBody>
      </p:sp>
      <p:sp>
        <p:nvSpPr>
          <p:cNvPr id="13" name="Shape 11"/>
          <p:cNvSpPr/>
          <p:nvPr/>
        </p:nvSpPr>
        <p:spPr>
          <a:xfrm>
            <a:off x="54864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Shape 12"/>
          <p:cNvSpPr/>
          <p:nvPr/>
        </p:nvSpPr>
        <p:spPr>
          <a:xfrm>
            <a:off x="822960" y="4315968"/>
            <a:ext cx="457200" cy="457200"/>
          </a:xfrm>
          <a:prstGeom prst="roundRect">
            <a:avLst>
              <a:gd name="adj" fmla="val 20000"/>
            </a:avLst>
          </a:prstGeom>
          <a:solidFill>
            <a:srgbClr val="2563EB"/>
          </a:solidFill>
          <a:ln/>
        </p:spPr>
      </p:sp>
      <p:sp>
        <p:nvSpPr>
          <p:cNvPr id="15" name="Text 13"/>
          <p:cNvSpPr/>
          <p:nvPr/>
        </p:nvSpPr>
        <p:spPr>
          <a:xfrm>
            <a:off x="82296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4"/>
          <p:cNvSpPr/>
          <p:nvPr/>
        </p:nvSpPr>
        <p:spPr>
          <a:xfrm>
            <a:off x="150876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grid-template</a:t>
            </a:r>
            <a:endParaRPr lang="en-US" sz="1500" dirty="0"/>
          </a:p>
        </p:txBody>
      </p:sp>
      <p:sp>
        <p:nvSpPr>
          <p:cNvPr id="17" name="Shape 15"/>
          <p:cNvSpPr/>
          <p:nvPr/>
        </p:nvSpPr>
        <p:spPr>
          <a:xfrm>
            <a:off x="628650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8" name="Shape 16"/>
          <p:cNvSpPr/>
          <p:nvPr/>
        </p:nvSpPr>
        <p:spPr>
          <a:xfrm>
            <a:off x="6560820" y="4315968"/>
            <a:ext cx="457200" cy="457200"/>
          </a:xfrm>
          <a:prstGeom prst="roundRect">
            <a:avLst>
              <a:gd name="adj" fmla="val 20000"/>
            </a:avLst>
          </a:prstGeom>
          <a:solidFill>
            <a:srgbClr val="2563EB"/>
          </a:solidFill>
          <a:ln/>
        </p:spPr>
      </p:sp>
      <p:sp>
        <p:nvSpPr>
          <p:cNvPr id="19" name="Text 17"/>
          <p:cNvSpPr/>
          <p:nvPr/>
        </p:nvSpPr>
        <p:spPr>
          <a:xfrm>
            <a:off x="656082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0" name="Text 18"/>
          <p:cNvSpPr/>
          <p:nvPr/>
        </p:nvSpPr>
        <p:spPr>
          <a:xfrm>
            <a:off x="724662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grid-column</a:t>
            </a:r>
            <a:endParaRPr lang="en-US" sz="1500" dirty="0"/>
          </a:p>
        </p:txBody>
      </p:sp>
      <p:sp>
        <p:nvSpPr>
          <p:cNvPr id="21" name="Shape 19"/>
          <p:cNvSpPr/>
          <p:nvPr/>
        </p:nvSpPr>
        <p:spPr>
          <a:xfrm>
            <a:off x="548640" y="5532120"/>
            <a:ext cx="11109960" cy="777240"/>
          </a:xfrm>
          <a:prstGeom prst="roundRect">
            <a:avLst>
              <a:gd name="adj" fmla="val 14118"/>
            </a:avLst>
          </a:prstGeom>
          <a:solidFill>
            <a:srgbClr val="E7FBEF"/>
          </a:solidFill>
          <a:ln/>
        </p:spPr>
      </p:sp>
      <p:sp>
        <p:nvSpPr>
          <p:cNvPr id="22" name="Shape 20"/>
          <p:cNvSpPr/>
          <p:nvPr/>
        </p:nvSpPr>
        <p:spPr>
          <a:xfrm>
            <a:off x="749808" y="5792724"/>
            <a:ext cx="256032" cy="256032"/>
          </a:xfrm>
          <a:prstGeom prst="ellipse">
            <a:avLst/>
          </a:prstGeom>
          <a:solidFill>
            <a:srgbClr val="22C55E"/>
          </a:solidFill>
          <a:ln/>
        </p:spPr>
      </p:sp>
      <p:sp>
        <p:nvSpPr>
          <p:cNvPr id="23" name="Text 21"/>
          <p:cNvSpPr/>
          <p:nvPr/>
        </p:nvSpPr>
        <p:spPr>
          <a:xfrm>
            <a:off x="1207008" y="5532120"/>
            <a:ext cx="10241280" cy="7772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Hands up for A, B, C, D. Ask one learner to say which of the four they have actually typed today.</a:t>
            </a:r>
            <a:endParaRPr lang="en-US" sz="1400" dirty="0"/>
          </a:p>
        </p:txBody>
      </p:sp>
      <p:sp>
        <p:nvSpPr>
          <p:cNvPr id="24"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Responsive Layout and CSS Grid</a:t>
            </a:r>
            <a:endParaRPr lang="en-US" sz="100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4480560" y="1371600"/>
            <a:ext cx="3200400" cy="3200400"/>
          </a:xfrm>
          <a:prstGeom prst="ellipse">
            <a:avLst/>
          </a:prstGeom>
          <a:solidFill>
            <a:srgbClr val="2563EB"/>
          </a:solidFill>
          <a:ln/>
          <a:effectLst>
            <a:outerShdw sx="100000" sy="100000" kx="0" ky="0" algn="bl" rotWithShape="0" blurRad="254000" dist="38100" dir="5400000">
              <a:srgbClr val="0B1220">
                <a:alpha val="40000"/>
              </a:srgbClr>
            </a:outerShdw>
          </a:effectLst>
        </p:spPr>
      </p:sp>
      <p:sp>
        <p:nvSpPr>
          <p:cNvPr id="3" name="Shape 1"/>
          <p:cNvSpPr/>
          <p:nvPr/>
        </p:nvSpPr>
        <p:spPr>
          <a:xfrm>
            <a:off x="5394960" y="2286000"/>
            <a:ext cx="1371600" cy="137160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751576" y="2642616"/>
            <a:ext cx="658368" cy="658368"/>
          </a:xfrm>
          <a:prstGeom prst="rect">
            <a:avLst/>
          </a:prstGeom>
        </p:spPr>
      </p:pic>
      <p:sp>
        <p:nvSpPr>
          <p:cNvPr id="5" name="Text 2"/>
          <p:cNvSpPr/>
          <p:nvPr/>
        </p:nvSpPr>
        <p:spPr>
          <a:xfrm>
            <a:off x="914400" y="470916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5 minute break</a:t>
            </a:r>
            <a:endParaRPr lang="en-US" sz="4000" dirty="0"/>
          </a:p>
        </p:txBody>
      </p:sp>
      <p:sp>
        <p:nvSpPr>
          <p:cNvPr id="6" name="Text 3"/>
          <p:cNvSpPr/>
          <p:nvPr/>
        </p:nvSpPr>
        <p:spPr>
          <a:xfrm>
            <a:off x="914400" y="5440680"/>
            <a:ext cx="10360152" cy="45720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Stand up. Water. Rest your eyes. We resume on the dot.</a:t>
            </a:r>
            <a:endParaRPr lang="en-US" sz="1600" dirty="0"/>
          </a:p>
        </p:txBody>
      </p:sp>
      <p:sp>
        <p:nvSpPr>
          <p:cNvPr id="7" name="Shape 4"/>
          <p:cNvSpPr/>
          <p:nvPr/>
        </p:nvSpPr>
        <p:spPr>
          <a:xfrm>
            <a:off x="822960" y="640080"/>
            <a:ext cx="2560320" cy="310896"/>
          </a:xfrm>
          <a:prstGeom prst="roundRect">
            <a:avLst>
              <a:gd name="adj" fmla="val 50000"/>
            </a:avLst>
          </a:prstGeom>
          <a:solidFill>
            <a:srgbClr val="1B2A4A"/>
          </a:solidFill>
          <a:ln/>
        </p:spPr>
      </p:sp>
      <p:sp>
        <p:nvSpPr>
          <p:cNvPr id="8" name="Text 5"/>
          <p:cNvSpPr/>
          <p:nvPr/>
        </p:nvSpPr>
        <p:spPr>
          <a:xfrm>
            <a:off x="822960" y="640080"/>
            <a:ext cx="256032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CONTAINER-LEVEL GRID DONE</a:t>
            </a:r>
            <a:endParaRPr lang="en-US" sz="1100" dirty="0"/>
          </a:p>
        </p:txBody>
      </p:sp>
      <p:sp>
        <p:nvSpPr>
          <p:cNvPr id="9" name="Text 6"/>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Next up: controlling individual items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02</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2</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Item-level control</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Target one cell, and let items span across tracks.</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696212" cy="310896"/>
          </a:xfrm>
          <a:prstGeom prst="roundRect">
            <a:avLst>
              <a:gd name="adj" fmla="val 50000"/>
            </a:avLst>
          </a:prstGeom>
          <a:solidFill>
            <a:srgbClr val="2563EB"/>
          </a:solidFill>
          <a:ln/>
        </p:spPr>
      </p:sp>
      <p:sp>
        <p:nvSpPr>
          <p:cNvPr id="3" name="Text 1"/>
          <p:cNvSpPr/>
          <p:nvPr/>
        </p:nvSpPr>
        <p:spPr>
          <a:xfrm>
            <a:off x="548640" y="457200"/>
            <a:ext cx="1696212"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PSEUDO-SELECTOR</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Target one item without a new class</a:t>
            </a:r>
            <a:endParaRPr lang="en-US" sz="3400" dirty="0"/>
          </a:p>
        </p:txBody>
      </p:sp>
      <p:sp>
        <p:nvSpPr>
          <p:cNvPr id="5" name="Shape 3"/>
          <p:cNvSpPr/>
          <p:nvPr/>
        </p:nvSpPr>
        <p:spPr>
          <a:xfrm>
            <a:off x="548640" y="1965960"/>
            <a:ext cx="5760720" cy="2743200"/>
          </a:xfrm>
          <a:prstGeom prst="roundRect">
            <a:avLst>
              <a:gd name="adj" fmla="val 4000"/>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85416"/>
            <a:ext cx="128016" cy="128016"/>
          </a:xfrm>
          <a:prstGeom prst="ellipse">
            <a:avLst/>
          </a:prstGeom>
          <a:solidFill>
            <a:srgbClr val="FF5F56"/>
          </a:solidFill>
          <a:ln/>
        </p:spPr>
      </p:sp>
      <p:sp>
        <p:nvSpPr>
          <p:cNvPr id="7" name="Shape 5"/>
          <p:cNvSpPr/>
          <p:nvPr/>
        </p:nvSpPr>
        <p:spPr>
          <a:xfrm>
            <a:off x="1042416" y="2185416"/>
            <a:ext cx="128016" cy="128016"/>
          </a:xfrm>
          <a:prstGeom prst="ellipse">
            <a:avLst/>
          </a:prstGeom>
          <a:solidFill>
            <a:srgbClr val="FFBD2E"/>
          </a:solidFill>
          <a:ln/>
        </p:spPr>
      </p:sp>
      <p:sp>
        <p:nvSpPr>
          <p:cNvPr id="8" name="Shape 6"/>
          <p:cNvSpPr/>
          <p:nvPr/>
        </p:nvSpPr>
        <p:spPr>
          <a:xfrm>
            <a:off x="1280160" y="2185416"/>
            <a:ext cx="128016" cy="128016"/>
          </a:xfrm>
          <a:prstGeom prst="ellipse">
            <a:avLst/>
          </a:prstGeom>
          <a:solidFill>
            <a:srgbClr val="27C93F"/>
          </a:solidFill>
          <a:ln/>
        </p:spPr>
      </p:sp>
      <p:sp>
        <p:nvSpPr>
          <p:cNvPr id="9" name="Text 7"/>
          <p:cNvSpPr/>
          <p:nvPr/>
        </p:nvSpPr>
        <p:spPr>
          <a:xfrm>
            <a:off x="1645920" y="2075688"/>
            <a:ext cx="448056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styles.css</a:t>
            </a:r>
            <a:endParaRPr lang="en-US" sz="1100" dirty="0"/>
          </a:p>
        </p:txBody>
      </p:sp>
      <p:sp>
        <p:nvSpPr>
          <p:cNvPr id="10" name="Text 8"/>
          <p:cNvSpPr/>
          <p:nvPr/>
        </p:nvSpPr>
        <p:spPr>
          <a:xfrm>
            <a:off x="804672" y="2496312"/>
            <a:ext cx="5248656" cy="2029968"/>
          </a:xfrm>
          <a:prstGeom prst="rect">
            <a:avLst/>
          </a:prstGeom>
          <a:noFill/>
          <a:ln/>
        </p:spPr>
        <p:txBody>
          <a:bodyPr wrap="square" lIns="0" tIns="0" rIns="0" bIns="0" rtlCol="0" anchor="t"/>
          <a:lstStyle/>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item</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nth-of-type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2</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width</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100px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height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100px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align-self</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center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justify-self</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center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548640" y="4892040"/>
            <a:ext cx="5760720" cy="1051560"/>
          </a:xfrm>
          <a:prstGeom prst="roundRect">
            <a:avLst>
              <a:gd name="adj" fmla="val 10435"/>
            </a:avLst>
          </a:prstGeom>
          <a:solidFill>
            <a:srgbClr val="E5EEFF"/>
          </a:solidFill>
          <a:ln/>
        </p:spPr>
      </p:sp>
      <p:sp>
        <p:nvSpPr>
          <p:cNvPr id="12" name="Shape 10"/>
          <p:cNvSpPr/>
          <p:nvPr/>
        </p:nvSpPr>
        <p:spPr>
          <a:xfrm>
            <a:off x="749808" y="5289804"/>
            <a:ext cx="256032" cy="256032"/>
          </a:xfrm>
          <a:prstGeom prst="ellipse">
            <a:avLst/>
          </a:prstGeom>
          <a:solidFill>
            <a:srgbClr val="2563EB"/>
          </a:solidFill>
          <a:ln/>
        </p:spPr>
      </p:sp>
      <p:sp>
        <p:nvSpPr>
          <p:cNvPr id="13" name="Text 11"/>
          <p:cNvSpPr/>
          <p:nvPr/>
        </p:nvSpPr>
        <p:spPr>
          <a:xfrm>
            <a:off x="1207008" y="4892040"/>
            <a:ext cx="4892040" cy="1051560"/>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align-self centres it vertically in its cell, justify-self centres it horizontally. Only item 2 is affected.</a:t>
            </a:r>
            <a:endParaRPr lang="en-US" sz="1400" dirty="0"/>
          </a:p>
        </p:txBody>
      </p:sp>
      <p:sp>
        <p:nvSpPr>
          <p:cNvPr id="14" name="Shape 12"/>
          <p:cNvSpPr/>
          <p:nvPr/>
        </p:nvSpPr>
        <p:spPr>
          <a:xfrm>
            <a:off x="6583680" y="1965960"/>
            <a:ext cx="5074920" cy="3977640"/>
          </a:xfrm>
          <a:prstGeom prst="roundRect">
            <a:avLst>
              <a:gd name="adj" fmla="val 2299"/>
            </a:avLst>
          </a:prstGeom>
          <a:solidFill>
            <a:srgbClr val="E8EEF7"/>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5" name="Shape 13"/>
          <p:cNvSpPr/>
          <p:nvPr/>
        </p:nvSpPr>
        <p:spPr>
          <a:xfrm>
            <a:off x="6784848" y="2130552"/>
            <a:ext cx="109728" cy="109728"/>
          </a:xfrm>
          <a:prstGeom prst="ellipse">
            <a:avLst/>
          </a:prstGeom>
          <a:solidFill>
            <a:srgbClr val="FF5F56"/>
          </a:solidFill>
          <a:ln/>
        </p:spPr>
      </p:sp>
      <p:sp>
        <p:nvSpPr>
          <p:cNvPr id="16" name="Shape 14"/>
          <p:cNvSpPr/>
          <p:nvPr/>
        </p:nvSpPr>
        <p:spPr>
          <a:xfrm>
            <a:off x="6986016" y="2130552"/>
            <a:ext cx="109728" cy="109728"/>
          </a:xfrm>
          <a:prstGeom prst="ellipse">
            <a:avLst/>
          </a:prstGeom>
          <a:solidFill>
            <a:srgbClr val="FFBD2E"/>
          </a:solidFill>
          <a:ln/>
        </p:spPr>
      </p:sp>
      <p:sp>
        <p:nvSpPr>
          <p:cNvPr id="17" name="Shape 15"/>
          <p:cNvSpPr/>
          <p:nvPr/>
        </p:nvSpPr>
        <p:spPr>
          <a:xfrm>
            <a:off x="7187184" y="2130552"/>
            <a:ext cx="109728" cy="109728"/>
          </a:xfrm>
          <a:prstGeom prst="ellipse">
            <a:avLst/>
          </a:prstGeom>
          <a:solidFill>
            <a:srgbClr val="27C93F"/>
          </a:solidFill>
          <a:ln/>
        </p:spPr>
      </p:sp>
      <p:sp>
        <p:nvSpPr>
          <p:cNvPr id="18" name="Shape 16"/>
          <p:cNvSpPr/>
          <p:nvPr/>
        </p:nvSpPr>
        <p:spPr>
          <a:xfrm>
            <a:off x="7543800" y="2084832"/>
            <a:ext cx="3840480" cy="237744"/>
          </a:xfrm>
          <a:prstGeom prst="roundRect">
            <a:avLst>
              <a:gd name="adj" fmla="val 50000"/>
            </a:avLst>
          </a:prstGeom>
          <a:solidFill>
            <a:srgbClr val="FFFFFF"/>
          </a:solidFill>
          <a:ln w="12700">
            <a:solidFill>
              <a:srgbClr val="D5DEEC"/>
            </a:solidFill>
            <a:prstDash val="solid"/>
          </a:ln>
        </p:spPr>
      </p:sp>
      <p:sp>
        <p:nvSpPr>
          <p:cNvPr id="19" name="Text 17"/>
          <p:cNvSpPr/>
          <p:nvPr/>
        </p:nvSpPr>
        <p:spPr>
          <a:xfrm>
            <a:off x="7680960" y="2084832"/>
            <a:ext cx="3611880" cy="237744"/>
          </a:xfrm>
          <a:prstGeom prst="rect">
            <a:avLst/>
          </a:prstGeom>
          <a:noFill/>
          <a:ln/>
        </p:spPr>
        <p:txBody>
          <a:bodyPr wrap="square" lIns="0" tIns="0" rIns="0" bIns="0" rtlCol="0" anchor="ctr"/>
          <a:lstStyle/>
          <a:p>
            <a:pPr algn="l" indent="0" marL="0">
              <a:buNone/>
            </a:pPr>
            <a:r>
              <a:rPr lang="en-US" sz="900" dirty="0">
                <a:solidFill>
                  <a:srgbClr val="64748B"/>
                </a:solidFill>
                <a:latin typeface="Courier New" pitchFamily="34" charset="0"/>
                <a:ea typeface="Courier New" pitchFamily="34" charset="-122"/>
                <a:cs typeface="Courier New" pitchFamily="34" charset="-120"/>
              </a:rPr>
              <a:t>index.html</a:t>
            </a:r>
            <a:endParaRPr lang="en-US" sz="900" dirty="0"/>
          </a:p>
        </p:txBody>
      </p:sp>
      <p:sp>
        <p:nvSpPr>
          <p:cNvPr id="20" name="Shape 18"/>
          <p:cNvSpPr/>
          <p:nvPr/>
        </p:nvSpPr>
        <p:spPr>
          <a:xfrm>
            <a:off x="6693408" y="2423160"/>
            <a:ext cx="4855464" cy="3410712"/>
          </a:xfrm>
          <a:prstGeom prst="rect">
            <a:avLst/>
          </a:prstGeom>
          <a:solidFill>
            <a:srgbClr val="FFFFFF"/>
          </a:solidFill>
          <a:ln/>
        </p:spPr>
      </p:sp>
      <p:sp>
        <p:nvSpPr>
          <p:cNvPr id="21" name="Shape 19"/>
          <p:cNvSpPr/>
          <p:nvPr/>
        </p:nvSpPr>
        <p:spPr>
          <a:xfrm>
            <a:off x="6922008" y="2606040"/>
            <a:ext cx="4398264" cy="3044952"/>
          </a:xfrm>
          <a:prstGeom prst="roundRect">
            <a:avLst>
              <a:gd name="adj" fmla="val 2402"/>
            </a:avLst>
          </a:prstGeom>
          <a:solidFill>
            <a:srgbClr val="FF6347"/>
          </a:solidFill>
          <a:ln/>
        </p:spPr>
      </p:sp>
      <p:sp>
        <p:nvSpPr>
          <p:cNvPr id="22" name="Shape 20"/>
          <p:cNvSpPr/>
          <p:nvPr/>
        </p:nvSpPr>
        <p:spPr>
          <a:xfrm>
            <a:off x="7013448" y="2697480"/>
            <a:ext cx="1356360" cy="905256"/>
          </a:xfrm>
          <a:prstGeom prst="roundRect">
            <a:avLst>
              <a:gd name="adj" fmla="val 5051"/>
            </a:avLst>
          </a:prstGeom>
          <a:solidFill>
            <a:srgbClr val="1E90FF"/>
          </a:solidFill>
          <a:ln/>
        </p:spPr>
      </p:sp>
      <p:sp>
        <p:nvSpPr>
          <p:cNvPr id="23" name="Text 21"/>
          <p:cNvSpPr/>
          <p:nvPr/>
        </p:nvSpPr>
        <p:spPr>
          <a:xfrm>
            <a:off x="7013448" y="2697480"/>
            <a:ext cx="1356360" cy="9052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Shape 22"/>
          <p:cNvSpPr/>
          <p:nvPr/>
        </p:nvSpPr>
        <p:spPr>
          <a:xfrm>
            <a:off x="9872472" y="2697480"/>
            <a:ext cx="1356360" cy="905256"/>
          </a:xfrm>
          <a:prstGeom prst="roundRect">
            <a:avLst>
              <a:gd name="adj" fmla="val 5051"/>
            </a:avLst>
          </a:prstGeom>
          <a:solidFill>
            <a:srgbClr val="1E90FF"/>
          </a:solidFill>
          <a:ln/>
        </p:spPr>
      </p:sp>
      <p:sp>
        <p:nvSpPr>
          <p:cNvPr id="25" name="Text 23"/>
          <p:cNvSpPr/>
          <p:nvPr/>
        </p:nvSpPr>
        <p:spPr>
          <a:xfrm>
            <a:off x="9872472" y="2697480"/>
            <a:ext cx="1356360" cy="9052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Shape 24"/>
          <p:cNvSpPr/>
          <p:nvPr/>
        </p:nvSpPr>
        <p:spPr>
          <a:xfrm>
            <a:off x="7013448" y="3675888"/>
            <a:ext cx="1356360" cy="905256"/>
          </a:xfrm>
          <a:prstGeom prst="roundRect">
            <a:avLst>
              <a:gd name="adj" fmla="val 5051"/>
            </a:avLst>
          </a:prstGeom>
          <a:solidFill>
            <a:srgbClr val="1E90FF"/>
          </a:solidFill>
          <a:ln/>
        </p:spPr>
      </p:sp>
      <p:sp>
        <p:nvSpPr>
          <p:cNvPr id="27" name="Text 25"/>
          <p:cNvSpPr/>
          <p:nvPr/>
        </p:nvSpPr>
        <p:spPr>
          <a:xfrm>
            <a:off x="7013448" y="3675888"/>
            <a:ext cx="1356360" cy="9052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Shape 26"/>
          <p:cNvSpPr/>
          <p:nvPr/>
        </p:nvSpPr>
        <p:spPr>
          <a:xfrm>
            <a:off x="8442960" y="3675888"/>
            <a:ext cx="1356360" cy="905256"/>
          </a:xfrm>
          <a:prstGeom prst="roundRect">
            <a:avLst>
              <a:gd name="adj" fmla="val 5051"/>
            </a:avLst>
          </a:prstGeom>
          <a:solidFill>
            <a:srgbClr val="1E90FF"/>
          </a:solidFill>
          <a:ln/>
        </p:spPr>
      </p:sp>
      <p:sp>
        <p:nvSpPr>
          <p:cNvPr id="29" name="Text 27"/>
          <p:cNvSpPr/>
          <p:nvPr/>
        </p:nvSpPr>
        <p:spPr>
          <a:xfrm>
            <a:off x="8442960" y="3675888"/>
            <a:ext cx="1356360" cy="9052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Shape 28"/>
          <p:cNvSpPr/>
          <p:nvPr/>
        </p:nvSpPr>
        <p:spPr>
          <a:xfrm>
            <a:off x="9872472" y="3675888"/>
            <a:ext cx="1356360" cy="905256"/>
          </a:xfrm>
          <a:prstGeom prst="roundRect">
            <a:avLst>
              <a:gd name="adj" fmla="val 5051"/>
            </a:avLst>
          </a:prstGeom>
          <a:solidFill>
            <a:srgbClr val="1E90FF"/>
          </a:solidFill>
          <a:ln/>
        </p:spPr>
      </p:sp>
      <p:sp>
        <p:nvSpPr>
          <p:cNvPr id="31" name="Text 29"/>
          <p:cNvSpPr/>
          <p:nvPr/>
        </p:nvSpPr>
        <p:spPr>
          <a:xfrm>
            <a:off x="9872472" y="3675888"/>
            <a:ext cx="1356360" cy="9052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Shape 30"/>
          <p:cNvSpPr/>
          <p:nvPr/>
        </p:nvSpPr>
        <p:spPr>
          <a:xfrm>
            <a:off x="7013448" y="4654296"/>
            <a:ext cx="1356360" cy="905256"/>
          </a:xfrm>
          <a:prstGeom prst="roundRect">
            <a:avLst>
              <a:gd name="adj" fmla="val 5051"/>
            </a:avLst>
          </a:prstGeom>
          <a:solidFill>
            <a:srgbClr val="1E90FF"/>
          </a:solidFill>
          <a:ln/>
        </p:spPr>
      </p:sp>
      <p:sp>
        <p:nvSpPr>
          <p:cNvPr id="33" name="Text 31"/>
          <p:cNvSpPr/>
          <p:nvPr/>
        </p:nvSpPr>
        <p:spPr>
          <a:xfrm>
            <a:off x="7013448" y="4654296"/>
            <a:ext cx="1356360" cy="9052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4" name="Shape 32"/>
          <p:cNvSpPr/>
          <p:nvPr/>
        </p:nvSpPr>
        <p:spPr>
          <a:xfrm>
            <a:off x="8442960" y="4654296"/>
            <a:ext cx="1356360" cy="905256"/>
          </a:xfrm>
          <a:prstGeom prst="roundRect">
            <a:avLst>
              <a:gd name="adj" fmla="val 5051"/>
            </a:avLst>
          </a:prstGeom>
          <a:solidFill>
            <a:srgbClr val="1E90FF"/>
          </a:solidFill>
          <a:ln/>
        </p:spPr>
      </p:sp>
      <p:sp>
        <p:nvSpPr>
          <p:cNvPr id="35" name="Text 33"/>
          <p:cNvSpPr/>
          <p:nvPr/>
        </p:nvSpPr>
        <p:spPr>
          <a:xfrm>
            <a:off x="8442960" y="4654296"/>
            <a:ext cx="1356360" cy="9052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6" name="Shape 34"/>
          <p:cNvSpPr/>
          <p:nvPr/>
        </p:nvSpPr>
        <p:spPr>
          <a:xfrm>
            <a:off x="9872472" y="4654296"/>
            <a:ext cx="1356360" cy="905256"/>
          </a:xfrm>
          <a:prstGeom prst="roundRect">
            <a:avLst>
              <a:gd name="adj" fmla="val 5051"/>
            </a:avLst>
          </a:prstGeom>
          <a:solidFill>
            <a:srgbClr val="1E90FF"/>
          </a:solidFill>
          <a:ln/>
        </p:spPr>
      </p:sp>
      <p:sp>
        <p:nvSpPr>
          <p:cNvPr id="37" name="Text 35"/>
          <p:cNvSpPr/>
          <p:nvPr/>
        </p:nvSpPr>
        <p:spPr>
          <a:xfrm>
            <a:off x="9872472" y="4654296"/>
            <a:ext cx="1356360" cy="9052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8" name="Shape 36"/>
          <p:cNvSpPr/>
          <p:nvPr/>
        </p:nvSpPr>
        <p:spPr>
          <a:xfrm>
            <a:off x="8865108" y="2894076"/>
            <a:ext cx="512064" cy="512064"/>
          </a:xfrm>
          <a:prstGeom prst="roundRect">
            <a:avLst>
              <a:gd name="adj" fmla="val 8929"/>
            </a:avLst>
          </a:prstGeom>
          <a:solidFill>
            <a:srgbClr val="F59E0B"/>
          </a:solidFill>
          <a:ln/>
        </p:spPr>
      </p:sp>
      <p:sp>
        <p:nvSpPr>
          <p:cNvPr id="39" name="Text 37"/>
          <p:cNvSpPr/>
          <p:nvPr/>
        </p:nvSpPr>
        <p:spPr>
          <a:xfrm>
            <a:off x="8865108" y="2894076"/>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0" name="Text 38"/>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Grid lines are numbered</a:t>
            </a:r>
            <a:endParaRPr lang="en-US" sz="3400" dirty="0"/>
          </a:p>
        </p:txBody>
      </p:sp>
      <p:sp>
        <p:nvSpPr>
          <p:cNvPr id="5" name="Text 3"/>
          <p:cNvSpPr/>
          <p:nvPr/>
        </p:nvSpPr>
        <p:spPr>
          <a:xfrm>
            <a:off x="548640" y="1828800"/>
            <a:ext cx="11064240" cy="457200"/>
          </a:xfrm>
          <a:prstGeom prst="rect">
            <a:avLst/>
          </a:prstGeom>
          <a:noFill/>
          <a:ln/>
        </p:spPr>
        <p:txBody>
          <a:bodyPr wrap="square" lIns="0" tIns="0" rIns="0" bIns="0" rtlCol="0" anchor="ctr"/>
          <a:lstStyle/>
          <a:p>
            <a:pPr algn="l" indent="0" marL="0">
              <a:buNone/>
            </a:pPr>
            <a:r>
              <a:rPr lang="en-US" sz="1500" dirty="0">
                <a:solidFill>
                  <a:srgbClr val="64748B"/>
                </a:solidFill>
                <a:latin typeface="Calibri" pitchFamily="34" charset="0"/>
                <a:ea typeface="Calibri" pitchFamily="34" charset="-122"/>
                <a:cs typeface="Calibri" pitchFamily="34" charset="-120"/>
              </a:rPr>
              <a:t>The confusion with 1/3 goes away once you count the lines, not the cells. Three columns have four lines.</a:t>
            </a:r>
            <a:endParaRPr lang="en-US" sz="1500" dirty="0"/>
          </a:p>
        </p:txBody>
      </p:sp>
      <p:sp>
        <p:nvSpPr>
          <p:cNvPr id="6" name="Shape 4"/>
          <p:cNvSpPr/>
          <p:nvPr/>
        </p:nvSpPr>
        <p:spPr>
          <a:xfrm>
            <a:off x="868680" y="2971800"/>
            <a:ext cx="4937760" cy="2651760"/>
          </a:xfrm>
          <a:prstGeom prst="roundRect">
            <a:avLst>
              <a:gd name="adj" fmla="val 2759"/>
            </a:avLst>
          </a:prstGeom>
          <a:solidFill>
            <a:srgbClr val="F1F5F9"/>
          </a:solidFill>
          <a:ln/>
        </p:spPr>
      </p:sp>
      <p:sp>
        <p:nvSpPr>
          <p:cNvPr id="7" name="Shape 5"/>
          <p:cNvSpPr/>
          <p:nvPr/>
        </p:nvSpPr>
        <p:spPr>
          <a:xfrm>
            <a:off x="960120" y="3063240"/>
            <a:ext cx="1536192" cy="774192"/>
          </a:xfrm>
          <a:prstGeom prst="roundRect">
            <a:avLst>
              <a:gd name="adj" fmla="val 5906"/>
            </a:avLst>
          </a:prstGeom>
          <a:solidFill>
            <a:srgbClr val="C7DBFF"/>
          </a:solidFill>
          <a:ln/>
        </p:spPr>
      </p:sp>
      <p:sp>
        <p:nvSpPr>
          <p:cNvPr id="8" name="Text 6"/>
          <p:cNvSpPr/>
          <p:nvPr/>
        </p:nvSpPr>
        <p:spPr>
          <a:xfrm>
            <a:off x="960120" y="3063240"/>
            <a:ext cx="1536192" cy="7741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Shape 7"/>
          <p:cNvSpPr/>
          <p:nvPr/>
        </p:nvSpPr>
        <p:spPr>
          <a:xfrm>
            <a:off x="2569464" y="3063240"/>
            <a:ext cx="1536192" cy="774192"/>
          </a:xfrm>
          <a:prstGeom prst="roundRect">
            <a:avLst>
              <a:gd name="adj" fmla="val 5906"/>
            </a:avLst>
          </a:prstGeom>
          <a:solidFill>
            <a:srgbClr val="C7DBFF"/>
          </a:solidFill>
          <a:ln/>
        </p:spPr>
      </p:sp>
      <p:sp>
        <p:nvSpPr>
          <p:cNvPr id="10" name="Text 8"/>
          <p:cNvSpPr/>
          <p:nvPr/>
        </p:nvSpPr>
        <p:spPr>
          <a:xfrm>
            <a:off x="2569464" y="3063240"/>
            <a:ext cx="1536192" cy="7741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Shape 9"/>
          <p:cNvSpPr/>
          <p:nvPr/>
        </p:nvSpPr>
        <p:spPr>
          <a:xfrm>
            <a:off x="4178808" y="3063240"/>
            <a:ext cx="1536192" cy="774192"/>
          </a:xfrm>
          <a:prstGeom prst="roundRect">
            <a:avLst>
              <a:gd name="adj" fmla="val 5906"/>
            </a:avLst>
          </a:prstGeom>
          <a:solidFill>
            <a:srgbClr val="C7DBFF"/>
          </a:solidFill>
          <a:ln/>
        </p:spPr>
      </p:sp>
      <p:sp>
        <p:nvSpPr>
          <p:cNvPr id="12" name="Text 10"/>
          <p:cNvSpPr/>
          <p:nvPr/>
        </p:nvSpPr>
        <p:spPr>
          <a:xfrm>
            <a:off x="4178808" y="3063240"/>
            <a:ext cx="1536192" cy="7741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3" name="Shape 11"/>
          <p:cNvSpPr/>
          <p:nvPr/>
        </p:nvSpPr>
        <p:spPr>
          <a:xfrm>
            <a:off x="960120" y="3910584"/>
            <a:ext cx="1536192" cy="774192"/>
          </a:xfrm>
          <a:prstGeom prst="roundRect">
            <a:avLst>
              <a:gd name="adj" fmla="val 5906"/>
            </a:avLst>
          </a:prstGeom>
          <a:solidFill>
            <a:srgbClr val="C7DBFF"/>
          </a:solidFill>
          <a:ln/>
        </p:spPr>
      </p:sp>
      <p:sp>
        <p:nvSpPr>
          <p:cNvPr id="14" name="Text 12"/>
          <p:cNvSpPr/>
          <p:nvPr/>
        </p:nvSpPr>
        <p:spPr>
          <a:xfrm>
            <a:off x="960120" y="3910584"/>
            <a:ext cx="1536192" cy="7741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5" name="Shape 13"/>
          <p:cNvSpPr/>
          <p:nvPr/>
        </p:nvSpPr>
        <p:spPr>
          <a:xfrm>
            <a:off x="2569464" y="3910584"/>
            <a:ext cx="1536192" cy="774192"/>
          </a:xfrm>
          <a:prstGeom prst="roundRect">
            <a:avLst>
              <a:gd name="adj" fmla="val 5906"/>
            </a:avLst>
          </a:prstGeom>
          <a:solidFill>
            <a:srgbClr val="C7DBFF"/>
          </a:solidFill>
          <a:ln/>
        </p:spPr>
      </p:sp>
      <p:sp>
        <p:nvSpPr>
          <p:cNvPr id="16" name="Text 14"/>
          <p:cNvSpPr/>
          <p:nvPr/>
        </p:nvSpPr>
        <p:spPr>
          <a:xfrm>
            <a:off x="2569464" y="3910584"/>
            <a:ext cx="1536192" cy="7741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7" name="Shape 15"/>
          <p:cNvSpPr/>
          <p:nvPr/>
        </p:nvSpPr>
        <p:spPr>
          <a:xfrm>
            <a:off x="4178808" y="3910584"/>
            <a:ext cx="1536192" cy="774192"/>
          </a:xfrm>
          <a:prstGeom prst="roundRect">
            <a:avLst>
              <a:gd name="adj" fmla="val 5906"/>
            </a:avLst>
          </a:prstGeom>
          <a:solidFill>
            <a:srgbClr val="C7DBFF"/>
          </a:solidFill>
          <a:ln/>
        </p:spPr>
      </p:sp>
      <p:sp>
        <p:nvSpPr>
          <p:cNvPr id="18" name="Text 16"/>
          <p:cNvSpPr/>
          <p:nvPr/>
        </p:nvSpPr>
        <p:spPr>
          <a:xfrm>
            <a:off x="4178808" y="3910584"/>
            <a:ext cx="1536192" cy="7741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19" name="Shape 17"/>
          <p:cNvSpPr/>
          <p:nvPr/>
        </p:nvSpPr>
        <p:spPr>
          <a:xfrm>
            <a:off x="960120" y="4757928"/>
            <a:ext cx="1536192" cy="774192"/>
          </a:xfrm>
          <a:prstGeom prst="roundRect">
            <a:avLst>
              <a:gd name="adj" fmla="val 5906"/>
            </a:avLst>
          </a:prstGeom>
          <a:solidFill>
            <a:srgbClr val="C7DBFF"/>
          </a:solidFill>
          <a:ln/>
        </p:spPr>
      </p:sp>
      <p:sp>
        <p:nvSpPr>
          <p:cNvPr id="20" name="Text 18"/>
          <p:cNvSpPr/>
          <p:nvPr/>
        </p:nvSpPr>
        <p:spPr>
          <a:xfrm>
            <a:off x="960120" y="4757928"/>
            <a:ext cx="1536192" cy="7741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1" name="Shape 19"/>
          <p:cNvSpPr/>
          <p:nvPr/>
        </p:nvSpPr>
        <p:spPr>
          <a:xfrm>
            <a:off x="2569464" y="4757928"/>
            <a:ext cx="1536192" cy="774192"/>
          </a:xfrm>
          <a:prstGeom prst="roundRect">
            <a:avLst>
              <a:gd name="adj" fmla="val 5906"/>
            </a:avLst>
          </a:prstGeom>
          <a:solidFill>
            <a:srgbClr val="C7DBFF"/>
          </a:solidFill>
          <a:ln/>
        </p:spPr>
      </p:sp>
      <p:sp>
        <p:nvSpPr>
          <p:cNvPr id="22" name="Text 20"/>
          <p:cNvSpPr/>
          <p:nvPr/>
        </p:nvSpPr>
        <p:spPr>
          <a:xfrm>
            <a:off x="2569464" y="4757928"/>
            <a:ext cx="1536192" cy="7741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3" name="Shape 21"/>
          <p:cNvSpPr/>
          <p:nvPr/>
        </p:nvSpPr>
        <p:spPr>
          <a:xfrm>
            <a:off x="4178808" y="4757928"/>
            <a:ext cx="1536192" cy="774192"/>
          </a:xfrm>
          <a:prstGeom prst="roundRect">
            <a:avLst>
              <a:gd name="adj" fmla="val 5906"/>
            </a:avLst>
          </a:prstGeom>
          <a:solidFill>
            <a:srgbClr val="C7DBFF"/>
          </a:solidFill>
          <a:ln/>
        </p:spPr>
      </p:sp>
      <p:sp>
        <p:nvSpPr>
          <p:cNvPr id="24" name="Text 22"/>
          <p:cNvSpPr/>
          <p:nvPr/>
        </p:nvSpPr>
        <p:spPr>
          <a:xfrm>
            <a:off x="4178808" y="4757928"/>
            <a:ext cx="1536192" cy="7741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25" name="Shape 23"/>
          <p:cNvSpPr/>
          <p:nvPr/>
        </p:nvSpPr>
        <p:spPr>
          <a:xfrm>
            <a:off x="832104" y="2587752"/>
            <a:ext cx="292608" cy="292608"/>
          </a:xfrm>
          <a:prstGeom prst="ellipse">
            <a:avLst/>
          </a:prstGeom>
          <a:solidFill>
            <a:srgbClr val="FB7185"/>
          </a:solidFill>
          <a:ln/>
        </p:spPr>
      </p:sp>
      <p:sp>
        <p:nvSpPr>
          <p:cNvPr id="26" name="Text 24"/>
          <p:cNvSpPr/>
          <p:nvPr/>
        </p:nvSpPr>
        <p:spPr>
          <a:xfrm>
            <a:off x="832104" y="25877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7" name="Shape 25"/>
          <p:cNvSpPr/>
          <p:nvPr/>
        </p:nvSpPr>
        <p:spPr>
          <a:xfrm>
            <a:off x="2417064" y="2587752"/>
            <a:ext cx="292608" cy="292608"/>
          </a:xfrm>
          <a:prstGeom prst="ellipse">
            <a:avLst/>
          </a:prstGeom>
          <a:solidFill>
            <a:srgbClr val="FB7185"/>
          </a:solidFill>
          <a:ln/>
        </p:spPr>
      </p:sp>
      <p:sp>
        <p:nvSpPr>
          <p:cNvPr id="28" name="Text 26"/>
          <p:cNvSpPr/>
          <p:nvPr/>
        </p:nvSpPr>
        <p:spPr>
          <a:xfrm>
            <a:off x="2417064" y="25877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9" name="Shape 27"/>
          <p:cNvSpPr/>
          <p:nvPr/>
        </p:nvSpPr>
        <p:spPr>
          <a:xfrm>
            <a:off x="4002024" y="2587752"/>
            <a:ext cx="292608" cy="292608"/>
          </a:xfrm>
          <a:prstGeom prst="ellipse">
            <a:avLst/>
          </a:prstGeom>
          <a:solidFill>
            <a:srgbClr val="FB7185"/>
          </a:solidFill>
          <a:ln/>
        </p:spPr>
      </p:sp>
      <p:sp>
        <p:nvSpPr>
          <p:cNvPr id="30" name="Text 28"/>
          <p:cNvSpPr/>
          <p:nvPr/>
        </p:nvSpPr>
        <p:spPr>
          <a:xfrm>
            <a:off x="4002024" y="25877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1" name="Shape 29"/>
          <p:cNvSpPr/>
          <p:nvPr/>
        </p:nvSpPr>
        <p:spPr>
          <a:xfrm>
            <a:off x="5586984" y="2587752"/>
            <a:ext cx="292608" cy="292608"/>
          </a:xfrm>
          <a:prstGeom prst="ellipse">
            <a:avLst/>
          </a:prstGeom>
          <a:solidFill>
            <a:srgbClr val="FB7185"/>
          </a:solidFill>
          <a:ln/>
        </p:spPr>
      </p:sp>
      <p:sp>
        <p:nvSpPr>
          <p:cNvPr id="32" name="Text 30"/>
          <p:cNvSpPr/>
          <p:nvPr/>
        </p:nvSpPr>
        <p:spPr>
          <a:xfrm>
            <a:off x="5586984" y="25877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Text 31"/>
          <p:cNvSpPr/>
          <p:nvPr/>
        </p:nvSpPr>
        <p:spPr>
          <a:xfrm>
            <a:off x="868680" y="2221992"/>
            <a:ext cx="4937760" cy="274320"/>
          </a:xfrm>
          <a:prstGeom prst="rect">
            <a:avLst/>
          </a:prstGeom>
          <a:noFill/>
          <a:ln/>
        </p:spPr>
        <p:txBody>
          <a:bodyPr wrap="square" lIns="0" tIns="0" rIns="0" bIns="0" rtlCol="0" anchor="ctr"/>
          <a:lstStyle/>
          <a:p>
            <a:pPr algn="ctr" indent="0" marL="0">
              <a:buNone/>
            </a:pPr>
            <a:r>
              <a:rPr lang="en-US" sz="1100" b="1" dirty="0">
                <a:solidFill>
                  <a:srgbClr val="FB7185"/>
                </a:solidFill>
                <a:latin typeface="Calibri" pitchFamily="34" charset="0"/>
                <a:ea typeface="Calibri" pitchFamily="34" charset="-122"/>
                <a:cs typeface="Calibri" pitchFamily="34" charset="-120"/>
              </a:rPr>
              <a:t>column lines</a:t>
            </a:r>
            <a:endParaRPr lang="en-US" sz="1100" dirty="0"/>
          </a:p>
        </p:txBody>
      </p:sp>
      <p:sp>
        <p:nvSpPr>
          <p:cNvPr id="34" name="Shape 32"/>
          <p:cNvSpPr/>
          <p:nvPr/>
        </p:nvSpPr>
        <p:spPr>
          <a:xfrm>
            <a:off x="457200" y="2916936"/>
            <a:ext cx="292608" cy="292608"/>
          </a:xfrm>
          <a:prstGeom prst="ellipse">
            <a:avLst/>
          </a:prstGeom>
          <a:solidFill>
            <a:srgbClr val="22C55E"/>
          </a:solidFill>
          <a:ln/>
        </p:spPr>
      </p:sp>
      <p:sp>
        <p:nvSpPr>
          <p:cNvPr id="35" name="Text 33"/>
          <p:cNvSpPr/>
          <p:nvPr/>
        </p:nvSpPr>
        <p:spPr>
          <a:xfrm>
            <a:off x="457200" y="29169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6" name="Shape 34"/>
          <p:cNvSpPr/>
          <p:nvPr/>
        </p:nvSpPr>
        <p:spPr>
          <a:xfrm>
            <a:off x="457200" y="3739896"/>
            <a:ext cx="292608" cy="292608"/>
          </a:xfrm>
          <a:prstGeom prst="ellipse">
            <a:avLst/>
          </a:prstGeom>
          <a:solidFill>
            <a:srgbClr val="22C55E"/>
          </a:solidFill>
          <a:ln/>
        </p:spPr>
      </p:sp>
      <p:sp>
        <p:nvSpPr>
          <p:cNvPr id="37" name="Text 35"/>
          <p:cNvSpPr/>
          <p:nvPr/>
        </p:nvSpPr>
        <p:spPr>
          <a:xfrm>
            <a:off x="457200" y="37398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8" name="Shape 36"/>
          <p:cNvSpPr/>
          <p:nvPr/>
        </p:nvSpPr>
        <p:spPr>
          <a:xfrm>
            <a:off x="457200" y="4562856"/>
            <a:ext cx="292608" cy="292608"/>
          </a:xfrm>
          <a:prstGeom prst="ellipse">
            <a:avLst/>
          </a:prstGeom>
          <a:solidFill>
            <a:srgbClr val="22C55E"/>
          </a:solidFill>
          <a:ln/>
        </p:spPr>
      </p:sp>
      <p:sp>
        <p:nvSpPr>
          <p:cNvPr id="39" name="Text 37"/>
          <p:cNvSpPr/>
          <p:nvPr/>
        </p:nvSpPr>
        <p:spPr>
          <a:xfrm>
            <a:off x="457200" y="456285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8"/>
          <p:cNvSpPr/>
          <p:nvPr/>
        </p:nvSpPr>
        <p:spPr>
          <a:xfrm>
            <a:off x="457200" y="5385816"/>
            <a:ext cx="292608" cy="292608"/>
          </a:xfrm>
          <a:prstGeom prst="ellipse">
            <a:avLst/>
          </a:prstGeom>
          <a:solidFill>
            <a:srgbClr val="22C55E"/>
          </a:solidFill>
          <a:ln/>
        </p:spPr>
      </p:sp>
      <p:sp>
        <p:nvSpPr>
          <p:cNvPr id="41" name="Text 39"/>
          <p:cNvSpPr/>
          <p:nvPr/>
        </p:nvSpPr>
        <p:spPr>
          <a:xfrm>
            <a:off x="457200" y="538581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2" name="Shape 40"/>
          <p:cNvSpPr/>
          <p:nvPr/>
        </p:nvSpPr>
        <p:spPr>
          <a:xfrm>
            <a:off x="6309360" y="2377440"/>
            <a:ext cx="5349240" cy="1417320"/>
          </a:xfrm>
          <a:prstGeom prst="roundRect">
            <a:avLst>
              <a:gd name="adj" fmla="val 7742"/>
            </a:avLst>
          </a:prstGeom>
          <a:solidFill>
            <a:srgbClr val="0C1526"/>
          </a:solidFill>
          <a:ln/>
          <a:effectLst>
            <a:outerShdw sx="100000" sy="100000" kx="0" ky="0" algn="bl" rotWithShape="0" blurRad="101600" dist="38100" dir="5400000">
              <a:srgbClr val="0B1220">
                <a:alpha val="18000"/>
              </a:srgbClr>
            </a:outerShdw>
          </a:effectLst>
        </p:spPr>
      </p:sp>
      <p:sp>
        <p:nvSpPr>
          <p:cNvPr id="43" name="Shape 41"/>
          <p:cNvSpPr/>
          <p:nvPr/>
        </p:nvSpPr>
        <p:spPr>
          <a:xfrm>
            <a:off x="6565392" y="2596896"/>
            <a:ext cx="128016" cy="128016"/>
          </a:xfrm>
          <a:prstGeom prst="ellipse">
            <a:avLst/>
          </a:prstGeom>
          <a:solidFill>
            <a:srgbClr val="FF5F56"/>
          </a:solidFill>
          <a:ln/>
        </p:spPr>
      </p:sp>
      <p:sp>
        <p:nvSpPr>
          <p:cNvPr id="44" name="Shape 42"/>
          <p:cNvSpPr/>
          <p:nvPr/>
        </p:nvSpPr>
        <p:spPr>
          <a:xfrm>
            <a:off x="6803136" y="2596896"/>
            <a:ext cx="128016" cy="128016"/>
          </a:xfrm>
          <a:prstGeom prst="ellipse">
            <a:avLst/>
          </a:prstGeom>
          <a:solidFill>
            <a:srgbClr val="FFBD2E"/>
          </a:solidFill>
          <a:ln/>
        </p:spPr>
      </p:sp>
      <p:sp>
        <p:nvSpPr>
          <p:cNvPr id="45" name="Shape 43"/>
          <p:cNvSpPr/>
          <p:nvPr/>
        </p:nvSpPr>
        <p:spPr>
          <a:xfrm>
            <a:off x="7040880" y="2596896"/>
            <a:ext cx="128016" cy="128016"/>
          </a:xfrm>
          <a:prstGeom prst="ellipse">
            <a:avLst/>
          </a:prstGeom>
          <a:solidFill>
            <a:srgbClr val="27C93F"/>
          </a:solidFill>
          <a:ln/>
        </p:spPr>
      </p:sp>
      <p:sp>
        <p:nvSpPr>
          <p:cNvPr id="46" name="Text 44"/>
          <p:cNvSpPr/>
          <p:nvPr/>
        </p:nvSpPr>
        <p:spPr>
          <a:xfrm>
            <a:off x="7406640" y="2487168"/>
            <a:ext cx="406908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styles.css</a:t>
            </a:r>
            <a:endParaRPr lang="en-US" sz="1100" dirty="0"/>
          </a:p>
        </p:txBody>
      </p:sp>
      <p:sp>
        <p:nvSpPr>
          <p:cNvPr id="47" name="Text 45"/>
          <p:cNvSpPr/>
          <p:nvPr/>
        </p:nvSpPr>
        <p:spPr>
          <a:xfrm>
            <a:off x="6565392" y="2907792"/>
            <a:ext cx="4837176" cy="704088"/>
          </a:xfrm>
          <a:prstGeom prst="rect">
            <a:avLst/>
          </a:prstGeom>
          <a:noFill/>
          <a:ln/>
        </p:spPr>
        <p:txBody>
          <a:bodyPr wrap="square" lIns="0" tIns="0" rIns="0" bIns="0" rtlCol="0" anchor="t"/>
          <a:lstStyle/>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item</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nth-of-type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grid-row</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3</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6309360" y="3977640"/>
            <a:ext cx="5349240" cy="1965960"/>
          </a:xfrm>
          <a:prstGeom prst="roundRect">
            <a:avLst>
              <a:gd name="adj" fmla="val 3721"/>
            </a:avLst>
          </a:prstGeom>
          <a:solidFill>
            <a:srgbClr val="F1F5F9"/>
          </a:solidFill>
          <a:ln/>
        </p:spPr>
      </p:sp>
      <p:sp>
        <p:nvSpPr>
          <p:cNvPr id="49" name="Shape 47"/>
          <p:cNvSpPr/>
          <p:nvPr/>
        </p:nvSpPr>
        <p:spPr>
          <a:xfrm>
            <a:off x="6400800" y="4069080"/>
            <a:ext cx="1673352" cy="1164336"/>
          </a:xfrm>
          <a:prstGeom prst="roundRect">
            <a:avLst>
              <a:gd name="adj" fmla="val 3927"/>
            </a:avLst>
          </a:prstGeom>
          <a:solidFill>
            <a:srgbClr val="0F172A"/>
          </a:solidFill>
          <a:ln/>
        </p:spPr>
      </p:sp>
      <p:sp>
        <p:nvSpPr>
          <p:cNvPr id="50" name="Text 48"/>
          <p:cNvSpPr/>
          <p:nvPr/>
        </p:nvSpPr>
        <p:spPr>
          <a:xfrm>
            <a:off x="6400800" y="4069080"/>
            <a:ext cx="1673352" cy="1164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1" name="Shape 49"/>
          <p:cNvSpPr/>
          <p:nvPr/>
        </p:nvSpPr>
        <p:spPr>
          <a:xfrm>
            <a:off x="8147304" y="4069080"/>
            <a:ext cx="1673352" cy="545592"/>
          </a:xfrm>
          <a:prstGeom prst="roundRect">
            <a:avLst>
              <a:gd name="adj" fmla="val 8380"/>
            </a:avLst>
          </a:prstGeom>
          <a:solidFill>
            <a:srgbClr val="1E90FF"/>
          </a:solidFill>
          <a:ln/>
        </p:spPr>
      </p:sp>
      <p:sp>
        <p:nvSpPr>
          <p:cNvPr id="52" name="Text 50"/>
          <p:cNvSpPr/>
          <p:nvPr/>
        </p:nvSpPr>
        <p:spPr>
          <a:xfrm>
            <a:off x="8147304" y="4069080"/>
            <a:ext cx="1673352" cy="545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3" name="Shape 51"/>
          <p:cNvSpPr/>
          <p:nvPr/>
        </p:nvSpPr>
        <p:spPr>
          <a:xfrm>
            <a:off x="9893808" y="4069080"/>
            <a:ext cx="1673352" cy="545592"/>
          </a:xfrm>
          <a:prstGeom prst="roundRect">
            <a:avLst>
              <a:gd name="adj" fmla="val 8380"/>
            </a:avLst>
          </a:prstGeom>
          <a:solidFill>
            <a:srgbClr val="1E90FF"/>
          </a:solidFill>
          <a:ln/>
        </p:spPr>
      </p:sp>
      <p:sp>
        <p:nvSpPr>
          <p:cNvPr id="54" name="Text 52"/>
          <p:cNvSpPr/>
          <p:nvPr/>
        </p:nvSpPr>
        <p:spPr>
          <a:xfrm>
            <a:off x="9893808" y="4069080"/>
            <a:ext cx="1673352" cy="545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5" name="Shape 53"/>
          <p:cNvSpPr/>
          <p:nvPr/>
        </p:nvSpPr>
        <p:spPr>
          <a:xfrm>
            <a:off x="8147304" y="4687824"/>
            <a:ext cx="1673352" cy="545592"/>
          </a:xfrm>
          <a:prstGeom prst="roundRect">
            <a:avLst>
              <a:gd name="adj" fmla="val 8380"/>
            </a:avLst>
          </a:prstGeom>
          <a:solidFill>
            <a:srgbClr val="1E90FF"/>
          </a:solidFill>
          <a:ln/>
        </p:spPr>
      </p:sp>
      <p:sp>
        <p:nvSpPr>
          <p:cNvPr id="56" name="Text 54"/>
          <p:cNvSpPr/>
          <p:nvPr/>
        </p:nvSpPr>
        <p:spPr>
          <a:xfrm>
            <a:off x="8147304" y="4687824"/>
            <a:ext cx="1673352" cy="545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Shape 55"/>
          <p:cNvSpPr/>
          <p:nvPr/>
        </p:nvSpPr>
        <p:spPr>
          <a:xfrm>
            <a:off x="9893808" y="4687824"/>
            <a:ext cx="1673352" cy="545592"/>
          </a:xfrm>
          <a:prstGeom prst="roundRect">
            <a:avLst>
              <a:gd name="adj" fmla="val 8380"/>
            </a:avLst>
          </a:prstGeom>
          <a:solidFill>
            <a:srgbClr val="1E90FF"/>
          </a:solidFill>
          <a:ln/>
        </p:spPr>
      </p:sp>
      <p:sp>
        <p:nvSpPr>
          <p:cNvPr id="58" name="Text 56"/>
          <p:cNvSpPr/>
          <p:nvPr/>
        </p:nvSpPr>
        <p:spPr>
          <a:xfrm>
            <a:off x="9893808" y="4687824"/>
            <a:ext cx="1673352" cy="545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9" name="Shape 57"/>
          <p:cNvSpPr/>
          <p:nvPr/>
        </p:nvSpPr>
        <p:spPr>
          <a:xfrm>
            <a:off x="6400800" y="5306568"/>
            <a:ext cx="1673352" cy="545592"/>
          </a:xfrm>
          <a:prstGeom prst="roundRect">
            <a:avLst>
              <a:gd name="adj" fmla="val 8380"/>
            </a:avLst>
          </a:prstGeom>
          <a:solidFill>
            <a:srgbClr val="1E90FF"/>
          </a:solidFill>
          <a:ln/>
        </p:spPr>
      </p:sp>
      <p:sp>
        <p:nvSpPr>
          <p:cNvPr id="60" name="Text 58"/>
          <p:cNvSpPr/>
          <p:nvPr/>
        </p:nvSpPr>
        <p:spPr>
          <a:xfrm>
            <a:off x="6400800" y="5306568"/>
            <a:ext cx="1673352" cy="545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1" name="Shape 59"/>
          <p:cNvSpPr/>
          <p:nvPr/>
        </p:nvSpPr>
        <p:spPr>
          <a:xfrm>
            <a:off x="8147304" y="5306568"/>
            <a:ext cx="1673352" cy="545592"/>
          </a:xfrm>
          <a:prstGeom prst="roundRect">
            <a:avLst>
              <a:gd name="adj" fmla="val 8380"/>
            </a:avLst>
          </a:prstGeom>
          <a:solidFill>
            <a:srgbClr val="1E90FF"/>
          </a:solidFill>
          <a:ln/>
        </p:spPr>
      </p:sp>
      <p:sp>
        <p:nvSpPr>
          <p:cNvPr id="62" name="Text 60"/>
          <p:cNvSpPr/>
          <p:nvPr/>
        </p:nvSpPr>
        <p:spPr>
          <a:xfrm>
            <a:off x="8147304" y="5306568"/>
            <a:ext cx="1673352" cy="545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63" name="Shape 61"/>
          <p:cNvSpPr/>
          <p:nvPr/>
        </p:nvSpPr>
        <p:spPr>
          <a:xfrm>
            <a:off x="9893808" y="5306568"/>
            <a:ext cx="1673352" cy="545592"/>
          </a:xfrm>
          <a:prstGeom prst="roundRect">
            <a:avLst>
              <a:gd name="adj" fmla="val 8380"/>
            </a:avLst>
          </a:prstGeom>
          <a:solidFill>
            <a:srgbClr val="1E90FF"/>
          </a:solidFill>
          <a:ln/>
        </p:spPr>
      </p:sp>
      <p:sp>
        <p:nvSpPr>
          <p:cNvPr id="64" name="Text 62"/>
          <p:cNvSpPr/>
          <p:nvPr/>
        </p:nvSpPr>
        <p:spPr>
          <a:xfrm>
            <a:off x="9893808" y="5306568"/>
            <a:ext cx="1673352" cy="5455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3"/>
          <p:cNvSpPr/>
          <p:nvPr/>
        </p:nvSpPr>
        <p:spPr>
          <a:xfrm>
            <a:off x="6309360" y="6035040"/>
            <a:ext cx="5349240" cy="320040"/>
          </a:xfrm>
          <a:prstGeom prst="rect">
            <a:avLst/>
          </a:prstGeom>
          <a:noFill/>
          <a:ln/>
        </p:spPr>
        <p:txBody>
          <a:bodyPr wrap="square" lIns="0" tIns="0" rIns="0" bIns="0" rtlCol="0" anchor="ctr"/>
          <a:lstStyle/>
          <a:p>
            <a:pPr algn="l" indent="0" marL="0">
              <a:buNone/>
            </a:pPr>
            <a:r>
              <a:rPr lang="en-US" sz="1150" i="1" dirty="0">
                <a:solidFill>
                  <a:srgbClr val="64748B"/>
                </a:solidFill>
                <a:latin typeface="Calibri" pitchFamily="34" charset="0"/>
                <a:ea typeface="Calibri" pitchFamily="34" charset="-122"/>
                <a:cs typeface="Calibri" pitchFamily="34" charset="-120"/>
              </a:rPr>
              <a:t>item 1 stretches from row line 1 to row line 3, so it covers two rows</a:t>
            </a:r>
            <a:endParaRPr lang="en-US" sz="1150" dirty="0"/>
          </a:p>
        </p:txBody>
      </p:sp>
      <p:sp>
        <p:nvSpPr>
          <p:cNvPr id="66" name="Text 64"/>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120140" cy="310896"/>
          </a:xfrm>
          <a:prstGeom prst="roundRect">
            <a:avLst>
              <a:gd name="adj" fmla="val 50000"/>
            </a:avLst>
          </a:prstGeom>
          <a:solidFill>
            <a:srgbClr val="2563EB"/>
          </a:solidFill>
          <a:ln/>
        </p:spPr>
      </p:sp>
      <p:sp>
        <p:nvSpPr>
          <p:cNvPr id="3" name="Text 1"/>
          <p:cNvSpPr/>
          <p:nvPr/>
        </p:nvSpPr>
        <p:spPr>
          <a:xfrm>
            <a:off x="548640" y="45720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SHORTHAND</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span: the easier way to say it</a:t>
            </a:r>
            <a:endParaRPr lang="en-US" sz="3400" dirty="0"/>
          </a:p>
        </p:txBody>
      </p:sp>
      <p:sp>
        <p:nvSpPr>
          <p:cNvPr id="5" name="Text 3"/>
          <p:cNvSpPr/>
          <p:nvPr/>
        </p:nvSpPr>
        <p:spPr>
          <a:xfrm>
            <a:off x="777240" y="2011680"/>
            <a:ext cx="5029200" cy="310896"/>
          </a:xfrm>
          <a:prstGeom prst="rect">
            <a:avLst/>
          </a:prstGeom>
          <a:noFill/>
          <a:ln/>
        </p:spPr>
        <p:txBody>
          <a:bodyPr wrap="square" lIns="0" tIns="0" rIns="0" bIns="0" rtlCol="0" anchor="ctr"/>
          <a:lstStyle/>
          <a:p>
            <a:pPr algn="l" indent="0" marL="0">
              <a:buNone/>
            </a:pPr>
            <a:r>
              <a:rPr lang="en-US" sz="1400" b="1" dirty="0">
                <a:solidFill>
                  <a:srgbClr val="64748B"/>
                </a:solidFill>
                <a:latin typeface="Courier New" pitchFamily="34" charset="0"/>
                <a:ea typeface="Courier New" pitchFamily="34" charset="-122"/>
                <a:cs typeface="Courier New" pitchFamily="34" charset="-120"/>
              </a:rPr>
              <a:t>grid-column: 1 / 3</a:t>
            </a:r>
            <a:endParaRPr lang="en-US" sz="1400" dirty="0"/>
          </a:p>
        </p:txBody>
      </p:sp>
      <p:sp>
        <p:nvSpPr>
          <p:cNvPr id="6" name="Shape 4"/>
          <p:cNvSpPr/>
          <p:nvPr/>
        </p:nvSpPr>
        <p:spPr>
          <a:xfrm>
            <a:off x="548640" y="2423160"/>
            <a:ext cx="5440680" cy="2377440"/>
          </a:xfrm>
          <a:prstGeom prst="roundRect">
            <a:avLst>
              <a:gd name="adj" fmla="val 3077"/>
            </a:avLst>
          </a:prstGeom>
          <a:solidFill>
            <a:srgbClr val="F1F5F9"/>
          </a:solidFill>
          <a:ln/>
        </p:spPr>
      </p:sp>
      <p:sp>
        <p:nvSpPr>
          <p:cNvPr id="7" name="Shape 5"/>
          <p:cNvSpPr/>
          <p:nvPr/>
        </p:nvSpPr>
        <p:spPr>
          <a:xfrm>
            <a:off x="640080" y="2514600"/>
            <a:ext cx="3480816" cy="682752"/>
          </a:xfrm>
          <a:prstGeom prst="roundRect">
            <a:avLst>
              <a:gd name="adj" fmla="val 6696"/>
            </a:avLst>
          </a:prstGeom>
          <a:solidFill>
            <a:srgbClr val="0F172A"/>
          </a:solidFill>
          <a:ln/>
        </p:spPr>
      </p:sp>
      <p:sp>
        <p:nvSpPr>
          <p:cNvPr id="8" name="Text 6"/>
          <p:cNvSpPr/>
          <p:nvPr/>
        </p:nvSpPr>
        <p:spPr>
          <a:xfrm>
            <a:off x="640080" y="2514600"/>
            <a:ext cx="3480816"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7"/>
          <p:cNvSpPr/>
          <p:nvPr/>
        </p:nvSpPr>
        <p:spPr>
          <a:xfrm>
            <a:off x="4194048" y="2514600"/>
            <a:ext cx="1703832" cy="682752"/>
          </a:xfrm>
          <a:prstGeom prst="roundRect">
            <a:avLst>
              <a:gd name="adj" fmla="val 6696"/>
            </a:avLst>
          </a:prstGeom>
          <a:solidFill>
            <a:srgbClr val="1E90FF"/>
          </a:solidFill>
          <a:ln/>
        </p:spPr>
      </p:sp>
      <p:sp>
        <p:nvSpPr>
          <p:cNvPr id="10" name="Text 8"/>
          <p:cNvSpPr/>
          <p:nvPr/>
        </p:nvSpPr>
        <p:spPr>
          <a:xfrm>
            <a:off x="4194048" y="2514600"/>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Shape 9"/>
          <p:cNvSpPr/>
          <p:nvPr/>
        </p:nvSpPr>
        <p:spPr>
          <a:xfrm>
            <a:off x="640080" y="3270504"/>
            <a:ext cx="1703832" cy="682752"/>
          </a:xfrm>
          <a:prstGeom prst="roundRect">
            <a:avLst>
              <a:gd name="adj" fmla="val 6696"/>
            </a:avLst>
          </a:prstGeom>
          <a:solidFill>
            <a:srgbClr val="1E90FF"/>
          </a:solidFill>
          <a:ln/>
        </p:spPr>
      </p:sp>
      <p:sp>
        <p:nvSpPr>
          <p:cNvPr id="12" name="Text 10"/>
          <p:cNvSpPr/>
          <p:nvPr/>
        </p:nvSpPr>
        <p:spPr>
          <a:xfrm>
            <a:off x="640080" y="3270504"/>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Shape 11"/>
          <p:cNvSpPr/>
          <p:nvPr/>
        </p:nvSpPr>
        <p:spPr>
          <a:xfrm>
            <a:off x="2417064" y="3270504"/>
            <a:ext cx="1703832" cy="682752"/>
          </a:xfrm>
          <a:prstGeom prst="roundRect">
            <a:avLst>
              <a:gd name="adj" fmla="val 6696"/>
            </a:avLst>
          </a:prstGeom>
          <a:solidFill>
            <a:srgbClr val="1E90FF"/>
          </a:solidFill>
          <a:ln/>
        </p:spPr>
      </p:sp>
      <p:sp>
        <p:nvSpPr>
          <p:cNvPr id="14" name="Text 12"/>
          <p:cNvSpPr/>
          <p:nvPr/>
        </p:nvSpPr>
        <p:spPr>
          <a:xfrm>
            <a:off x="2417064" y="3270504"/>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Shape 13"/>
          <p:cNvSpPr/>
          <p:nvPr/>
        </p:nvSpPr>
        <p:spPr>
          <a:xfrm>
            <a:off x="4194048" y="3270504"/>
            <a:ext cx="1703832" cy="682752"/>
          </a:xfrm>
          <a:prstGeom prst="roundRect">
            <a:avLst>
              <a:gd name="adj" fmla="val 6696"/>
            </a:avLst>
          </a:prstGeom>
          <a:solidFill>
            <a:srgbClr val="1E90FF"/>
          </a:solidFill>
          <a:ln/>
        </p:spPr>
      </p:sp>
      <p:sp>
        <p:nvSpPr>
          <p:cNvPr id="16" name="Text 14"/>
          <p:cNvSpPr/>
          <p:nvPr/>
        </p:nvSpPr>
        <p:spPr>
          <a:xfrm>
            <a:off x="4194048" y="3270504"/>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7" name="Shape 15"/>
          <p:cNvSpPr/>
          <p:nvPr/>
        </p:nvSpPr>
        <p:spPr>
          <a:xfrm>
            <a:off x="640080" y="4026408"/>
            <a:ext cx="1703832" cy="682752"/>
          </a:xfrm>
          <a:prstGeom prst="roundRect">
            <a:avLst>
              <a:gd name="adj" fmla="val 6696"/>
            </a:avLst>
          </a:prstGeom>
          <a:solidFill>
            <a:srgbClr val="1E90FF"/>
          </a:solidFill>
          <a:ln/>
        </p:spPr>
      </p:sp>
      <p:sp>
        <p:nvSpPr>
          <p:cNvPr id="18" name="Text 16"/>
          <p:cNvSpPr/>
          <p:nvPr/>
        </p:nvSpPr>
        <p:spPr>
          <a:xfrm>
            <a:off x="640080" y="4026408"/>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9" name="Shape 17"/>
          <p:cNvSpPr/>
          <p:nvPr/>
        </p:nvSpPr>
        <p:spPr>
          <a:xfrm>
            <a:off x="2417064" y="4026408"/>
            <a:ext cx="1703832" cy="682752"/>
          </a:xfrm>
          <a:prstGeom prst="roundRect">
            <a:avLst>
              <a:gd name="adj" fmla="val 6696"/>
            </a:avLst>
          </a:prstGeom>
          <a:solidFill>
            <a:srgbClr val="1E90FF"/>
          </a:solidFill>
          <a:ln/>
        </p:spPr>
      </p:sp>
      <p:sp>
        <p:nvSpPr>
          <p:cNvPr id="20" name="Text 18"/>
          <p:cNvSpPr/>
          <p:nvPr/>
        </p:nvSpPr>
        <p:spPr>
          <a:xfrm>
            <a:off x="2417064" y="4026408"/>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1" name="Shape 19"/>
          <p:cNvSpPr/>
          <p:nvPr/>
        </p:nvSpPr>
        <p:spPr>
          <a:xfrm>
            <a:off x="4194048" y="4026408"/>
            <a:ext cx="1703832" cy="682752"/>
          </a:xfrm>
          <a:prstGeom prst="roundRect">
            <a:avLst>
              <a:gd name="adj" fmla="val 6696"/>
            </a:avLst>
          </a:prstGeom>
          <a:solidFill>
            <a:srgbClr val="1E90FF"/>
          </a:solidFill>
          <a:ln/>
        </p:spPr>
      </p:sp>
      <p:sp>
        <p:nvSpPr>
          <p:cNvPr id="22" name="Text 20"/>
          <p:cNvSpPr/>
          <p:nvPr/>
        </p:nvSpPr>
        <p:spPr>
          <a:xfrm>
            <a:off x="4194048" y="4026408"/>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3" name="Text 21"/>
          <p:cNvSpPr/>
          <p:nvPr/>
        </p:nvSpPr>
        <p:spPr>
          <a:xfrm>
            <a:off x="548640" y="4892040"/>
            <a:ext cx="5440680" cy="27432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counting lines: start at 1, stop at 3</a:t>
            </a:r>
            <a:endParaRPr lang="en-US" sz="1200" dirty="0"/>
          </a:p>
        </p:txBody>
      </p:sp>
      <p:sp>
        <p:nvSpPr>
          <p:cNvPr id="24" name="Text 22"/>
          <p:cNvSpPr/>
          <p:nvPr/>
        </p:nvSpPr>
        <p:spPr>
          <a:xfrm>
            <a:off x="5806440" y="3200400"/>
            <a:ext cx="548640" cy="731520"/>
          </a:xfrm>
          <a:prstGeom prst="rect">
            <a:avLst/>
          </a:prstGeom>
          <a:noFill/>
          <a:ln/>
        </p:spPr>
        <p:txBody>
          <a:bodyPr wrap="square" lIns="0" tIns="0" rIns="0" bIns="0" rtlCol="0" anchor="ctr"/>
          <a:lstStyle/>
          <a:p>
            <a:pPr algn="ctr" indent="0" marL="0">
              <a:buNone/>
            </a:pPr>
            <a:r>
              <a:rPr lang="en-US" sz="3400" b="1" dirty="0">
                <a:solidFill>
                  <a:srgbClr val="2563EB"/>
                </a:solidFill>
                <a:latin typeface="Calibri" pitchFamily="34" charset="0"/>
                <a:ea typeface="Calibri" pitchFamily="34" charset="-122"/>
                <a:cs typeface="Calibri" pitchFamily="34" charset="-120"/>
              </a:rPr>
              <a:t>=</a:t>
            </a:r>
            <a:endParaRPr lang="en-US" sz="3400" dirty="0"/>
          </a:p>
        </p:txBody>
      </p:sp>
      <p:sp>
        <p:nvSpPr>
          <p:cNvPr id="25" name="Text 23"/>
          <p:cNvSpPr/>
          <p:nvPr/>
        </p:nvSpPr>
        <p:spPr>
          <a:xfrm>
            <a:off x="6446520" y="2011680"/>
            <a:ext cx="5029200" cy="310896"/>
          </a:xfrm>
          <a:prstGeom prst="rect">
            <a:avLst/>
          </a:prstGeom>
          <a:noFill/>
          <a:ln/>
        </p:spPr>
        <p:txBody>
          <a:bodyPr wrap="square" lIns="0" tIns="0" rIns="0" bIns="0" rtlCol="0" anchor="ctr"/>
          <a:lstStyle/>
          <a:p>
            <a:pPr algn="l" indent="0" marL="0">
              <a:buNone/>
            </a:pPr>
            <a:r>
              <a:rPr lang="en-US" sz="1400" b="1" dirty="0">
                <a:solidFill>
                  <a:srgbClr val="2563EB"/>
                </a:solidFill>
                <a:latin typeface="Courier New" pitchFamily="34" charset="0"/>
                <a:ea typeface="Courier New" pitchFamily="34" charset="-122"/>
                <a:cs typeface="Courier New" pitchFamily="34" charset="-120"/>
              </a:rPr>
              <a:t>grid-column: span 2</a:t>
            </a:r>
            <a:endParaRPr lang="en-US" sz="1400" dirty="0"/>
          </a:p>
        </p:txBody>
      </p:sp>
      <p:sp>
        <p:nvSpPr>
          <p:cNvPr id="26" name="Shape 24"/>
          <p:cNvSpPr/>
          <p:nvPr/>
        </p:nvSpPr>
        <p:spPr>
          <a:xfrm>
            <a:off x="6217920" y="2423160"/>
            <a:ext cx="5440680" cy="2377440"/>
          </a:xfrm>
          <a:prstGeom prst="roundRect">
            <a:avLst>
              <a:gd name="adj" fmla="val 3077"/>
            </a:avLst>
          </a:prstGeom>
          <a:solidFill>
            <a:srgbClr val="E5EEFF"/>
          </a:solidFill>
          <a:ln/>
        </p:spPr>
      </p:sp>
      <p:sp>
        <p:nvSpPr>
          <p:cNvPr id="27" name="Shape 25"/>
          <p:cNvSpPr/>
          <p:nvPr/>
        </p:nvSpPr>
        <p:spPr>
          <a:xfrm>
            <a:off x="6309360" y="2514600"/>
            <a:ext cx="3480816" cy="682752"/>
          </a:xfrm>
          <a:prstGeom prst="roundRect">
            <a:avLst>
              <a:gd name="adj" fmla="val 6696"/>
            </a:avLst>
          </a:prstGeom>
          <a:solidFill>
            <a:srgbClr val="0F172A"/>
          </a:solidFill>
          <a:ln/>
        </p:spPr>
      </p:sp>
      <p:sp>
        <p:nvSpPr>
          <p:cNvPr id="28" name="Text 26"/>
          <p:cNvSpPr/>
          <p:nvPr/>
        </p:nvSpPr>
        <p:spPr>
          <a:xfrm>
            <a:off x="6309360" y="2514600"/>
            <a:ext cx="3480816"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Shape 27"/>
          <p:cNvSpPr/>
          <p:nvPr/>
        </p:nvSpPr>
        <p:spPr>
          <a:xfrm>
            <a:off x="9863328" y="2514600"/>
            <a:ext cx="1703832" cy="682752"/>
          </a:xfrm>
          <a:prstGeom prst="roundRect">
            <a:avLst>
              <a:gd name="adj" fmla="val 6696"/>
            </a:avLst>
          </a:prstGeom>
          <a:solidFill>
            <a:srgbClr val="1E90FF"/>
          </a:solidFill>
          <a:ln/>
        </p:spPr>
      </p:sp>
      <p:sp>
        <p:nvSpPr>
          <p:cNvPr id="30" name="Text 28"/>
          <p:cNvSpPr/>
          <p:nvPr/>
        </p:nvSpPr>
        <p:spPr>
          <a:xfrm>
            <a:off x="9863328" y="2514600"/>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Shape 29"/>
          <p:cNvSpPr/>
          <p:nvPr/>
        </p:nvSpPr>
        <p:spPr>
          <a:xfrm>
            <a:off x="6309360" y="3270504"/>
            <a:ext cx="1703832" cy="682752"/>
          </a:xfrm>
          <a:prstGeom prst="roundRect">
            <a:avLst>
              <a:gd name="adj" fmla="val 6696"/>
            </a:avLst>
          </a:prstGeom>
          <a:solidFill>
            <a:srgbClr val="1E90FF"/>
          </a:solidFill>
          <a:ln/>
        </p:spPr>
      </p:sp>
      <p:sp>
        <p:nvSpPr>
          <p:cNvPr id="32" name="Text 30"/>
          <p:cNvSpPr/>
          <p:nvPr/>
        </p:nvSpPr>
        <p:spPr>
          <a:xfrm>
            <a:off x="6309360" y="3270504"/>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8086344" y="3270504"/>
            <a:ext cx="1703832" cy="682752"/>
          </a:xfrm>
          <a:prstGeom prst="roundRect">
            <a:avLst>
              <a:gd name="adj" fmla="val 6696"/>
            </a:avLst>
          </a:prstGeom>
          <a:solidFill>
            <a:srgbClr val="1E90FF"/>
          </a:solidFill>
          <a:ln/>
        </p:spPr>
      </p:sp>
      <p:sp>
        <p:nvSpPr>
          <p:cNvPr id="34" name="Text 32"/>
          <p:cNvSpPr/>
          <p:nvPr/>
        </p:nvSpPr>
        <p:spPr>
          <a:xfrm>
            <a:off x="8086344" y="3270504"/>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Shape 33"/>
          <p:cNvSpPr/>
          <p:nvPr/>
        </p:nvSpPr>
        <p:spPr>
          <a:xfrm>
            <a:off x="9863328" y="3270504"/>
            <a:ext cx="1703832" cy="682752"/>
          </a:xfrm>
          <a:prstGeom prst="roundRect">
            <a:avLst>
              <a:gd name="adj" fmla="val 6696"/>
            </a:avLst>
          </a:prstGeom>
          <a:solidFill>
            <a:srgbClr val="1E90FF"/>
          </a:solidFill>
          <a:ln/>
        </p:spPr>
      </p:sp>
      <p:sp>
        <p:nvSpPr>
          <p:cNvPr id="36" name="Text 34"/>
          <p:cNvSpPr/>
          <p:nvPr/>
        </p:nvSpPr>
        <p:spPr>
          <a:xfrm>
            <a:off x="9863328" y="3270504"/>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7" name="Shape 35"/>
          <p:cNvSpPr/>
          <p:nvPr/>
        </p:nvSpPr>
        <p:spPr>
          <a:xfrm>
            <a:off x="6309360" y="4026408"/>
            <a:ext cx="1703832" cy="682752"/>
          </a:xfrm>
          <a:prstGeom prst="roundRect">
            <a:avLst>
              <a:gd name="adj" fmla="val 6696"/>
            </a:avLst>
          </a:prstGeom>
          <a:solidFill>
            <a:srgbClr val="1E90FF"/>
          </a:solidFill>
          <a:ln/>
        </p:spPr>
      </p:sp>
      <p:sp>
        <p:nvSpPr>
          <p:cNvPr id="38" name="Text 36"/>
          <p:cNvSpPr/>
          <p:nvPr/>
        </p:nvSpPr>
        <p:spPr>
          <a:xfrm>
            <a:off x="6309360" y="4026408"/>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Shape 37"/>
          <p:cNvSpPr/>
          <p:nvPr/>
        </p:nvSpPr>
        <p:spPr>
          <a:xfrm>
            <a:off x="8086344" y="4026408"/>
            <a:ext cx="1703832" cy="682752"/>
          </a:xfrm>
          <a:prstGeom prst="roundRect">
            <a:avLst>
              <a:gd name="adj" fmla="val 6696"/>
            </a:avLst>
          </a:prstGeom>
          <a:solidFill>
            <a:srgbClr val="1E90FF"/>
          </a:solidFill>
          <a:ln/>
        </p:spPr>
      </p:sp>
      <p:sp>
        <p:nvSpPr>
          <p:cNvPr id="40" name="Text 38"/>
          <p:cNvSpPr/>
          <p:nvPr/>
        </p:nvSpPr>
        <p:spPr>
          <a:xfrm>
            <a:off x="8086344" y="4026408"/>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Shape 39"/>
          <p:cNvSpPr/>
          <p:nvPr/>
        </p:nvSpPr>
        <p:spPr>
          <a:xfrm>
            <a:off x="9863328" y="4026408"/>
            <a:ext cx="1703832" cy="682752"/>
          </a:xfrm>
          <a:prstGeom prst="roundRect">
            <a:avLst>
              <a:gd name="adj" fmla="val 6696"/>
            </a:avLst>
          </a:prstGeom>
          <a:solidFill>
            <a:srgbClr val="1E90FF"/>
          </a:solidFill>
          <a:ln/>
        </p:spPr>
      </p:sp>
      <p:sp>
        <p:nvSpPr>
          <p:cNvPr id="42" name="Text 40"/>
          <p:cNvSpPr/>
          <p:nvPr/>
        </p:nvSpPr>
        <p:spPr>
          <a:xfrm>
            <a:off x="9863328" y="4026408"/>
            <a:ext cx="1703832" cy="682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3" name="Text 41"/>
          <p:cNvSpPr/>
          <p:nvPr/>
        </p:nvSpPr>
        <p:spPr>
          <a:xfrm>
            <a:off x="6217920" y="4892040"/>
            <a:ext cx="5440680" cy="274320"/>
          </a:xfrm>
          <a:prstGeom prst="rect">
            <a:avLst/>
          </a:prstGeom>
          <a:noFill/>
          <a:ln/>
        </p:spPr>
        <p:txBody>
          <a:bodyPr wrap="square" lIns="0" tIns="0" rIns="0" bIns="0" rtlCol="0" anchor="ctr"/>
          <a:lstStyle/>
          <a:p>
            <a:pPr algn="ctr" indent="0" marL="0">
              <a:buNone/>
            </a:pPr>
            <a:r>
              <a:rPr lang="en-US" sz="1200" i="1" dirty="0">
                <a:solidFill>
                  <a:srgbClr val="2563EB"/>
                </a:solidFill>
                <a:latin typeface="Calibri" pitchFamily="34" charset="0"/>
                <a:ea typeface="Calibri" pitchFamily="34" charset="-122"/>
                <a:cs typeface="Calibri" pitchFamily="34" charset="-120"/>
              </a:rPr>
              <a:t>just say how many tracks to cover</a:t>
            </a:r>
            <a:endParaRPr lang="en-US" sz="1200" dirty="0"/>
          </a:p>
        </p:txBody>
      </p:sp>
      <p:sp>
        <p:nvSpPr>
          <p:cNvPr id="44" name="Shape 42"/>
          <p:cNvSpPr/>
          <p:nvPr/>
        </p:nvSpPr>
        <p:spPr>
          <a:xfrm>
            <a:off x="548640" y="5303520"/>
            <a:ext cx="11109960" cy="685800"/>
          </a:xfrm>
          <a:prstGeom prst="roundRect">
            <a:avLst>
              <a:gd name="adj" fmla="val 16000"/>
            </a:avLst>
          </a:prstGeom>
          <a:solidFill>
            <a:srgbClr val="EEF2FF"/>
          </a:solidFill>
          <a:ln/>
        </p:spPr>
      </p:sp>
      <p:sp>
        <p:nvSpPr>
          <p:cNvPr id="45" name="Shape 43"/>
          <p:cNvSpPr/>
          <p:nvPr/>
        </p:nvSpPr>
        <p:spPr>
          <a:xfrm>
            <a:off x="749808" y="5518404"/>
            <a:ext cx="256032" cy="256032"/>
          </a:xfrm>
          <a:prstGeom prst="ellipse">
            <a:avLst/>
          </a:prstGeom>
          <a:solidFill>
            <a:srgbClr val="8B5CF6"/>
          </a:solidFill>
          <a:ln/>
        </p:spPr>
      </p:sp>
      <p:sp>
        <p:nvSpPr>
          <p:cNvPr id="46" name="Text 44"/>
          <p:cNvSpPr/>
          <p:nvPr/>
        </p:nvSpPr>
        <p:spPr>
          <a:xfrm>
            <a:off x="1207008" y="5303520"/>
            <a:ext cx="10241280" cy="685800"/>
          </a:xfrm>
          <a:prstGeom prst="rect">
            <a:avLst/>
          </a:prstGeom>
          <a:noFill/>
          <a:ln/>
        </p:spPr>
        <p:txBody>
          <a:bodyPr wrap="square" lIns="0" tIns="0" rIns="0" bIns="0" rtlCol="0" anchor="ctr"/>
          <a:lstStyle/>
          <a:p>
            <a:pPr algn="l" indent="0" marL="0">
              <a:buNone/>
            </a:pPr>
            <a:r>
              <a:rPr lang="en-US" sz="1400" dirty="0">
                <a:solidFill>
                  <a:srgbClr val="3B2E7A"/>
                </a:solidFill>
                <a:latin typeface="Calibri" pitchFamily="34" charset="0"/>
                <a:ea typeface="Calibri" pitchFamily="34" charset="-122"/>
                <a:cs typeface="Calibri" pitchFamily="34" charset="-120"/>
              </a:rPr>
              <a:t>Same result. span is easier to read and does not break when you add a column later.</a:t>
            </a:r>
            <a:endParaRPr lang="en-US" sz="1400" dirty="0"/>
          </a:p>
        </p:txBody>
      </p:sp>
      <p:sp>
        <p:nvSpPr>
          <p:cNvPr id="47" name="Text 45"/>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502920"/>
            <a:ext cx="1371600" cy="310896"/>
          </a:xfrm>
          <a:prstGeom prst="roundRect">
            <a:avLst>
              <a:gd name="adj" fmla="val 50000"/>
            </a:avLst>
          </a:prstGeom>
          <a:solidFill>
            <a:srgbClr val="8B5CF6"/>
          </a:solidFill>
          <a:ln/>
        </p:spPr>
      </p:sp>
      <p:sp>
        <p:nvSpPr>
          <p:cNvPr id="3" name="Text 1"/>
          <p:cNvSpPr/>
          <p:nvPr/>
        </p:nvSpPr>
        <p:spPr>
          <a:xfrm>
            <a:off x="548640" y="50292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QUIZ 2</a:t>
            </a:r>
            <a:endParaRPr lang="en-US" sz="1100" dirty="0"/>
          </a:p>
        </p:txBody>
      </p:sp>
      <p:sp>
        <p:nvSpPr>
          <p:cNvPr id="4" name="Text 2"/>
          <p:cNvSpPr/>
          <p:nvPr/>
        </p:nvSpPr>
        <p:spPr>
          <a:xfrm>
            <a:off x="548640" y="1005840"/>
            <a:ext cx="11064240" cy="1005840"/>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Which CSS property creates a gap between columns and rows in a CSS Grid?</a:t>
            </a:r>
            <a:endParaRPr lang="en-US" sz="3000" dirty="0"/>
          </a:p>
        </p:txBody>
      </p:sp>
      <p:sp>
        <p:nvSpPr>
          <p:cNvPr id="5" name="Shape 3"/>
          <p:cNvSpPr/>
          <p:nvPr/>
        </p:nvSpPr>
        <p:spPr>
          <a:xfrm>
            <a:off x="54864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715768"/>
            <a:ext cx="457200" cy="457200"/>
          </a:xfrm>
          <a:prstGeom prst="roundRect">
            <a:avLst>
              <a:gd name="adj" fmla="val 20000"/>
            </a:avLst>
          </a:prstGeom>
          <a:solidFill>
            <a:srgbClr val="2563EB"/>
          </a:solidFill>
          <a:ln/>
        </p:spPr>
      </p:sp>
      <p:sp>
        <p:nvSpPr>
          <p:cNvPr id="7" name="Text 5"/>
          <p:cNvSpPr/>
          <p:nvPr/>
        </p:nvSpPr>
        <p:spPr>
          <a:xfrm>
            <a:off x="82296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50876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grid-gap</a:t>
            </a:r>
            <a:endParaRPr lang="en-US" sz="1500" dirty="0"/>
          </a:p>
        </p:txBody>
      </p:sp>
      <p:sp>
        <p:nvSpPr>
          <p:cNvPr id="9" name="Shape 7"/>
          <p:cNvSpPr/>
          <p:nvPr/>
        </p:nvSpPr>
        <p:spPr>
          <a:xfrm>
            <a:off x="628650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0" name="Shape 8"/>
          <p:cNvSpPr/>
          <p:nvPr/>
        </p:nvSpPr>
        <p:spPr>
          <a:xfrm>
            <a:off x="6560820" y="2715768"/>
            <a:ext cx="457200" cy="457200"/>
          </a:xfrm>
          <a:prstGeom prst="roundRect">
            <a:avLst>
              <a:gd name="adj" fmla="val 20000"/>
            </a:avLst>
          </a:prstGeom>
          <a:solidFill>
            <a:srgbClr val="2563EB"/>
          </a:solidFill>
          <a:ln/>
        </p:spPr>
      </p:sp>
      <p:sp>
        <p:nvSpPr>
          <p:cNvPr id="11" name="Text 9"/>
          <p:cNvSpPr/>
          <p:nvPr/>
        </p:nvSpPr>
        <p:spPr>
          <a:xfrm>
            <a:off x="656082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724662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grid-space</a:t>
            </a:r>
            <a:endParaRPr lang="en-US" sz="1500" dirty="0"/>
          </a:p>
        </p:txBody>
      </p:sp>
      <p:sp>
        <p:nvSpPr>
          <p:cNvPr id="13" name="Shape 11"/>
          <p:cNvSpPr/>
          <p:nvPr/>
        </p:nvSpPr>
        <p:spPr>
          <a:xfrm>
            <a:off x="54864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Shape 12"/>
          <p:cNvSpPr/>
          <p:nvPr/>
        </p:nvSpPr>
        <p:spPr>
          <a:xfrm>
            <a:off x="822960" y="4315968"/>
            <a:ext cx="457200" cy="457200"/>
          </a:xfrm>
          <a:prstGeom prst="roundRect">
            <a:avLst>
              <a:gd name="adj" fmla="val 20000"/>
            </a:avLst>
          </a:prstGeom>
          <a:solidFill>
            <a:srgbClr val="2563EB"/>
          </a:solidFill>
          <a:ln/>
        </p:spPr>
      </p:sp>
      <p:sp>
        <p:nvSpPr>
          <p:cNvPr id="15" name="Text 13"/>
          <p:cNvSpPr/>
          <p:nvPr/>
        </p:nvSpPr>
        <p:spPr>
          <a:xfrm>
            <a:off x="82296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4"/>
          <p:cNvSpPr/>
          <p:nvPr/>
        </p:nvSpPr>
        <p:spPr>
          <a:xfrm>
            <a:off x="150876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grid-margin</a:t>
            </a:r>
            <a:endParaRPr lang="en-US" sz="1500" dirty="0"/>
          </a:p>
        </p:txBody>
      </p:sp>
      <p:sp>
        <p:nvSpPr>
          <p:cNvPr id="17" name="Shape 15"/>
          <p:cNvSpPr/>
          <p:nvPr/>
        </p:nvSpPr>
        <p:spPr>
          <a:xfrm>
            <a:off x="628650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8" name="Shape 16"/>
          <p:cNvSpPr/>
          <p:nvPr/>
        </p:nvSpPr>
        <p:spPr>
          <a:xfrm>
            <a:off x="6560820" y="4315968"/>
            <a:ext cx="457200" cy="457200"/>
          </a:xfrm>
          <a:prstGeom prst="roundRect">
            <a:avLst>
              <a:gd name="adj" fmla="val 20000"/>
            </a:avLst>
          </a:prstGeom>
          <a:solidFill>
            <a:srgbClr val="2563EB"/>
          </a:solidFill>
          <a:ln/>
        </p:spPr>
      </p:sp>
      <p:sp>
        <p:nvSpPr>
          <p:cNvPr id="19" name="Text 17"/>
          <p:cNvSpPr/>
          <p:nvPr/>
        </p:nvSpPr>
        <p:spPr>
          <a:xfrm>
            <a:off x="656082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0" name="Text 18"/>
          <p:cNvSpPr/>
          <p:nvPr/>
        </p:nvSpPr>
        <p:spPr>
          <a:xfrm>
            <a:off x="724662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grid-padding</a:t>
            </a:r>
            <a:endParaRPr lang="en-US" sz="1500" dirty="0"/>
          </a:p>
        </p:txBody>
      </p:sp>
      <p:sp>
        <p:nvSpPr>
          <p:cNvPr id="21" name="Shape 19"/>
          <p:cNvSpPr/>
          <p:nvPr/>
        </p:nvSpPr>
        <p:spPr>
          <a:xfrm>
            <a:off x="548640" y="5532120"/>
            <a:ext cx="11109960" cy="777240"/>
          </a:xfrm>
          <a:prstGeom prst="roundRect">
            <a:avLst>
              <a:gd name="adj" fmla="val 14118"/>
            </a:avLst>
          </a:prstGeom>
          <a:solidFill>
            <a:srgbClr val="E7FBEF"/>
          </a:solidFill>
          <a:ln/>
        </p:spPr>
      </p:sp>
      <p:sp>
        <p:nvSpPr>
          <p:cNvPr id="22" name="Shape 20"/>
          <p:cNvSpPr/>
          <p:nvPr/>
        </p:nvSpPr>
        <p:spPr>
          <a:xfrm>
            <a:off x="749808" y="5792724"/>
            <a:ext cx="256032" cy="256032"/>
          </a:xfrm>
          <a:prstGeom prst="ellipse">
            <a:avLst/>
          </a:prstGeom>
          <a:solidFill>
            <a:srgbClr val="22C55E"/>
          </a:solidFill>
          <a:ln/>
        </p:spPr>
      </p:sp>
      <p:sp>
        <p:nvSpPr>
          <p:cNvPr id="23" name="Text 21"/>
          <p:cNvSpPr/>
          <p:nvPr/>
        </p:nvSpPr>
        <p:spPr>
          <a:xfrm>
            <a:off x="1207008" y="5532120"/>
            <a:ext cx="10241280" cy="7772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Chorus answer on three. Then ask which two of these four are not real CSS properties at all.</a:t>
            </a:r>
            <a:endParaRPr lang="en-US" sz="1400" dirty="0"/>
          </a:p>
        </p:txBody>
      </p:sp>
      <p:sp>
        <p:nvSpPr>
          <p:cNvPr id="24"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Responsive Layout and CSS Grid</a:t>
            </a:r>
            <a:endParaRPr lang="en-US" sz="100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4480560" y="1371600"/>
            <a:ext cx="3200400" cy="3200400"/>
          </a:xfrm>
          <a:prstGeom prst="ellipse">
            <a:avLst/>
          </a:prstGeom>
          <a:solidFill>
            <a:srgbClr val="2563EB"/>
          </a:solidFill>
          <a:ln/>
          <a:effectLst>
            <a:outerShdw sx="100000" sy="100000" kx="0" ky="0" algn="bl" rotWithShape="0" blurRad="254000" dist="38100" dir="5400000">
              <a:srgbClr val="0B1220">
                <a:alpha val="40000"/>
              </a:srgbClr>
            </a:outerShdw>
          </a:effectLst>
        </p:spPr>
      </p:sp>
      <p:sp>
        <p:nvSpPr>
          <p:cNvPr id="3" name="Shape 1"/>
          <p:cNvSpPr/>
          <p:nvPr/>
        </p:nvSpPr>
        <p:spPr>
          <a:xfrm>
            <a:off x="5394960" y="2286000"/>
            <a:ext cx="1371600" cy="137160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751576" y="2642616"/>
            <a:ext cx="658368" cy="658368"/>
          </a:xfrm>
          <a:prstGeom prst="rect">
            <a:avLst/>
          </a:prstGeom>
        </p:spPr>
      </p:pic>
      <p:sp>
        <p:nvSpPr>
          <p:cNvPr id="5" name="Text 2"/>
          <p:cNvSpPr/>
          <p:nvPr/>
        </p:nvSpPr>
        <p:spPr>
          <a:xfrm>
            <a:off x="914400" y="470916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5 minute break</a:t>
            </a:r>
            <a:endParaRPr lang="en-US" sz="4000" dirty="0"/>
          </a:p>
        </p:txBody>
      </p:sp>
      <p:sp>
        <p:nvSpPr>
          <p:cNvPr id="6" name="Text 3"/>
          <p:cNvSpPr/>
          <p:nvPr/>
        </p:nvSpPr>
        <p:spPr>
          <a:xfrm>
            <a:off x="914400" y="5440680"/>
            <a:ext cx="10360152" cy="45720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Stand up. Water. Rest your eyes. We resume on the dot.</a:t>
            </a:r>
            <a:endParaRPr lang="en-US" sz="1600" dirty="0"/>
          </a:p>
        </p:txBody>
      </p:sp>
      <p:sp>
        <p:nvSpPr>
          <p:cNvPr id="7" name="Shape 4"/>
          <p:cNvSpPr/>
          <p:nvPr/>
        </p:nvSpPr>
        <p:spPr>
          <a:xfrm>
            <a:off x="822960" y="640080"/>
            <a:ext cx="2377440" cy="310896"/>
          </a:xfrm>
          <a:prstGeom prst="roundRect">
            <a:avLst>
              <a:gd name="adj" fmla="val 50000"/>
            </a:avLst>
          </a:prstGeom>
          <a:solidFill>
            <a:srgbClr val="1B2A4A"/>
          </a:solidFill>
          <a:ln/>
        </p:spPr>
      </p:sp>
      <p:sp>
        <p:nvSpPr>
          <p:cNvPr id="8" name="Text 5"/>
          <p:cNvSpPr/>
          <p:nvPr/>
        </p:nvSpPr>
        <p:spPr>
          <a:xfrm>
            <a:off x="822960" y="640080"/>
            <a:ext cx="23774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ITEM-LEVEL CONTROL DONE</a:t>
            </a:r>
            <a:endParaRPr lang="en-US" sz="1100" dirty="0"/>
          </a:p>
        </p:txBody>
      </p:sp>
      <p:sp>
        <p:nvSpPr>
          <p:cNvPr id="9" name="Text 6"/>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Next up: building a full page layout with grid areas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03</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3</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Grid areas</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Name the regions, then draw the layout as a map.</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024128" cy="310896"/>
          </a:xfrm>
          <a:prstGeom prst="roundRect">
            <a:avLst>
              <a:gd name="adj" fmla="val 50000"/>
            </a:avLst>
          </a:prstGeom>
          <a:solidFill>
            <a:srgbClr val="2563EB"/>
          </a:solidFill>
          <a:ln/>
        </p:spPr>
      </p:sp>
      <p:sp>
        <p:nvSpPr>
          <p:cNvPr id="3" name="Text 1"/>
          <p:cNvSpPr/>
          <p:nvPr/>
        </p:nvSpPr>
        <p:spPr>
          <a:xfrm>
            <a:off x="548640" y="457200"/>
            <a:ext cx="1024128"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THE GOAL</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The layout we are building</a:t>
            </a:r>
            <a:endParaRPr lang="en-US" sz="3400" dirty="0"/>
          </a:p>
        </p:txBody>
      </p:sp>
      <p:sp>
        <p:nvSpPr>
          <p:cNvPr id="5" name="Text 3"/>
          <p:cNvSpPr/>
          <p:nvPr/>
        </p:nvSpPr>
        <p:spPr>
          <a:xfrm>
            <a:off x="548640" y="1828800"/>
            <a:ext cx="11064240" cy="457200"/>
          </a:xfrm>
          <a:prstGeom prst="rect">
            <a:avLst/>
          </a:prstGeom>
          <a:noFill/>
          <a:ln/>
        </p:spPr>
        <p:txBody>
          <a:bodyPr wrap="square" lIns="0" tIns="0" rIns="0" bIns="0" rtlCol="0" anchor="ctr"/>
          <a:lstStyle/>
          <a:p>
            <a:pPr algn="l" indent="0" marL="0">
              <a:buNone/>
            </a:pPr>
            <a:r>
              <a:rPr lang="en-US" sz="1500" dirty="0">
                <a:solidFill>
                  <a:srgbClr val="64748B"/>
                </a:solidFill>
                <a:latin typeface="Calibri" pitchFamily="34" charset="0"/>
                <a:ea typeface="Calibri" pitchFamily="34" charset="-122"/>
                <a:cs typeface="Calibri" pitchFamily="34" charset="-120"/>
              </a:rPr>
              <a:t>Top-down is the right approach. Name the regions first, then size them.</a:t>
            </a:r>
            <a:endParaRPr lang="en-US" sz="1500" dirty="0"/>
          </a:p>
        </p:txBody>
      </p:sp>
      <p:sp>
        <p:nvSpPr>
          <p:cNvPr id="6" name="Shape 4"/>
          <p:cNvSpPr/>
          <p:nvPr/>
        </p:nvSpPr>
        <p:spPr>
          <a:xfrm>
            <a:off x="548640" y="2377440"/>
            <a:ext cx="6949440" cy="3566160"/>
          </a:xfrm>
          <a:prstGeom prst="roundRect">
            <a:avLst>
              <a:gd name="adj" fmla="val 2051"/>
            </a:avLst>
          </a:prstGeom>
          <a:solidFill>
            <a:srgbClr val="F1F5F9"/>
          </a:solidFill>
          <a:ln/>
        </p:spPr>
      </p:sp>
      <p:sp>
        <p:nvSpPr>
          <p:cNvPr id="7" name="Shape 5"/>
          <p:cNvSpPr/>
          <p:nvPr/>
        </p:nvSpPr>
        <p:spPr>
          <a:xfrm>
            <a:off x="658368" y="2487168"/>
            <a:ext cx="6729984" cy="578566"/>
          </a:xfrm>
          <a:prstGeom prst="roundRect">
            <a:avLst>
              <a:gd name="adj" fmla="val 7902"/>
            </a:avLst>
          </a:prstGeom>
          <a:solidFill>
            <a:srgbClr val="2563EB"/>
          </a:solidFill>
          <a:ln/>
        </p:spPr>
      </p:sp>
      <p:sp>
        <p:nvSpPr>
          <p:cNvPr id="8" name="Text 6"/>
          <p:cNvSpPr/>
          <p:nvPr/>
        </p:nvSpPr>
        <p:spPr>
          <a:xfrm>
            <a:off x="658368" y="2487168"/>
            <a:ext cx="6729984" cy="57856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header</a:t>
            </a:r>
            <a:endParaRPr lang="en-US" sz="1200" dirty="0"/>
          </a:p>
        </p:txBody>
      </p:sp>
      <p:sp>
        <p:nvSpPr>
          <p:cNvPr id="9" name="Shape 7"/>
          <p:cNvSpPr/>
          <p:nvPr/>
        </p:nvSpPr>
        <p:spPr>
          <a:xfrm>
            <a:off x="658368" y="3148030"/>
            <a:ext cx="926157" cy="2685842"/>
          </a:xfrm>
          <a:prstGeom prst="roundRect">
            <a:avLst>
              <a:gd name="adj" fmla="val 4937"/>
            </a:avLst>
          </a:prstGeom>
          <a:solidFill>
            <a:srgbClr val="22C55E"/>
          </a:solidFill>
          <a:ln/>
        </p:spPr>
      </p:sp>
      <p:sp>
        <p:nvSpPr>
          <p:cNvPr id="10" name="Text 8"/>
          <p:cNvSpPr/>
          <p:nvPr/>
        </p:nvSpPr>
        <p:spPr>
          <a:xfrm>
            <a:off x="658368" y="3148030"/>
            <a:ext cx="926157" cy="268584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nav</a:t>
            </a:r>
            <a:endParaRPr lang="en-US" sz="1200" dirty="0"/>
          </a:p>
        </p:txBody>
      </p:sp>
      <p:sp>
        <p:nvSpPr>
          <p:cNvPr id="11" name="Shape 9"/>
          <p:cNvSpPr/>
          <p:nvPr/>
        </p:nvSpPr>
        <p:spPr>
          <a:xfrm>
            <a:off x="1666821" y="3148030"/>
            <a:ext cx="3704626" cy="2024980"/>
          </a:xfrm>
          <a:prstGeom prst="roundRect">
            <a:avLst>
              <a:gd name="adj" fmla="val 2258"/>
            </a:avLst>
          </a:prstGeom>
          <a:solidFill>
            <a:srgbClr val="0F172A"/>
          </a:solidFill>
          <a:ln/>
        </p:spPr>
      </p:sp>
      <p:sp>
        <p:nvSpPr>
          <p:cNvPr id="12" name="Text 10"/>
          <p:cNvSpPr/>
          <p:nvPr/>
        </p:nvSpPr>
        <p:spPr>
          <a:xfrm>
            <a:off x="1666821" y="3148030"/>
            <a:ext cx="3704626" cy="20249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main content</a:t>
            </a:r>
            <a:endParaRPr lang="en-US" sz="1200" dirty="0"/>
          </a:p>
        </p:txBody>
      </p:sp>
      <p:sp>
        <p:nvSpPr>
          <p:cNvPr id="13" name="Shape 11"/>
          <p:cNvSpPr/>
          <p:nvPr/>
        </p:nvSpPr>
        <p:spPr>
          <a:xfrm>
            <a:off x="5453743" y="3148030"/>
            <a:ext cx="926157" cy="2024980"/>
          </a:xfrm>
          <a:prstGeom prst="roundRect">
            <a:avLst>
              <a:gd name="adj" fmla="val 4937"/>
            </a:avLst>
          </a:prstGeom>
          <a:solidFill>
            <a:srgbClr val="F59E0B"/>
          </a:solidFill>
          <a:ln/>
        </p:spPr>
      </p:sp>
      <p:sp>
        <p:nvSpPr>
          <p:cNvPr id="14" name="Text 12"/>
          <p:cNvSpPr/>
          <p:nvPr/>
        </p:nvSpPr>
        <p:spPr>
          <a:xfrm>
            <a:off x="5453743" y="3148030"/>
            <a:ext cx="926157" cy="20249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aside</a:t>
            </a:r>
            <a:endParaRPr lang="en-US" sz="1200" dirty="0"/>
          </a:p>
        </p:txBody>
      </p:sp>
      <p:sp>
        <p:nvSpPr>
          <p:cNvPr id="15" name="Shape 13"/>
          <p:cNvSpPr/>
          <p:nvPr/>
        </p:nvSpPr>
        <p:spPr>
          <a:xfrm>
            <a:off x="6462195" y="3148030"/>
            <a:ext cx="926157" cy="2024980"/>
          </a:xfrm>
          <a:prstGeom prst="roundRect">
            <a:avLst>
              <a:gd name="adj" fmla="val 4937"/>
            </a:avLst>
          </a:prstGeom>
          <a:solidFill>
            <a:srgbClr val="8B5CF6"/>
          </a:solidFill>
          <a:ln/>
        </p:spPr>
      </p:sp>
      <p:sp>
        <p:nvSpPr>
          <p:cNvPr id="16" name="Text 14"/>
          <p:cNvSpPr/>
          <p:nvPr/>
        </p:nvSpPr>
        <p:spPr>
          <a:xfrm>
            <a:off x="6462195" y="3148030"/>
            <a:ext cx="926157" cy="20249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sidebar 2</a:t>
            </a:r>
            <a:endParaRPr lang="en-US" sz="1200" dirty="0"/>
          </a:p>
        </p:txBody>
      </p:sp>
      <p:sp>
        <p:nvSpPr>
          <p:cNvPr id="17" name="Shape 15"/>
          <p:cNvSpPr/>
          <p:nvPr/>
        </p:nvSpPr>
        <p:spPr>
          <a:xfrm>
            <a:off x="1666821" y="5255306"/>
            <a:ext cx="5721531" cy="578566"/>
          </a:xfrm>
          <a:prstGeom prst="roundRect">
            <a:avLst>
              <a:gd name="adj" fmla="val 7902"/>
            </a:avLst>
          </a:prstGeom>
          <a:solidFill>
            <a:srgbClr val="FB7185"/>
          </a:solidFill>
          <a:ln/>
        </p:spPr>
      </p:sp>
      <p:sp>
        <p:nvSpPr>
          <p:cNvPr id="18" name="Text 16"/>
          <p:cNvSpPr/>
          <p:nvPr/>
        </p:nvSpPr>
        <p:spPr>
          <a:xfrm>
            <a:off x="1666821" y="5255306"/>
            <a:ext cx="5721531" cy="57856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footer</a:t>
            </a:r>
            <a:endParaRPr lang="en-US" sz="1200" dirty="0"/>
          </a:p>
        </p:txBody>
      </p:sp>
      <p:sp>
        <p:nvSpPr>
          <p:cNvPr id="19" name="Shape 17"/>
          <p:cNvSpPr/>
          <p:nvPr/>
        </p:nvSpPr>
        <p:spPr>
          <a:xfrm>
            <a:off x="7772400" y="2377440"/>
            <a:ext cx="3886200" cy="3566160"/>
          </a:xfrm>
          <a:prstGeom prst="roundRect">
            <a:avLst>
              <a:gd name="adj" fmla="val 3077"/>
            </a:avLst>
          </a:prstGeom>
          <a:solidFill>
            <a:srgbClr val="111B34"/>
          </a:solidFill>
          <a:ln/>
          <a:effectLst>
            <a:outerShdw sx="100000" sy="100000" kx="0" ky="0" algn="bl" rotWithShape="0" blurRad="101600" dist="38100" dir="5400000">
              <a:srgbClr val="0B1220">
                <a:alpha val="18000"/>
              </a:srgbClr>
            </a:outerShdw>
          </a:effectLst>
        </p:spPr>
      </p:sp>
      <p:sp>
        <p:nvSpPr>
          <p:cNvPr id="20" name="Text 18"/>
          <p:cNvSpPr/>
          <p:nvPr/>
        </p:nvSpPr>
        <p:spPr>
          <a:xfrm>
            <a:off x="8001000" y="2578608"/>
            <a:ext cx="3474720" cy="274320"/>
          </a:xfrm>
          <a:prstGeom prst="rect">
            <a:avLst/>
          </a:prstGeom>
          <a:noFill/>
          <a:ln/>
        </p:spPr>
        <p:txBody>
          <a:bodyPr wrap="square" lIns="0" tIns="0" rIns="0" bIns="0" rtlCol="0" anchor="ctr"/>
          <a:lstStyle/>
          <a:p>
            <a:pPr algn="l" indent="0" marL="0">
              <a:buNone/>
            </a:pPr>
            <a:r>
              <a:rPr lang="en-US" sz="1100" b="1" spc="120" kern="0" dirty="0">
                <a:solidFill>
                  <a:srgbClr val="F59E0B"/>
                </a:solidFill>
                <a:latin typeface="Calibri" pitchFamily="34" charset="0"/>
                <a:ea typeface="Calibri" pitchFamily="34" charset="-122"/>
                <a:cs typeface="Calibri" pitchFamily="34" charset="-120"/>
              </a:rPr>
              <a:t>SEMANTIC TAGS FIRST</a:t>
            </a:r>
            <a:endParaRPr lang="en-US" sz="1100" dirty="0"/>
          </a:p>
        </p:txBody>
      </p:sp>
      <p:sp>
        <p:nvSpPr>
          <p:cNvPr id="21" name="Text 19"/>
          <p:cNvSpPr/>
          <p:nvPr/>
        </p:nvSpPr>
        <p:spPr>
          <a:xfrm>
            <a:off x="8001000" y="3017520"/>
            <a:ext cx="3474720" cy="384048"/>
          </a:xfrm>
          <a:prstGeom prst="rect">
            <a:avLst/>
          </a:prstGeom>
          <a:noFill/>
          <a:ln/>
        </p:spPr>
        <p:txBody>
          <a:bodyPr wrap="square" lIns="0" tIns="0" rIns="0" bIns="0" rtlCol="0" anchor="ctr"/>
          <a:lstStyle/>
          <a:p>
            <a:pPr algn="l" indent="0" marL="0">
              <a:buNone/>
            </a:pPr>
            <a:r>
              <a:rPr lang="en-US" sz="1400" b="1" dirty="0">
                <a:solidFill>
                  <a:srgbClr val="C7DBFF"/>
                </a:solidFill>
                <a:latin typeface="Courier New" pitchFamily="34" charset="0"/>
                <a:ea typeface="Courier New" pitchFamily="34" charset="-122"/>
                <a:cs typeface="Courier New" pitchFamily="34" charset="-120"/>
              </a:rPr>
              <a:t>&lt;header&gt;</a:t>
            </a:r>
            <a:endParaRPr lang="en-US" sz="1400" dirty="0"/>
          </a:p>
        </p:txBody>
      </p:sp>
      <p:sp>
        <p:nvSpPr>
          <p:cNvPr id="22" name="Text 20"/>
          <p:cNvSpPr/>
          <p:nvPr/>
        </p:nvSpPr>
        <p:spPr>
          <a:xfrm>
            <a:off x="8001000" y="3474720"/>
            <a:ext cx="3474720" cy="384048"/>
          </a:xfrm>
          <a:prstGeom prst="rect">
            <a:avLst/>
          </a:prstGeom>
          <a:noFill/>
          <a:ln/>
        </p:spPr>
        <p:txBody>
          <a:bodyPr wrap="square" lIns="0" tIns="0" rIns="0" bIns="0" rtlCol="0" anchor="ctr"/>
          <a:lstStyle/>
          <a:p>
            <a:pPr algn="l" indent="0" marL="0">
              <a:buNone/>
            </a:pPr>
            <a:r>
              <a:rPr lang="en-US" sz="1400" b="1" dirty="0">
                <a:solidFill>
                  <a:srgbClr val="C7DBFF"/>
                </a:solidFill>
                <a:latin typeface="Courier New" pitchFamily="34" charset="0"/>
                <a:ea typeface="Courier New" pitchFamily="34" charset="-122"/>
                <a:cs typeface="Courier New" pitchFamily="34" charset="-120"/>
              </a:rPr>
              <a:t>&lt;nav&gt;</a:t>
            </a:r>
            <a:endParaRPr lang="en-US" sz="1400" dirty="0"/>
          </a:p>
        </p:txBody>
      </p:sp>
      <p:sp>
        <p:nvSpPr>
          <p:cNvPr id="23" name="Text 21"/>
          <p:cNvSpPr/>
          <p:nvPr/>
        </p:nvSpPr>
        <p:spPr>
          <a:xfrm>
            <a:off x="8001000" y="3931920"/>
            <a:ext cx="3474720" cy="384048"/>
          </a:xfrm>
          <a:prstGeom prst="rect">
            <a:avLst/>
          </a:prstGeom>
          <a:noFill/>
          <a:ln/>
        </p:spPr>
        <p:txBody>
          <a:bodyPr wrap="square" lIns="0" tIns="0" rIns="0" bIns="0" rtlCol="0" anchor="ctr"/>
          <a:lstStyle/>
          <a:p>
            <a:pPr algn="l" indent="0" marL="0">
              <a:buNone/>
            </a:pPr>
            <a:r>
              <a:rPr lang="en-US" sz="1400" b="1" dirty="0">
                <a:solidFill>
                  <a:srgbClr val="C7DBFF"/>
                </a:solidFill>
                <a:latin typeface="Courier New" pitchFamily="34" charset="0"/>
                <a:ea typeface="Courier New" pitchFamily="34" charset="-122"/>
                <a:cs typeface="Courier New" pitchFamily="34" charset="-120"/>
              </a:rPr>
              <a:t>&lt;main&gt;</a:t>
            </a:r>
            <a:endParaRPr lang="en-US" sz="1400" dirty="0"/>
          </a:p>
        </p:txBody>
      </p:sp>
      <p:sp>
        <p:nvSpPr>
          <p:cNvPr id="24" name="Text 22"/>
          <p:cNvSpPr/>
          <p:nvPr/>
        </p:nvSpPr>
        <p:spPr>
          <a:xfrm>
            <a:off x="8001000" y="4389120"/>
            <a:ext cx="3474720" cy="384048"/>
          </a:xfrm>
          <a:prstGeom prst="rect">
            <a:avLst/>
          </a:prstGeom>
          <a:noFill/>
          <a:ln/>
        </p:spPr>
        <p:txBody>
          <a:bodyPr wrap="square" lIns="0" tIns="0" rIns="0" bIns="0" rtlCol="0" anchor="ctr"/>
          <a:lstStyle/>
          <a:p>
            <a:pPr algn="l" indent="0" marL="0">
              <a:buNone/>
            </a:pPr>
            <a:r>
              <a:rPr lang="en-US" sz="1400" b="1" dirty="0">
                <a:solidFill>
                  <a:srgbClr val="C7DBFF"/>
                </a:solidFill>
                <a:latin typeface="Courier New" pitchFamily="34" charset="0"/>
                <a:ea typeface="Courier New" pitchFamily="34" charset="-122"/>
                <a:cs typeface="Courier New" pitchFamily="34" charset="-120"/>
              </a:rPr>
              <a:t>&lt;aside&gt;</a:t>
            </a:r>
            <a:endParaRPr lang="en-US" sz="1400" dirty="0"/>
          </a:p>
        </p:txBody>
      </p:sp>
      <p:sp>
        <p:nvSpPr>
          <p:cNvPr id="25" name="Text 23"/>
          <p:cNvSpPr/>
          <p:nvPr/>
        </p:nvSpPr>
        <p:spPr>
          <a:xfrm>
            <a:off x="8001000" y="4846320"/>
            <a:ext cx="3474720" cy="384048"/>
          </a:xfrm>
          <a:prstGeom prst="rect">
            <a:avLst/>
          </a:prstGeom>
          <a:noFill/>
          <a:ln/>
        </p:spPr>
        <p:txBody>
          <a:bodyPr wrap="square" lIns="0" tIns="0" rIns="0" bIns="0" rtlCol="0" anchor="ctr"/>
          <a:lstStyle/>
          <a:p>
            <a:pPr algn="l" indent="0" marL="0">
              <a:buNone/>
            </a:pPr>
            <a:r>
              <a:rPr lang="en-US" sz="1400" b="1" dirty="0">
                <a:solidFill>
                  <a:srgbClr val="C7DBFF"/>
                </a:solidFill>
                <a:latin typeface="Courier New" pitchFamily="34" charset="0"/>
                <a:ea typeface="Courier New" pitchFamily="34" charset="-122"/>
                <a:cs typeface="Courier New" pitchFamily="34" charset="-120"/>
              </a:rPr>
              <a:t>&lt;div&gt;</a:t>
            </a:r>
            <a:endParaRPr lang="en-US" sz="1400" dirty="0"/>
          </a:p>
        </p:txBody>
      </p:sp>
      <p:sp>
        <p:nvSpPr>
          <p:cNvPr id="26" name="Text 24"/>
          <p:cNvSpPr/>
          <p:nvPr/>
        </p:nvSpPr>
        <p:spPr>
          <a:xfrm>
            <a:off x="8001000" y="5303520"/>
            <a:ext cx="3474720" cy="384048"/>
          </a:xfrm>
          <a:prstGeom prst="rect">
            <a:avLst/>
          </a:prstGeom>
          <a:noFill/>
          <a:ln/>
        </p:spPr>
        <p:txBody>
          <a:bodyPr wrap="square" lIns="0" tIns="0" rIns="0" bIns="0" rtlCol="0" anchor="ctr"/>
          <a:lstStyle/>
          <a:p>
            <a:pPr algn="l" indent="0" marL="0">
              <a:buNone/>
            </a:pPr>
            <a:r>
              <a:rPr lang="en-US" sz="1400" b="1" dirty="0">
                <a:solidFill>
                  <a:srgbClr val="C7DBFF"/>
                </a:solidFill>
                <a:latin typeface="Courier New" pitchFamily="34" charset="0"/>
                <a:ea typeface="Courier New" pitchFamily="34" charset="-122"/>
                <a:cs typeface="Courier New" pitchFamily="34" charset="-120"/>
              </a:rPr>
              <a:t>&lt;footer&gt;</a:t>
            </a:r>
            <a:endParaRPr lang="en-US" sz="1400" dirty="0"/>
          </a:p>
        </p:txBody>
      </p:sp>
      <p:sp>
        <p:nvSpPr>
          <p:cNvPr id="27" name="Text 25"/>
          <p:cNvSpPr/>
          <p:nvPr/>
        </p:nvSpPr>
        <p:spPr>
          <a:xfrm>
            <a:off x="8001000" y="5806440"/>
            <a:ext cx="3474720" cy="320040"/>
          </a:xfrm>
          <a:prstGeom prst="rect">
            <a:avLst/>
          </a:prstGeom>
          <a:noFill/>
          <a:ln/>
        </p:spPr>
        <p:txBody>
          <a:bodyPr wrap="square" lIns="0" tIns="0" rIns="0" bIns="0" rtlCol="0" anchor="ctr"/>
          <a:lstStyle/>
          <a:p>
            <a:pPr algn="l" indent="0" marL="0">
              <a:buNone/>
            </a:pPr>
            <a:r>
              <a:rPr lang="en-US" sz="1200" i="1" dirty="0">
                <a:solidFill>
                  <a:srgbClr val="94A3B8"/>
                </a:solidFill>
                <a:latin typeface="Calibri" pitchFamily="34" charset="0"/>
                <a:ea typeface="Calibri" pitchFamily="34" charset="-122"/>
                <a:cs typeface="Calibri" pitchFamily="34" charset="-120"/>
              </a:rPr>
              <a:t>Each region gets a real tag, not a pile of divs.</a:t>
            </a:r>
            <a:endParaRPr lang="en-US" sz="1200" dirty="0"/>
          </a:p>
        </p:txBody>
      </p:sp>
      <p:sp>
        <p:nvSpPr>
          <p:cNvPr id="28" name="Text 2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548640" y="457200"/>
            <a:ext cx="3291840" cy="310896"/>
          </a:xfrm>
          <a:prstGeom prst="roundRect">
            <a:avLst>
              <a:gd name="adj" fmla="val 50000"/>
            </a:avLst>
          </a:prstGeom>
          <a:solidFill>
            <a:srgbClr val="FB7185"/>
          </a:solidFill>
          <a:ln/>
        </p:spPr>
      </p:sp>
      <p:sp>
        <p:nvSpPr>
          <p:cNvPr id="3" name="Text 1"/>
          <p:cNvSpPr/>
          <p:nvPr/>
        </p:nvSpPr>
        <p:spPr>
          <a:xfrm>
            <a:off x="548640" y="457200"/>
            <a:ext cx="32918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LIVE CODE  -  SWITCH TO VS CODE</a:t>
            </a:r>
            <a:endParaRPr lang="en-US" sz="1100" dirty="0"/>
          </a:p>
        </p:txBody>
      </p:sp>
      <p:sp>
        <p:nvSpPr>
          <p:cNvPr id="4" name="Text 2"/>
          <p:cNvSpPr/>
          <p:nvPr/>
        </p:nvSpPr>
        <p:spPr>
          <a:xfrm>
            <a:off x="548640" y="896112"/>
            <a:ext cx="109728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Draw the layout with grid-template-areas</a:t>
            </a:r>
            <a:endParaRPr lang="en-US" sz="3000" dirty="0"/>
          </a:p>
        </p:txBody>
      </p:sp>
      <p:sp>
        <p:nvSpPr>
          <p:cNvPr id="5" name="Shape 3"/>
          <p:cNvSpPr/>
          <p:nvPr/>
        </p:nvSpPr>
        <p:spPr>
          <a:xfrm>
            <a:off x="548640" y="1691640"/>
            <a:ext cx="6766560" cy="4480560"/>
          </a:xfrm>
          <a:prstGeom prst="roundRect">
            <a:avLst>
              <a:gd name="adj" fmla="val 2449"/>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911096"/>
            <a:ext cx="128016" cy="128016"/>
          </a:xfrm>
          <a:prstGeom prst="ellipse">
            <a:avLst/>
          </a:prstGeom>
          <a:solidFill>
            <a:srgbClr val="FF5F56"/>
          </a:solidFill>
          <a:ln/>
        </p:spPr>
      </p:sp>
      <p:sp>
        <p:nvSpPr>
          <p:cNvPr id="7" name="Shape 5"/>
          <p:cNvSpPr/>
          <p:nvPr/>
        </p:nvSpPr>
        <p:spPr>
          <a:xfrm>
            <a:off x="1042416" y="1911096"/>
            <a:ext cx="128016" cy="128016"/>
          </a:xfrm>
          <a:prstGeom prst="ellipse">
            <a:avLst/>
          </a:prstGeom>
          <a:solidFill>
            <a:srgbClr val="FFBD2E"/>
          </a:solidFill>
          <a:ln/>
        </p:spPr>
      </p:sp>
      <p:sp>
        <p:nvSpPr>
          <p:cNvPr id="8" name="Shape 6"/>
          <p:cNvSpPr/>
          <p:nvPr/>
        </p:nvSpPr>
        <p:spPr>
          <a:xfrm>
            <a:off x="1280160" y="1911096"/>
            <a:ext cx="128016" cy="128016"/>
          </a:xfrm>
          <a:prstGeom prst="ellipse">
            <a:avLst/>
          </a:prstGeom>
          <a:solidFill>
            <a:srgbClr val="27C93F"/>
          </a:solidFill>
          <a:ln/>
        </p:spPr>
      </p:sp>
      <p:sp>
        <p:nvSpPr>
          <p:cNvPr id="9" name="Text 7"/>
          <p:cNvSpPr/>
          <p:nvPr/>
        </p:nvSpPr>
        <p:spPr>
          <a:xfrm>
            <a:off x="1645920" y="1801368"/>
            <a:ext cx="54864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styles.css</a:t>
            </a:r>
            <a:endParaRPr lang="en-US" sz="1100" dirty="0"/>
          </a:p>
        </p:txBody>
      </p:sp>
      <p:sp>
        <p:nvSpPr>
          <p:cNvPr id="10" name="Text 8"/>
          <p:cNvSpPr/>
          <p:nvPr/>
        </p:nvSpPr>
        <p:spPr>
          <a:xfrm>
            <a:off x="804672" y="2221992"/>
            <a:ext cx="6254496" cy="3767328"/>
          </a:xfrm>
          <a:prstGeom prst="rect">
            <a:avLst/>
          </a:prstGeom>
          <a:noFill/>
          <a:ln/>
        </p:spPr>
        <p:txBody>
          <a:bodyPr wrap="square" lIns="0" tIns="0" rIns="0" bIns="0" rtlCol="0" anchor="t"/>
          <a:lstStyle/>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body</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height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100vh</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display</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grid</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grid-template-areas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'top    top     top     top'</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'nav    content sidebar sidebar2'</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'nav    footer  footer  footer'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header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grid-area</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top</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nav</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grid-area</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nav</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main</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grid-area</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content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aside</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grid-area</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sidebar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div</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grid-area</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sidebar2</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footer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grid-area</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footer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7498080" y="1691640"/>
            <a:ext cx="4160520" cy="4480560"/>
          </a:xfrm>
          <a:prstGeom prst="roundRect">
            <a:avLst>
              <a:gd name="adj" fmla="val 2637"/>
            </a:avLst>
          </a:prstGeom>
          <a:solidFill>
            <a:srgbClr val="1B2A4A"/>
          </a:solidFill>
          <a:ln/>
        </p:spPr>
      </p:sp>
      <p:sp>
        <p:nvSpPr>
          <p:cNvPr id="12" name="Text 10"/>
          <p:cNvSpPr/>
          <p:nvPr/>
        </p:nvSpPr>
        <p:spPr>
          <a:xfrm>
            <a:off x="7726680" y="1874520"/>
            <a:ext cx="3749040" cy="320040"/>
          </a:xfrm>
          <a:prstGeom prst="rect">
            <a:avLst/>
          </a:prstGeom>
          <a:noFill/>
          <a:ln/>
        </p:spPr>
        <p:txBody>
          <a:bodyPr wrap="square" lIns="0" tIns="0" rIns="0" bIns="0" rtlCol="0" anchor="ctr"/>
          <a:lstStyle/>
          <a:p>
            <a:pPr algn="l" indent="0" marL="0">
              <a:buNone/>
            </a:pPr>
            <a:r>
              <a:rPr lang="en-US" sz="1200" b="1" spc="150" kern="0" dirty="0">
                <a:solidFill>
                  <a:srgbClr val="F59E0B"/>
                </a:solidFill>
                <a:latin typeface="Calibri" pitchFamily="34" charset="0"/>
                <a:ea typeface="Calibri" pitchFamily="34" charset="-122"/>
                <a:cs typeface="Calibri" pitchFamily="34" charset="-120"/>
              </a:rPr>
              <a:t>SAY THIS WHILE YOU TYPE</a:t>
            </a:r>
            <a:endParaRPr lang="en-US" sz="1200" dirty="0"/>
          </a:p>
        </p:txBody>
      </p:sp>
      <p:sp>
        <p:nvSpPr>
          <p:cNvPr id="13" name="Text 11"/>
          <p:cNvSpPr/>
          <p:nvPr/>
        </p:nvSpPr>
        <p:spPr>
          <a:xfrm>
            <a:off x="7726680" y="2286000"/>
            <a:ext cx="3794760" cy="3749040"/>
          </a:xfrm>
          <a:prstGeom prst="rect">
            <a:avLst/>
          </a:prstGeom>
          <a:noFill/>
          <a:ln/>
        </p:spPr>
        <p:txBody>
          <a:bodyPr wrap="square" lIns="0" tIns="0" rIns="0" bIns="0" rtlCol="0" anchor="t"/>
          <a:lstStyle/>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Look at the strings. That is literally a picture of the page.</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Each quoted line is one row, each word is one column.</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Repeat a name and it stretches across those cells.</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nav appears on two lines, so it spans two rows.</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Then every element just claims its name with grid-area.</a:t>
            </a:r>
            <a:endParaRPr lang="en-US" sz="1350" dirty="0"/>
          </a:p>
        </p:txBody>
      </p:sp>
      <p:sp>
        <p:nvSpPr>
          <p:cNvPr id="14" name="Text 1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Responsive Layout and CSS Grid</a:t>
            </a:r>
            <a:endParaRPr lang="en-US" sz="1000" dirty="0"/>
          </a:p>
        </p:txBody>
      </p:sp>
      <p:sp>
        <p:nvSpPr>
          <p:cNvPr id="15" name="Text 1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The string map is the layout</a:t>
            </a:r>
            <a:endParaRPr lang="en-US" sz="3400" dirty="0"/>
          </a:p>
        </p:txBody>
      </p:sp>
      <p:sp>
        <p:nvSpPr>
          <p:cNvPr id="5" name="Shape 3"/>
          <p:cNvSpPr/>
          <p:nvPr/>
        </p:nvSpPr>
        <p:spPr>
          <a:xfrm>
            <a:off x="548640" y="2057400"/>
            <a:ext cx="5486400" cy="2788920"/>
          </a:xfrm>
          <a:prstGeom prst="roundRect">
            <a:avLst>
              <a:gd name="adj" fmla="val 3934"/>
            </a:avLst>
          </a:prstGeom>
          <a:solidFill>
            <a:srgbClr val="0C1526"/>
          </a:solidFill>
          <a:ln/>
          <a:effectLst>
            <a:outerShdw sx="100000" sy="100000" kx="0" ky="0" algn="bl" rotWithShape="0" blurRad="101600" dist="38100" dir="5400000">
              <a:srgbClr val="0B1220">
                <a:alpha val="18000"/>
              </a:srgbClr>
            </a:outerShdw>
          </a:effectLst>
        </p:spPr>
      </p:sp>
      <p:sp>
        <p:nvSpPr>
          <p:cNvPr id="6" name="Text 4"/>
          <p:cNvSpPr/>
          <p:nvPr/>
        </p:nvSpPr>
        <p:spPr>
          <a:xfrm>
            <a:off x="777240" y="2377440"/>
            <a:ext cx="960120" cy="457200"/>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top</a:t>
            </a:r>
            <a:endParaRPr lang="en-US" sz="1300" dirty="0"/>
          </a:p>
        </p:txBody>
      </p:sp>
      <p:sp>
        <p:nvSpPr>
          <p:cNvPr id="7" name="Text 5"/>
          <p:cNvSpPr/>
          <p:nvPr/>
        </p:nvSpPr>
        <p:spPr>
          <a:xfrm>
            <a:off x="1737360" y="2377440"/>
            <a:ext cx="1325880" cy="457200"/>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top</a:t>
            </a:r>
            <a:endParaRPr lang="en-US" sz="1300" dirty="0"/>
          </a:p>
        </p:txBody>
      </p:sp>
      <p:sp>
        <p:nvSpPr>
          <p:cNvPr id="8" name="Text 6"/>
          <p:cNvSpPr/>
          <p:nvPr/>
        </p:nvSpPr>
        <p:spPr>
          <a:xfrm>
            <a:off x="3063240" y="2377440"/>
            <a:ext cx="1234440" cy="457200"/>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top</a:t>
            </a:r>
            <a:endParaRPr lang="en-US" sz="1300" dirty="0"/>
          </a:p>
        </p:txBody>
      </p:sp>
      <p:sp>
        <p:nvSpPr>
          <p:cNvPr id="9" name="Text 7"/>
          <p:cNvSpPr/>
          <p:nvPr/>
        </p:nvSpPr>
        <p:spPr>
          <a:xfrm>
            <a:off x="4297680" y="2377440"/>
            <a:ext cx="1371600" cy="457200"/>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top</a:t>
            </a:r>
            <a:endParaRPr lang="en-US" sz="1300" dirty="0"/>
          </a:p>
        </p:txBody>
      </p:sp>
      <p:sp>
        <p:nvSpPr>
          <p:cNvPr id="10" name="Text 8"/>
          <p:cNvSpPr/>
          <p:nvPr/>
        </p:nvSpPr>
        <p:spPr>
          <a:xfrm>
            <a:off x="777240" y="3063240"/>
            <a:ext cx="960120" cy="457200"/>
          </a:xfrm>
          <a:prstGeom prst="rect">
            <a:avLst/>
          </a:prstGeom>
          <a:noFill/>
          <a:ln/>
        </p:spPr>
        <p:txBody>
          <a:bodyPr wrap="square" lIns="0" tIns="0" rIns="0" bIns="0" rtlCol="0" anchor="ctr"/>
          <a:lstStyle/>
          <a:p>
            <a:pPr algn="l" indent="0" marL="0">
              <a:buNone/>
            </a:pPr>
            <a:r>
              <a:rPr lang="en-US" sz="1300" b="1" dirty="0">
                <a:solidFill>
                  <a:srgbClr val="22C55E"/>
                </a:solidFill>
                <a:latin typeface="Courier New" pitchFamily="34" charset="0"/>
                <a:ea typeface="Courier New" pitchFamily="34" charset="-122"/>
                <a:cs typeface="Courier New" pitchFamily="34" charset="-120"/>
              </a:rPr>
              <a:t>nav</a:t>
            </a:r>
            <a:endParaRPr lang="en-US" sz="1300" dirty="0"/>
          </a:p>
        </p:txBody>
      </p:sp>
      <p:sp>
        <p:nvSpPr>
          <p:cNvPr id="11" name="Text 9"/>
          <p:cNvSpPr/>
          <p:nvPr/>
        </p:nvSpPr>
        <p:spPr>
          <a:xfrm>
            <a:off x="1737360" y="3063240"/>
            <a:ext cx="1325880" cy="457200"/>
          </a:xfrm>
          <a:prstGeom prst="rect">
            <a:avLst/>
          </a:prstGeom>
          <a:noFill/>
          <a:ln/>
        </p:spPr>
        <p:txBody>
          <a:bodyPr wrap="square" lIns="0" tIns="0" rIns="0" bIns="0" rtlCol="0" anchor="ctr"/>
          <a:lstStyle/>
          <a:p>
            <a:pPr algn="l" indent="0" marL="0">
              <a:buNone/>
            </a:pPr>
            <a:r>
              <a:rPr lang="en-US" sz="1300" b="1" dirty="0">
                <a:solidFill>
                  <a:srgbClr val="C7DBFF"/>
                </a:solidFill>
                <a:latin typeface="Courier New" pitchFamily="34" charset="0"/>
                <a:ea typeface="Courier New" pitchFamily="34" charset="-122"/>
                <a:cs typeface="Courier New" pitchFamily="34" charset="-120"/>
              </a:rPr>
              <a:t>content</a:t>
            </a:r>
            <a:endParaRPr lang="en-US" sz="1300" dirty="0"/>
          </a:p>
        </p:txBody>
      </p:sp>
      <p:sp>
        <p:nvSpPr>
          <p:cNvPr id="12" name="Text 10"/>
          <p:cNvSpPr/>
          <p:nvPr/>
        </p:nvSpPr>
        <p:spPr>
          <a:xfrm>
            <a:off x="3063240" y="3063240"/>
            <a:ext cx="1234440" cy="457200"/>
          </a:xfrm>
          <a:prstGeom prst="rect">
            <a:avLst/>
          </a:prstGeom>
          <a:noFill/>
          <a:ln/>
        </p:spPr>
        <p:txBody>
          <a:bodyPr wrap="square" lIns="0" tIns="0" rIns="0" bIns="0" rtlCol="0" anchor="ctr"/>
          <a:lstStyle/>
          <a:p>
            <a:pPr algn="l" indent="0" marL="0">
              <a:buNone/>
            </a:pPr>
            <a:r>
              <a:rPr lang="en-US" sz="1300" b="1" dirty="0">
                <a:solidFill>
                  <a:srgbClr val="F59E0B"/>
                </a:solidFill>
                <a:latin typeface="Courier New" pitchFamily="34" charset="0"/>
                <a:ea typeface="Courier New" pitchFamily="34" charset="-122"/>
                <a:cs typeface="Courier New" pitchFamily="34" charset="-120"/>
              </a:rPr>
              <a:t>sidebar</a:t>
            </a:r>
            <a:endParaRPr lang="en-US" sz="1300" dirty="0"/>
          </a:p>
        </p:txBody>
      </p:sp>
      <p:sp>
        <p:nvSpPr>
          <p:cNvPr id="13" name="Text 11"/>
          <p:cNvSpPr/>
          <p:nvPr/>
        </p:nvSpPr>
        <p:spPr>
          <a:xfrm>
            <a:off x="4297680" y="3063240"/>
            <a:ext cx="1371600" cy="457200"/>
          </a:xfrm>
          <a:prstGeom prst="rect">
            <a:avLst/>
          </a:prstGeom>
          <a:noFill/>
          <a:ln/>
        </p:spPr>
        <p:txBody>
          <a:bodyPr wrap="square" lIns="0" tIns="0" rIns="0" bIns="0" rtlCol="0" anchor="ctr"/>
          <a:lstStyle/>
          <a:p>
            <a:pPr algn="l" indent="0" marL="0">
              <a:buNone/>
            </a:pPr>
            <a:r>
              <a:rPr lang="en-US" sz="1300" b="1" dirty="0">
                <a:solidFill>
                  <a:srgbClr val="8B5CF6"/>
                </a:solidFill>
                <a:latin typeface="Courier New" pitchFamily="34" charset="0"/>
                <a:ea typeface="Courier New" pitchFamily="34" charset="-122"/>
                <a:cs typeface="Courier New" pitchFamily="34" charset="-120"/>
              </a:rPr>
              <a:t>sidebar2</a:t>
            </a:r>
            <a:endParaRPr lang="en-US" sz="1300" dirty="0"/>
          </a:p>
        </p:txBody>
      </p:sp>
      <p:sp>
        <p:nvSpPr>
          <p:cNvPr id="14" name="Text 12"/>
          <p:cNvSpPr/>
          <p:nvPr/>
        </p:nvSpPr>
        <p:spPr>
          <a:xfrm>
            <a:off x="777240" y="3749040"/>
            <a:ext cx="960120" cy="457200"/>
          </a:xfrm>
          <a:prstGeom prst="rect">
            <a:avLst/>
          </a:prstGeom>
          <a:noFill/>
          <a:ln/>
        </p:spPr>
        <p:txBody>
          <a:bodyPr wrap="square" lIns="0" tIns="0" rIns="0" bIns="0" rtlCol="0" anchor="ctr"/>
          <a:lstStyle/>
          <a:p>
            <a:pPr algn="l" indent="0" marL="0">
              <a:buNone/>
            </a:pPr>
            <a:r>
              <a:rPr lang="en-US" sz="1300" b="1" dirty="0">
                <a:solidFill>
                  <a:srgbClr val="22C55E"/>
                </a:solidFill>
                <a:latin typeface="Courier New" pitchFamily="34" charset="0"/>
                <a:ea typeface="Courier New" pitchFamily="34" charset="-122"/>
                <a:cs typeface="Courier New" pitchFamily="34" charset="-120"/>
              </a:rPr>
              <a:t>nav</a:t>
            </a:r>
            <a:endParaRPr lang="en-US" sz="1300" dirty="0"/>
          </a:p>
        </p:txBody>
      </p:sp>
      <p:sp>
        <p:nvSpPr>
          <p:cNvPr id="15" name="Text 13"/>
          <p:cNvSpPr/>
          <p:nvPr/>
        </p:nvSpPr>
        <p:spPr>
          <a:xfrm>
            <a:off x="1737360" y="3749040"/>
            <a:ext cx="1325880" cy="457200"/>
          </a:xfrm>
          <a:prstGeom prst="rect">
            <a:avLst/>
          </a:prstGeom>
          <a:noFill/>
          <a:ln/>
        </p:spPr>
        <p:txBody>
          <a:bodyPr wrap="square" lIns="0" tIns="0" rIns="0" bIns="0" rtlCol="0" anchor="ctr"/>
          <a:lstStyle/>
          <a:p>
            <a:pPr algn="l" indent="0" marL="0">
              <a:buNone/>
            </a:pPr>
            <a:r>
              <a:rPr lang="en-US" sz="1300" b="1" dirty="0">
                <a:solidFill>
                  <a:srgbClr val="FB7185"/>
                </a:solidFill>
                <a:latin typeface="Courier New" pitchFamily="34" charset="0"/>
                <a:ea typeface="Courier New" pitchFamily="34" charset="-122"/>
                <a:cs typeface="Courier New" pitchFamily="34" charset="-120"/>
              </a:rPr>
              <a:t>footer</a:t>
            </a:r>
            <a:endParaRPr lang="en-US" sz="1300" dirty="0"/>
          </a:p>
        </p:txBody>
      </p:sp>
      <p:sp>
        <p:nvSpPr>
          <p:cNvPr id="16" name="Text 14"/>
          <p:cNvSpPr/>
          <p:nvPr/>
        </p:nvSpPr>
        <p:spPr>
          <a:xfrm>
            <a:off x="3063240" y="3749040"/>
            <a:ext cx="1234440" cy="457200"/>
          </a:xfrm>
          <a:prstGeom prst="rect">
            <a:avLst/>
          </a:prstGeom>
          <a:noFill/>
          <a:ln/>
        </p:spPr>
        <p:txBody>
          <a:bodyPr wrap="square" lIns="0" tIns="0" rIns="0" bIns="0" rtlCol="0" anchor="ctr"/>
          <a:lstStyle/>
          <a:p>
            <a:pPr algn="l" indent="0" marL="0">
              <a:buNone/>
            </a:pPr>
            <a:r>
              <a:rPr lang="en-US" sz="1300" b="1" dirty="0">
                <a:solidFill>
                  <a:srgbClr val="FB7185"/>
                </a:solidFill>
                <a:latin typeface="Courier New" pitchFamily="34" charset="0"/>
                <a:ea typeface="Courier New" pitchFamily="34" charset="-122"/>
                <a:cs typeface="Courier New" pitchFamily="34" charset="-120"/>
              </a:rPr>
              <a:t>footer</a:t>
            </a:r>
            <a:endParaRPr lang="en-US" sz="1300" dirty="0"/>
          </a:p>
        </p:txBody>
      </p:sp>
      <p:sp>
        <p:nvSpPr>
          <p:cNvPr id="17" name="Text 15"/>
          <p:cNvSpPr/>
          <p:nvPr/>
        </p:nvSpPr>
        <p:spPr>
          <a:xfrm>
            <a:off x="4297680" y="3749040"/>
            <a:ext cx="1371600" cy="457200"/>
          </a:xfrm>
          <a:prstGeom prst="rect">
            <a:avLst/>
          </a:prstGeom>
          <a:noFill/>
          <a:ln/>
        </p:spPr>
        <p:txBody>
          <a:bodyPr wrap="square" lIns="0" tIns="0" rIns="0" bIns="0" rtlCol="0" anchor="ctr"/>
          <a:lstStyle/>
          <a:p>
            <a:pPr algn="l" indent="0" marL="0">
              <a:buNone/>
            </a:pPr>
            <a:r>
              <a:rPr lang="en-US" sz="1300" b="1" dirty="0">
                <a:solidFill>
                  <a:srgbClr val="FB7185"/>
                </a:solidFill>
                <a:latin typeface="Courier New" pitchFamily="34" charset="0"/>
                <a:ea typeface="Courier New" pitchFamily="34" charset="-122"/>
                <a:cs typeface="Courier New" pitchFamily="34" charset="-120"/>
              </a:rPr>
              <a:t>footer</a:t>
            </a:r>
            <a:endParaRPr lang="en-US" sz="1300" dirty="0"/>
          </a:p>
        </p:txBody>
      </p:sp>
      <p:sp>
        <p:nvSpPr>
          <p:cNvPr id="18" name="Text 16"/>
          <p:cNvSpPr/>
          <p:nvPr/>
        </p:nvSpPr>
        <p:spPr>
          <a:xfrm>
            <a:off x="777240" y="4434840"/>
            <a:ext cx="5029200" cy="274320"/>
          </a:xfrm>
          <a:prstGeom prst="rect">
            <a:avLst/>
          </a:prstGeom>
          <a:noFill/>
          <a:ln/>
        </p:spPr>
        <p:txBody>
          <a:bodyPr wrap="square" lIns="0" tIns="0" rIns="0" bIns="0" rtlCol="0" anchor="ctr"/>
          <a:lstStyle/>
          <a:p>
            <a:pPr algn="l" indent="0" marL="0">
              <a:buNone/>
            </a:pPr>
            <a:r>
              <a:rPr lang="en-US" sz="1150" i="1" dirty="0">
                <a:solidFill>
                  <a:srgbClr val="94A3B8"/>
                </a:solidFill>
                <a:latin typeface="Calibri" pitchFamily="34" charset="0"/>
                <a:ea typeface="Calibri" pitchFamily="34" charset="-122"/>
                <a:cs typeface="Calibri" pitchFamily="34" charset="-120"/>
              </a:rPr>
              <a:t>three quoted rows, four names each</a:t>
            </a:r>
            <a:endParaRPr lang="en-US" sz="1150" dirty="0"/>
          </a:p>
        </p:txBody>
      </p:sp>
      <p:sp>
        <p:nvSpPr>
          <p:cNvPr id="19" name="Shape 17"/>
          <p:cNvSpPr/>
          <p:nvPr/>
        </p:nvSpPr>
        <p:spPr>
          <a:xfrm>
            <a:off x="6172200" y="3429000"/>
            <a:ext cx="457200" cy="0"/>
          </a:xfrm>
          <a:prstGeom prst="line">
            <a:avLst/>
          </a:prstGeom>
          <a:noFill/>
          <a:ln w="31750">
            <a:solidFill>
              <a:srgbClr val="2563EB"/>
            </a:solidFill>
            <a:prstDash val="solid"/>
            <a:tailEnd type="triangle"/>
          </a:ln>
        </p:spPr>
      </p:sp>
      <p:sp>
        <p:nvSpPr>
          <p:cNvPr id="20" name="Shape 18"/>
          <p:cNvSpPr/>
          <p:nvPr/>
        </p:nvSpPr>
        <p:spPr>
          <a:xfrm>
            <a:off x="6766560" y="2057400"/>
            <a:ext cx="4892040" cy="2788920"/>
          </a:xfrm>
          <a:prstGeom prst="roundRect">
            <a:avLst>
              <a:gd name="adj" fmla="val 2623"/>
            </a:avLst>
          </a:prstGeom>
          <a:solidFill>
            <a:srgbClr val="F1F5F9"/>
          </a:solidFill>
          <a:ln/>
        </p:spPr>
      </p:sp>
      <p:sp>
        <p:nvSpPr>
          <p:cNvPr id="21" name="Shape 19"/>
          <p:cNvSpPr/>
          <p:nvPr/>
        </p:nvSpPr>
        <p:spPr>
          <a:xfrm>
            <a:off x="6858000" y="2148840"/>
            <a:ext cx="4709160" cy="450550"/>
          </a:xfrm>
          <a:prstGeom prst="roundRect">
            <a:avLst>
              <a:gd name="adj" fmla="val 10148"/>
            </a:avLst>
          </a:prstGeom>
          <a:solidFill>
            <a:srgbClr val="2563EB"/>
          </a:solidFill>
          <a:ln/>
        </p:spPr>
      </p:sp>
      <p:sp>
        <p:nvSpPr>
          <p:cNvPr id="22" name="Text 20"/>
          <p:cNvSpPr/>
          <p:nvPr/>
        </p:nvSpPr>
        <p:spPr>
          <a:xfrm>
            <a:off x="6858000" y="2148840"/>
            <a:ext cx="4709160" cy="45055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top</a:t>
            </a:r>
            <a:endParaRPr lang="en-US" sz="1000" dirty="0"/>
          </a:p>
        </p:txBody>
      </p:sp>
      <p:sp>
        <p:nvSpPr>
          <p:cNvPr id="23" name="Shape 21"/>
          <p:cNvSpPr/>
          <p:nvPr/>
        </p:nvSpPr>
        <p:spPr>
          <a:xfrm>
            <a:off x="6858000" y="2663398"/>
            <a:ext cx="645305" cy="2091482"/>
          </a:xfrm>
          <a:prstGeom prst="roundRect">
            <a:avLst>
              <a:gd name="adj" fmla="val 7085"/>
            </a:avLst>
          </a:prstGeom>
          <a:solidFill>
            <a:srgbClr val="22C55E"/>
          </a:solidFill>
          <a:ln/>
        </p:spPr>
      </p:sp>
      <p:sp>
        <p:nvSpPr>
          <p:cNvPr id="24" name="Text 22"/>
          <p:cNvSpPr/>
          <p:nvPr/>
        </p:nvSpPr>
        <p:spPr>
          <a:xfrm>
            <a:off x="6858000" y="2663398"/>
            <a:ext cx="645305" cy="209148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nav</a:t>
            </a:r>
            <a:endParaRPr lang="en-US" sz="1000" dirty="0"/>
          </a:p>
        </p:txBody>
      </p:sp>
      <p:sp>
        <p:nvSpPr>
          <p:cNvPr id="25" name="Shape 23"/>
          <p:cNvSpPr/>
          <p:nvPr/>
        </p:nvSpPr>
        <p:spPr>
          <a:xfrm>
            <a:off x="7567313" y="2663398"/>
            <a:ext cx="2581221" cy="1576924"/>
          </a:xfrm>
          <a:prstGeom prst="roundRect">
            <a:avLst>
              <a:gd name="adj" fmla="val 2899"/>
            </a:avLst>
          </a:prstGeom>
          <a:solidFill>
            <a:srgbClr val="C7DBFF"/>
          </a:solidFill>
          <a:ln/>
        </p:spPr>
      </p:sp>
      <p:sp>
        <p:nvSpPr>
          <p:cNvPr id="26" name="Text 24"/>
          <p:cNvSpPr/>
          <p:nvPr/>
        </p:nvSpPr>
        <p:spPr>
          <a:xfrm>
            <a:off x="7567313" y="2663398"/>
            <a:ext cx="2581221" cy="1576924"/>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content</a:t>
            </a:r>
            <a:endParaRPr lang="en-US" sz="1000" dirty="0"/>
          </a:p>
        </p:txBody>
      </p:sp>
      <p:sp>
        <p:nvSpPr>
          <p:cNvPr id="27" name="Shape 25"/>
          <p:cNvSpPr/>
          <p:nvPr/>
        </p:nvSpPr>
        <p:spPr>
          <a:xfrm>
            <a:off x="10212542" y="2663398"/>
            <a:ext cx="645305" cy="1576924"/>
          </a:xfrm>
          <a:prstGeom prst="roundRect">
            <a:avLst>
              <a:gd name="adj" fmla="val 7085"/>
            </a:avLst>
          </a:prstGeom>
          <a:solidFill>
            <a:srgbClr val="F59E0B"/>
          </a:solidFill>
          <a:ln/>
        </p:spPr>
      </p:sp>
      <p:sp>
        <p:nvSpPr>
          <p:cNvPr id="28" name="Text 26"/>
          <p:cNvSpPr/>
          <p:nvPr/>
        </p:nvSpPr>
        <p:spPr>
          <a:xfrm>
            <a:off x="10212542" y="2663398"/>
            <a:ext cx="645305" cy="15769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sidebar</a:t>
            </a:r>
            <a:endParaRPr lang="en-US" sz="1000" dirty="0"/>
          </a:p>
        </p:txBody>
      </p:sp>
      <p:sp>
        <p:nvSpPr>
          <p:cNvPr id="29" name="Shape 27"/>
          <p:cNvSpPr/>
          <p:nvPr/>
        </p:nvSpPr>
        <p:spPr>
          <a:xfrm>
            <a:off x="10921855" y="2663398"/>
            <a:ext cx="645305" cy="1576924"/>
          </a:xfrm>
          <a:prstGeom prst="roundRect">
            <a:avLst>
              <a:gd name="adj" fmla="val 7085"/>
            </a:avLst>
          </a:prstGeom>
          <a:solidFill>
            <a:srgbClr val="8B5CF6"/>
          </a:solidFill>
          <a:ln/>
        </p:spPr>
      </p:sp>
      <p:sp>
        <p:nvSpPr>
          <p:cNvPr id="30" name="Text 28"/>
          <p:cNvSpPr/>
          <p:nvPr/>
        </p:nvSpPr>
        <p:spPr>
          <a:xfrm>
            <a:off x="10921855" y="2663398"/>
            <a:ext cx="645305" cy="15769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sidebar2</a:t>
            </a:r>
            <a:endParaRPr lang="en-US" sz="1000" dirty="0"/>
          </a:p>
        </p:txBody>
      </p:sp>
      <p:sp>
        <p:nvSpPr>
          <p:cNvPr id="31" name="Shape 29"/>
          <p:cNvSpPr/>
          <p:nvPr/>
        </p:nvSpPr>
        <p:spPr>
          <a:xfrm>
            <a:off x="7567313" y="4304330"/>
            <a:ext cx="3999847" cy="450550"/>
          </a:xfrm>
          <a:prstGeom prst="roundRect">
            <a:avLst>
              <a:gd name="adj" fmla="val 10148"/>
            </a:avLst>
          </a:prstGeom>
          <a:solidFill>
            <a:srgbClr val="FB7185"/>
          </a:solidFill>
          <a:ln/>
        </p:spPr>
      </p:sp>
      <p:sp>
        <p:nvSpPr>
          <p:cNvPr id="32" name="Text 30"/>
          <p:cNvSpPr/>
          <p:nvPr/>
        </p:nvSpPr>
        <p:spPr>
          <a:xfrm>
            <a:off x="7567313" y="4304330"/>
            <a:ext cx="3999847" cy="45055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footer</a:t>
            </a:r>
            <a:endParaRPr lang="en-US" sz="1000" dirty="0"/>
          </a:p>
        </p:txBody>
      </p:sp>
      <p:sp>
        <p:nvSpPr>
          <p:cNvPr id="33" name="Shape 31"/>
          <p:cNvSpPr/>
          <p:nvPr/>
        </p:nvSpPr>
        <p:spPr>
          <a:xfrm>
            <a:off x="548640" y="5029200"/>
            <a:ext cx="11109960" cy="1417320"/>
          </a:xfrm>
          <a:prstGeom prst="roundRect">
            <a:avLst>
              <a:gd name="adj" fmla="val 7742"/>
            </a:avLst>
          </a:prstGeom>
          <a:solidFill>
            <a:srgbClr val="0C1526"/>
          </a:solidFill>
          <a:ln/>
          <a:effectLst>
            <a:outerShdw sx="100000" sy="100000" kx="0" ky="0" algn="bl" rotWithShape="0" blurRad="101600" dist="38100" dir="5400000">
              <a:srgbClr val="0B1220">
                <a:alpha val="18000"/>
              </a:srgbClr>
            </a:outerShdw>
          </a:effectLst>
        </p:spPr>
      </p:sp>
      <p:sp>
        <p:nvSpPr>
          <p:cNvPr id="34" name="Shape 32"/>
          <p:cNvSpPr/>
          <p:nvPr/>
        </p:nvSpPr>
        <p:spPr>
          <a:xfrm>
            <a:off x="804672" y="5248656"/>
            <a:ext cx="128016" cy="128016"/>
          </a:xfrm>
          <a:prstGeom prst="ellipse">
            <a:avLst/>
          </a:prstGeom>
          <a:solidFill>
            <a:srgbClr val="FF5F56"/>
          </a:solidFill>
          <a:ln/>
        </p:spPr>
      </p:sp>
      <p:sp>
        <p:nvSpPr>
          <p:cNvPr id="35" name="Shape 33"/>
          <p:cNvSpPr/>
          <p:nvPr/>
        </p:nvSpPr>
        <p:spPr>
          <a:xfrm>
            <a:off x="1042416" y="5248656"/>
            <a:ext cx="128016" cy="128016"/>
          </a:xfrm>
          <a:prstGeom prst="ellipse">
            <a:avLst/>
          </a:prstGeom>
          <a:solidFill>
            <a:srgbClr val="FFBD2E"/>
          </a:solidFill>
          <a:ln/>
        </p:spPr>
      </p:sp>
      <p:sp>
        <p:nvSpPr>
          <p:cNvPr id="36" name="Shape 34"/>
          <p:cNvSpPr/>
          <p:nvPr/>
        </p:nvSpPr>
        <p:spPr>
          <a:xfrm>
            <a:off x="1280160" y="5248656"/>
            <a:ext cx="128016" cy="128016"/>
          </a:xfrm>
          <a:prstGeom prst="ellipse">
            <a:avLst/>
          </a:prstGeom>
          <a:solidFill>
            <a:srgbClr val="27C93F"/>
          </a:solidFill>
          <a:ln/>
        </p:spPr>
      </p:sp>
      <p:sp>
        <p:nvSpPr>
          <p:cNvPr id="37" name="Text 35"/>
          <p:cNvSpPr/>
          <p:nvPr/>
        </p:nvSpPr>
        <p:spPr>
          <a:xfrm>
            <a:off x="1645920" y="5138928"/>
            <a:ext cx="98298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the final sizing pass</a:t>
            </a:r>
            <a:endParaRPr lang="en-US" sz="1100" dirty="0"/>
          </a:p>
        </p:txBody>
      </p:sp>
      <p:sp>
        <p:nvSpPr>
          <p:cNvPr id="38" name="Text 36"/>
          <p:cNvSpPr/>
          <p:nvPr/>
        </p:nvSpPr>
        <p:spPr>
          <a:xfrm>
            <a:off x="804672" y="5559552"/>
            <a:ext cx="10597896" cy="704088"/>
          </a:xfrm>
          <a:prstGeom prst="rect">
            <a:avLst/>
          </a:prstGeom>
          <a:noFill/>
          <a:ln/>
        </p:spPr>
        <p:txBody>
          <a:bodyPr wrap="square" lIns="0" tIns="0" rIns="0" bIns="0" rtlCol="0" anchor="t"/>
          <a:lstStyle/>
          <a:p>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grid-template-columns</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4</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grid-template-rows</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80px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fr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70px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39" name="Text 37"/>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502920"/>
            <a:ext cx="1371600" cy="310896"/>
          </a:xfrm>
          <a:prstGeom prst="roundRect">
            <a:avLst>
              <a:gd name="adj" fmla="val 50000"/>
            </a:avLst>
          </a:prstGeom>
          <a:solidFill>
            <a:srgbClr val="8B5CF6"/>
          </a:solidFill>
          <a:ln/>
        </p:spPr>
      </p:sp>
      <p:sp>
        <p:nvSpPr>
          <p:cNvPr id="3" name="Text 1"/>
          <p:cNvSpPr/>
          <p:nvPr/>
        </p:nvSpPr>
        <p:spPr>
          <a:xfrm>
            <a:off x="548640" y="50292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QUIZ 3</a:t>
            </a:r>
            <a:endParaRPr lang="en-US" sz="1100" dirty="0"/>
          </a:p>
        </p:txBody>
      </p:sp>
      <p:sp>
        <p:nvSpPr>
          <p:cNvPr id="4" name="Text 2"/>
          <p:cNvSpPr/>
          <p:nvPr/>
        </p:nvSpPr>
        <p:spPr>
          <a:xfrm>
            <a:off x="548640" y="1005840"/>
            <a:ext cx="11064240" cy="1005840"/>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Which CSS property places an item into a specific named cell of a CSS Grid?</a:t>
            </a:r>
            <a:endParaRPr lang="en-US" sz="3000" dirty="0"/>
          </a:p>
        </p:txBody>
      </p:sp>
      <p:sp>
        <p:nvSpPr>
          <p:cNvPr id="5" name="Shape 3"/>
          <p:cNvSpPr/>
          <p:nvPr/>
        </p:nvSpPr>
        <p:spPr>
          <a:xfrm>
            <a:off x="54864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715768"/>
            <a:ext cx="457200" cy="457200"/>
          </a:xfrm>
          <a:prstGeom prst="roundRect">
            <a:avLst>
              <a:gd name="adj" fmla="val 20000"/>
            </a:avLst>
          </a:prstGeom>
          <a:solidFill>
            <a:srgbClr val="2563EB"/>
          </a:solidFill>
          <a:ln/>
        </p:spPr>
      </p:sp>
      <p:sp>
        <p:nvSpPr>
          <p:cNvPr id="7" name="Text 5"/>
          <p:cNvSpPr/>
          <p:nvPr/>
        </p:nvSpPr>
        <p:spPr>
          <a:xfrm>
            <a:off x="82296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50876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grid-position</a:t>
            </a:r>
            <a:endParaRPr lang="en-US" sz="1500" dirty="0"/>
          </a:p>
        </p:txBody>
      </p:sp>
      <p:sp>
        <p:nvSpPr>
          <p:cNvPr id="9" name="Shape 7"/>
          <p:cNvSpPr/>
          <p:nvPr/>
        </p:nvSpPr>
        <p:spPr>
          <a:xfrm>
            <a:off x="628650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0" name="Shape 8"/>
          <p:cNvSpPr/>
          <p:nvPr/>
        </p:nvSpPr>
        <p:spPr>
          <a:xfrm>
            <a:off x="6560820" y="2715768"/>
            <a:ext cx="457200" cy="457200"/>
          </a:xfrm>
          <a:prstGeom prst="roundRect">
            <a:avLst>
              <a:gd name="adj" fmla="val 20000"/>
            </a:avLst>
          </a:prstGeom>
          <a:solidFill>
            <a:srgbClr val="2563EB"/>
          </a:solidFill>
          <a:ln/>
        </p:spPr>
      </p:sp>
      <p:sp>
        <p:nvSpPr>
          <p:cNvPr id="11" name="Text 9"/>
          <p:cNvSpPr/>
          <p:nvPr/>
        </p:nvSpPr>
        <p:spPr>
          <a:xfrm>
            <a:off x="656082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724662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grid-row</a:t>
            </a:r>
            <a:endParaRPr lang="en-US" sz="1500" dirty="0"/>
          </a:p>
        </p:txBody>
      </p:sp>
      <p:sp>
        <p:nvSpPr>
          <p:cNvPr id="13" name="Shape 11"/>
          <p:cNvSpPr/>
          <p:nvPr/>
        </p:nvSpPr>
        <p:spPr>
          <a:xfrm>
            <a:off x="54864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Shape 12"/>
          <p:cNvSpPr/>
          <p:nvPr/>
        </p:nvSpPr>
        <p:spPr>
          <a:xfrm>
            <a:off x="822960" y="4315968"/>
            <a:ext cx="457200" cy="457200"/>
          </a:xfrm>
          <a:prstGeom prst="roundRect">
            <a:avLst>
              <a:gd name="adj" fmla="val 20000"/>
            </a:avLst>
          </a:prstGeom>
          <a:solidFill>
            <a:srgbClr val="2563EB"/>
          </a:solidFill>
          <a:ln/>
        </p:spPr>
      </p:sp>
      <p:sp>
        <p:nvSpPr>
          <p:cNvPr id="15" name="Text 13"/>
          <p:cNvSpPr/>
          <p:nvPr/>
        </p:nvSpPr>
        <p:spPr>
          <a:xfrm>
            <a:off x="82296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4"/>
          <p:cNvSpPr/>
          <p:nvPr/>
        </p:nvSpPr>
        <p:spPr>
          <a:xfrm>
            <a:off x="150876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grid-cell</a:t>
            </a:r>
            <a:endParaRPr lang="en-US" sz="1500" dirty="0"/>
          </a:p>
        </p:txBody>
      </p:sp>
      <p:sp>
        <p:nvSpPr>
          <p:cNvPr id="17" name="Shape 15"/>
          <p:cNvSpPr/>
          <p:nvPr/>
        </p:nvSpPr>
        <p:spPr>
          <a:xfrm>
            <a:off x="628650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8" name="Shape 16"/>
          <p:cNvSpPr/>
          <p:nvPr/>
        </p:nvSpPr>
        <p:spPr>
          <a:xfrm>
            <a:off x="6560820" y="4315968"/>
            <a:ext cx="457200" cy="457200"/>
          </a:xfrm>
          <a:prstGeom prst="roundRect">
            <a:avLst>
              <a:gd name="adj" fmla="val 20000"/>
            </a:avLst>
          </a:prstGeom>
          <a:solidFill>
            <a:srgbClr val="2563EB"/>
          </a:solidFill>
          <a:ln/>
        </p:spPr>
      </p:sp>
      <p:sp>
        <p:nvSpPr>
          <p:cNvPr id="19" name="Text 17"/>
          <p:cNvSpPr/>
          <p:nvPr/>
        </p:nvSpPr>
        <p:spPr>
          <a:xfrm>
            <a:off x="656082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0" name="Text 18"/>
          <p:cNvSpPr/>
          <p:nvPr/>
        </p:nvSpPr>
        <p:spPr>
          <a:xfrm>
            <a:off x="724662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grid-area</a:t>
            </a:r>
            <a:endParaRPr lang="en-US" sz="1500" dirty="0"/>
          </a:p>
        </p:txBody>
      </p:sp>
      <p:sp>
        <p:nvSpPr>
          <p:cNvPr id="21" name="Shape 19"/>
          <p:cNvSpPr/>
          <p:nvPr/>
        </p:nvSpPr>
        <p:spPr>
          <a:xfrm>
            <a:off x="548640" y="5532120"/>
            <a:ext cx="11109960" cy="777240"/>
          </a:xfrm>
          <a:prstGeom prst="roundRect">
            <a:avLst>
              <a:gd name="adj" fmla="val 14118"/>
            </a:avLst>
          </a:prstGeom>
          <a:solidFill>
            <a:srgbClr val="E7FBEF"/>
          </a:solidFill>
          <a:ln/>
        </p:spPr>
      </p:sp>
      <p:sp>
        <p:nvSpPr>
          <p:cNvPr id="22" name="Shape 20"/>
          <p:cNvSpPr/>
          <p:nvPr/>
        </p:nvSpPr>
        <p:spPr>
          <a:xfrm>
            <a:off x="749808" y="5792724"/>
            <a:ext cx="256032" cy="256032"/>
          </a:xfrm>
          <a:prstGeom prst="ellipse">
            <a:avLst/>
          </a:prstGeom>
          <a:solidFill>
            <a:srgbClr val="22C55E"/>
          </a:solidFill>
          <a:ln/>
        </p:spPr>
      </p:sp>
      <p:sp>
        <p:nvSpPr>
          <p:cNvPr id="23" name="Text 21"/>
          <p:cNvSpPr/>
          <p:nvPr/>
        </p:nvSpPr>
        <p:spPr>
          <a:xfrm>
            <a:off x="1207008" y="5532120"/>
            <a:ext cx="10241280" cy="7772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Rows of four, one scribe. Two of these are real properties. Decide which, and what the other one actually does.</a:t>
            </a:r>
            <a:endParaRPr lang="en-US" sz="1400" dirty="0"/>
          </a:p>
        </p:txBody>
      </p:sp>
      <p:sp>
        <p:nvSpPr>
          <p:cNvPr id="24"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Responsive Layout and CSS Grid</a:t>
            </a:r>
            <a:endParaRPr lang="en-US" sz="100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04</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4</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Flexbox vs Grid</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Not a rivalry. Two tools for two different shapes of problem.</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216152" cy="310896"/>
          </a:xfrm>
          <a:prstGeom prst="roundRect">
            <a:avLst>
              <a:gd name="adj" fmla="val 50000"/>
            </a:avLst>
          </a:prstGeom>
          <a:solidFill>
            <a:srgbClr val="2563EB"/>
          </a:solidFill>
          <a:ln/>
        </p:spPr>
      </p:sp>
      <p:sp>
        <p:nvSpPr>
          <p:cNvPr id="3" name="Text 1"/>
          <p:cNvSpPr/>
          <p:nvPr/>
        </p:nvSpPr>
        <p:spPr>
          <a:xfrm>
            <a:off x="548640" y="457200"/>
            <a:ext cx="1216152"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COMPARISON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One dimension or two</a:t>
            </a:r>
            <a:endParaRPr lang="en-US" sz="3400" dirty="0"/>
          </a:p>
        </p:txBody>
      </p:sp>
      <p:sp>
        <p:nvSpPr>
          <p:cNvPr id="5" name="Shape 3"/>
          <p:cNvSpPr/>
          <p:nvPr/>
        </p:nvSpPr>
        <p:spPr>
          <a:xfrm>
            <a:off x="548640" y="1920240"/>
            <a:ext cx="5440680" cy="4114800"/>
          </a:xfrm>
          <a:prstGeom prst="roundRect">
            <a:avLst>
              <a:gd name="adj" fmla="val 2667"/>
            </a:avLst>
          </a:prstGeom>
          <a:solidFill>
            <a:srgbClr val="FFF3E0"/>
          </a:solidFill>
          <a:ln/>
          <a:effectLst>
            <a:outerShdw sx="100000" sy="100000" kx="0" ky="0" algn="bl" rotWithShape="0" blurRad="101600" dist="38100" dir="5400000">
              <a:srgbClr val="0B1220">
                <a:alpha val="18000"/>
              </a:srgbClr>
            </a:outerShdw>
          </a:effectLst>
        </p:spPr>
      </p:sp>
      <p:sp>
        <p:nvSpPr>
          <p:cNvPr id="6" name="Shape 4"/>
          <p:cNvSpPr/>
          <p:nvPr/>
        </p:nvSpPr>
        <p:spPr>
          <a:xfrm>
            <a:off x="822960" y="2148840"/>
            <a:ext cx="640080" cy="64008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989381" y="2315261"/>
            <a:ext cx="307238" cy="307238"/>
          </a:xfrm>
          <a:prstGeom prst="rect">
            <a:avLst/>
          </a:prstGeom>
        </p:spPr>
      </p:pic>
      <p:sp>
        <p:nvSpPr>
          <p:cNvPr id="8" name="Text 5"/>
          <p:cNvSpPr/>
          <p:nvPr/>
        </p:nvSpPr>
        <p:spPr>
          <a:xfrm>
            <a:off x="1600200" y="2212848"/>
            <a:ext cx="4114800" cy="457200"/>
          </a:xfrm>
          <a:prstGeom prst="rect">
            <a:avLst/>
          </a:prstGeom>
          <a:noFill/>
          <a:ln/>
        </p:spPr>
        <p:txBody>
          <a:bodyPr wrap="square" lIns="0" tIns="0" rIns="0" bIns="0" rtlCol="0" anchor="ctr"/>
          <a:lstStyle/>
          <a:p>
            <a:pPr algn="l" indent="0" marL="0">
              <a:buNone/>
            </a:pPr>
            <a:r>
              <a:rPr lang="en-US" sz="2000" b="1" dirty="0">
                <a:solidFill>
                  <a:srgbClr val="7A4A05"/>
                </a:solidFill>
                <a:latin typeface="Calibri" pitchFamily="34" charset="0"/>
                <a:ea typeface="Calibri" pitchFamily="34" charset="-122"/>
                <a:cs typeface="Calibri" pitchFamily="34" charset="-120"/>
              </a:rPr>
              <a:t>Flexbox</a:t>
            </a:r>
            <a:endParaRPr lang="en-US" sz="2000" dirty="0"/>
          </a:p>
        </p:txBody>
      </p:sp>
      <p:sp>
        <p:nvSpPr>
          <p:cNvPr id="9" name="Text 6"/>
          <p:cNvSpPr/>
          <p:nvPr/>
        </p:nvSpPr>
        <p:spPr>
          <a:xfrm>
            <a:off x="822960" y="2788920"/>
            <a:ext cx="4892040" cy="320040"/>
          </a:xfrm>
          <a:prstGeom prst="rect">
            <a:avLst/>
          </a:prstGeom>
          <a:noFill/>
          <a:ln/>
        </p:spPr>
        <p:txBody>
          <a:bodyPr wrap="square" lIns="0" tIns="0" rIns="0" bIns="0" rtlCol="0" anchor="ctr"/>
          <a:lstStyle/>
          <a:p>
            <a:pPr algn="l" indent="0" marL="0">
              <a:buNone/>
            </a:pPr>
            <a:r>
              <a:rPr lang="en-US" sz="1350" b="1" dirty="0">
                <a:solidFill>
                  <a:srgbClr val="F59E0B"/>
                </a:solidFill>
                <a:latin typeface="Calibri" pitchFamily="34" charset="0"/>
                <a:ea typeface="Calibri" pitchFamily="34" charset="-122"/>
                <a:cs typeface="Calibri" pitchFamily="34" charset="-120"/>
              </a:rPr>
              <a:t>One dimension. Content first.</a:t>
            </a:r>
            <a:endParaRPr lang="en-US" sz="1350" dirty="0"/>
          </a:p>
        </p:txBody>
      </p:sp>
      <p:sp>
        <p:nvSpPr>
          <p:cNvPr id="10" name="Text 7"/>
          <p:cNvSpPr/>
          <p:nvPr/>
        </p:nvSpPr>
        <p:spPr>
          <a:xfrm>
            <a:off x="868680" y="3200400"/>
            <a:ext cx="4800600" cy="2697480"/>
          </a:xfrm>
          <a:prstGeom prst="rect">
            <a:avLst/>
          </a:prstGeom>
          <a:noFill/>
          <a:ln/>
        </p:spPr>
        <p:txBody>
          <a:bodyPr wrap="square" lIns="0" tIns="0" rIns="0" bIns="0" rtlCol="0" anchor="t"/>
          <a:lstStyle/>
          <a:p>
            <a:pPr algn="l" marL="190500" indent="-190500">
              <a:spcAft>
                <a:spcPts val="1100"/>
              </a:spcAft>
              <a:buSzPct val="100000"/>
              <a:buChar char="•"/>
            </a:pPr>
            <a:r>
              <a:rPr lang="en-US" sz="1300" dirty="0">
                <a:solidFill>
                  <a:srgbClr val="7A4A05"/>
                </a:solidFill>
                <a:latin typeface="Calibri" pitchFamily="34" charset="0"/>
                <a:ea typeface="Calibri" pitchFamily="34" charset="-122"/>
                <a:cs typeface="Calibri" pitchFamily="34" charset="-120"/>
              </a:rPr>
              <a:t>Lay items along a row or a column, not both</a:t>
            </a:r>
            <a:endParaRPr lang="en-US" sz="1300" dirty="0"/>
          </a:p>
          <a:p>
            <a:pPr algn="l" marL="190500" indent="-190500">
              <a:spcAft>
                <a:spcPts val="1100"/>
              </a:spcAft>
              <a:buSzPct val="100000"/>
              <a:buChar char="•"/>
            </a:pPr>
            <a:r>
              <a:rPr lang="en-US" sz="1300" dirty="0">
                <a:solidFill>
                  <a:srgbClr val="7A4A05"/>
                </a:solidFill>
                <a:latin typeface="Calibri" pitchFamily="34" charset="0"/>
                <a:ea typeface="Calibri" pitchFamily="34" charset="-122"/>
                <a:cs typeface="Calibri" pitchFamily="34" charset="-120"/>
              </a:rPr>
              <a:t>Best when the number or size of items is unknown</a:t>
            </a:r>
            <a:endParaRPr lang="en-US" sz="1300" dirty="0"/>
          </a:p>
          <a:p>
            <a:pPr algn="l" marL="190500" indent="-190500">
              <a:spcAft>
                <a:spcPts val="1100"/>
              </a:spcAft>
              <a:buSzPct val="100000"/>
              <a:buChar char="•"/>
            </a:pPr>
            <a:r>
              <a:rPr lang="en-US" sz="1300" dirty="0">
                <a:solidFill>
                  <a:srgbClr val="7A4A05"/>
                </a:solidFill>
                <a:latin typeface="Calibri" pitchFamily="34" charset="0"/>
                <a:ea typeface="Calibri" pitchFamily="34" charset="-122"/>
                <a:cs typeface="Calibri" pitchFamily="34" charset="-120"/>
              </a:rPr>
              <a:t>Navigation bars, headers, footers, toolbars</a:t>
            </a:r>
            <a:endParaRPr lang="en-US" sz="1300" dirty="0"/>
          </a:p>
          <a:p>
            <a:pPr algn="l" marL="190500" indent="-190500">
              <a:spcAft>
                <a:spcPts val="1100"/>
              </a:spcAft>
              <a:buSzPct val="100000"/>
              <a:buChar char="•"/>
            </a:pPr>
            <a:r>
              <a:rPr lang="en-US" sz="1300" dirty="0">
                <a:solidFill>
                  <a:srgbClr val="7A4A05"/>
                </a:solidFill>
                <a:latin typeface="Calibri" pitchFamily="34" charset="0"/>
                <a:ea typeface="Calibri" pitchFamily="34" charset="-122"/>
                <a:cs typeface="Calibri" pitchFamily="34" charset="-120"/>
              </a:rPr>
              <a:t>Centering one thing inside another</a:t>
            </a:r>
            <a:endParaRPr lang="en-US" sz="1300" dirty="0"/>
          </a:p>
          <a:p>
            <a:pPr algn="l" marL="190500" indent="-190500">
              <a:spcAft>
                <a:spcPts val="1100"/>
              </a:spcAft>
              <a:buSzPct val="100000"/>
              <a:buChar char="•"/>
            </a:pPr>
            <a:r>
              <a:rPr lang="en-US" sz="1300" dirty="0">
                <a:solidFill>
                  <a:srgbClr val="7A4A05"/>
                </a:solidFill>
                <a:latin typeface="Calibri" pitchFamily="34" charset="0"/>
                <a:ea typeface="Calibri" pitchFamily="34" charset="-122"/>
                <a:cs typeface="Calibri" pitchFamily="34" charset="-120"/>
              </a:rPr>
              <a:t>display: flex, flex-direction, justify-content, align-items, flex-wrap</a:t>
            </a:r>
            <a:endParaRPr lang="en-US" sz="1300" dirty="0"/>
          </a:p>
        </p:txBody>
      </p:sp>
      <p:sp>
        <p:nvSpPr>
          <p:cNvPr id="11" name="Shape 8"/>
          <p:cNvSpPr/>
          <p:nvPr/>
        </p:nvSpPr>
        <p:spPr>
          <a:xfrm>
            <a:off x="6217920" y="1920240"/>
            <a:ext cx="5440680" cy="4114800"/>
          </a:xfrm>
          <a:prstGeom prst="roundRect">
            <a:avLst>
              <a:gd name="adj" fmla="val 2667"/>
            </a:avLst>
          </a:prstGeom>
          <a:solidFill>
            <a:srgbClr val="E5EEFF"/>
          </a:solidFill>
          <a:ln/>
          <a:effectLst>
            <a:outerShdw sx="100000" sy="100000" kx="0" ky="0" algn="bl" rotWithShape="0" blurRad="101600" dist="38100" dir="5400000">
              <a:srgbClr val="0B1220">
                <a:alpha val="18000"/>
              </a:srgbClr>
            </a:outerShdw>
          </a:effectLst>
        </p:spPr>
      </p:sp>
      <p:sp>
        <p:nvSpPr>
          <p:cNvPr id="12" name="Shape 9"/>
          <p:cNvSpPr/>
          <p:nvPr/>
        </p:nvSpPr>
        <p:spPr>
          <a:xfrm>
            <a:off x="6492240" y="2148840"/>
            <a:ext cx="640080" cy="64008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6658661" y="2315261"/>
            <a:ext cx="307238" cy="307238"/>
          </a:xfrm>
          <a:prstGeom prst="rect">
            <a:avLst/>
          </a:prstGeom>
        </p:spPr>
      </p:pic>
      <p:sp>
        <p:nvSpPr>
          <p:cNvPr id="14" name="Text 10"/>
          <p:cNvSpPr/>
          <p:nvPr/>
        </p:nvSpPr>
        <p:spPr>
          <a:xfrm>
            <a:off x="7269480" y="2212848"/>
            <a:ext cx="4114800" cy="457200"/>
          </a:xfrm>
          <a:prstGeom prst="rect">
            <a:avLst/>
          </a:prstGeom>
          <a:noFill/>
          <a:ln/>
        </p:spPr>
        <p:txBody>
          <a:bodyPr wrap="square" lIns="0" tIns="0" rIns="0" bIns="0" rtlCol="0" anchor="ctr"/>
          <a:lstStyle/>
          <a:p>
            <a:pPr algn="l" indent="0" marL="0">
              <a:buNone/>
            </a:pPr>
            <a:r>
              <a:rPr lang="en-US" sz="2000" b="1" dirty="0">
                <a:solidFill>
                  <a:srgbClr val="0F172A"/>
                </a:solidFill>
                <a:latin typeface="Calibri" pitchFamily="34" charset="0"/>
                <a:ea typeface="Calibri" pitchFamily="34" charset="-122"/>
                <a:cs typeface="Calibri" pitchFamily="34" charset="-120"/>
              </a:rPr>
              <a:t>Grid</a:t>
            </a:r>
            <a:endParaRPr lang="en-US" sz="2000" dirty="0"/>
          </a:p>
        </p:txBody>
      </p:sp>
      <p:sp>
        <p:nvSpPr>
          <p:cNvPr id="15" name="Text 11"/>
          <p:cNvSpPr/>
          <p:nvPr/>
        </p:nvSpPr>
        <p:spPr>
          <a:xfrm>
            <a:off x="6492240" y="2788920"/>
            <a:ext cx="4892040" cy="320040"/>
          </a:xfrm>
          <a:prstGeom prst="rect">
            <a:avLst/>
          </a:prstGeom>
          <a:noFill/>
          <a:ln/>
        </p:spPr>
        <p:txBody>
          <a:bodyPr wrap="square" lIns="0" tIns="0" rIns="0" bIns="0" rtlCol="0" anchor="ctr"/>
          <a:lstStyle/>
          <a:p>
            <a:pPr algn="l" indent="0" marL="0">
              <a:buNone/>
            </a:pPr>
            <a:r>
              <a:rPr lang="en-US" sz="1350" b="1" dirty="0">
                <a:solidFill>
                  <a:srgbClr val="2563EB"/>
                </a:solidFill>
                <a:latin typeface="Calibri" pitchFamily="34" charset="0"/>
                <a:ea typeface="Calibri" pitchFamily="34" charset="-122"/>
                <a:cs typeface="Calibri" pitchFamily="34" charset="-120"/>
              </a:rPr>
              <a:t>Two dimensions. Layout first.</a:t>
            </a:r>
            <a:endParaRPr lang="en-US" sz="1350" dirty="0"/>
          </a:p>
        </p:txBody>
      </p:sp>
      <p:sp>
        <p:nvSpPr>
          <p:cNvPr id="16" name="Text 12"/>
          <p:cNvSpPr/>
          <p:nvPr/>
        </p:nvSpPr>
        <p:spPr>
          <a:xfrm>
            <a:off x="6537960" y="3200400"/>
            <a:ext cx="4800600" cy="2697480"/>
          </a:xfrm>
          <a:prstGeom prst="rect">
            <a:avLst/>
          </a:prstGeom>
          <a:noFill/>
          <a:ln/>
        </p:spPr>
        <p:txBody>
          <a:bodyPr wrap="square" lIns="0" tIns="0" rIns="0" bIns="0" rtlCol="0" anchor="t"/>
          <a:lstStyle/>
          <a:p>
            <a:pPr algn="l" marL="190500" indent="-190500">
              <a:spcAft>
                <a:spcPts val="1100"/>
              </a:spcAft>
              <a:buSzPct val="100000"/>
              <a:buChar char="•"/>
            </a:pPr>
            <a:r>
              <a:rPr lang="en-US" sz="1300" dirty="0">
                <a:solidFill>
                  <a:srgbClr val="0F172A"/>
                </a:solidFill>
                <a:latin typeface="Calibri" pitchFamily="34" charset="0"/>
                <a:ea typeface="Calibri" pitchFamily="34" charset="-122"/>
                <a:cs typeface="Calibri" pitchFamily="34" charset="-120"/>
              </a:rPr>
              <a:t>Rows and columns controlled at the same time</a:t>
            </a:r>
            <a:endParaRPr lang="en-US" sz="1300" dirty="0"/>
          </a:p>
          <a:p>
            <a:pPr algn="l" marL="190500" indent="-190500">
              <a:spcAft>
                <a:spcPts val="1100"/>
              </a:spcAft>
              <a:buSzPct val="100000"/>
              <a:buChar char="•"/>
            </a:pPr>
            <a:r>
              <a:rPr lang="en-US" sz="1300" dirty="0">
                <a:solidFill>
                  <a:srgbClr val="0F172A"/>
                </a:solidFill>
                <a:latin typeface="Calibri" pitchFamily="34" charset="0"/>
                <a:ea typeface="Calibri" pitchFamily="34" charset="-122"/>
                <a:cs typeface="Calibri" pitchFamily="34" charset="-120"/>
              </a:rPr>
              <a:t>Best when you already know the shape of the layout</a:t>
            </a:r>
            <a:endParaRPr lang="en-US" sz="1300" dirty="0"/>
          </a:p>
          <a:p>
            <a:pPr algn="l" marL="190500" indent="-190500">
              <a:spcAft>
                <a:spcPts val="1100"/>
              </a:spcAft>
              <a:buSzPct val="100000"/>
              <a:buChar char="•"/>
            </a:pPr>
            <a:r>
              <a:rPr lang="en-US" sz="1300" dirty="0">
                <a:solidFill>
                  <a:srgbClr val="0F172A"/>
                </a:solidFill>
                <a:latin typeface="Calibri" pitchFamily="34" charset="0"/>
                <a:ea typeface="Calibri" pitchFamily="34" charset="-122"/>
                <a:cs typeface="Calibri" pitchFamily="34" charset="-120"/>
              </a:rPr>
              <a:t>Whole page layouts, dashboards, photo galleries</a:t>
            </a:r>
            <a:endParaRPr lang="en-US" sz="1300" dirty="0"/>
          </a:p>
          <a:p>
            <a:pPr algn="l" marL="190500" indent="-190500">
              <a:spcAft>
                <a:spcPts val="1100"/>
              </a:spcAft>
              <a:buSzPct val="100000"/>
              <a:buChar char="•"/>
            </a:pPr>
            <a:r>
              <a:rPr lang="en-US" sz="1300" dirty="0">
                <a:solidFill>
                  <a:srgbClr val="0F172A"/>
                </a:solidFill>
                <a:latin typeface="Calibri" pitchFamily="34" charset="0"/>
                <a:ea typeface="Calibri" pitchFamily="34" charset="-122"/>
                <a:cs typeface="Calibri" pitchFamily="34" charset="-120"/>
              </a:rPr>
              <a:t>Named areas make complex structures readable</a:t>
            </a:r>
            <a:endParaRPr lang="en-US" sz="1300" dirty="0"/>
          </a:p>
          <a:p>
            <a:pPr algn="l" marL="190500" indent="-190500">
              <a:spcAft>
                <a:spcPts val="1100"/>
              </a:spcAft>
              <a:buSzPct val="100000"/>
              <a:buChar char="•"/>
            </a:pPr>
            <a:r>
              <a:rPr lang="en-US" sz="1300" dirty="0">
                <a:solidFill>
                  <a:srgbClr val="0F172A"/>
                </a:solidFill>
                <a:latin typeface="Calibri" pitchFamily="34" charset="0"/>
                <a:ea typeface="Calibri" pitchFamily="34" charset="-122"/>
                <a:cs typeface="Calibri" pitchFamily="34" charset="-120"/>
              </a:rPr>
              <a:t>display: grid, grid-template-rows / columns, gap, grid-template-areas</a:t>
            </a:r>
            <a:endParaRPr lang="en-US" sz="1300" dirty="0"/>
          </a:p>
        </p:txBody>
      </p:sp>
      <p:sp>
        <p:nvSpPr>
          <p:cNvPr id="17" name="Text 1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509760" y="-1371600"/>
            <a:ext cx="4572000" cy="4572000"/>
          </a:xfrm>
          <a:prstGeom prst="ellipse">
            <a:avLst/>
          </a:prstGeom>
          <a:solidFill>
            <a:srgbClr val="1B2A4A"/>
          </a:solidFill>
          <a:ln/>
        </p:spPr>
      </p:sp>
      <p:sp>
        <p:nvSpPr>
          <p:cNvPr id="3" name="Shape 1"/>
          <p:cNvSpPr/>
          <p:nvPr/>
        </p:nvSpPr>
        <p:spPr>
          <a:xfrm>
            <a:off x="822960" y="548640"/>
            <a:ext cx="1371600" cy="310896"/>
          </a:xfrm>
          <a:prstGeom prst="roundRect">
            <a:avLst>
              <a:gd name="adj" fmla="val 50000"/>
            </a:avLst>
          </a:prstGeom>
          <a:solidFill>
            <a:srgbClr val="2563EB"/>
          </a:solidFill>
          <a:ln/>
        </p:spPr>
      </p:sp>
      <p:sp>
        <p:nvSpPr>
          <p:cNvPr id="4" name="Text 2"/>
          <p:cNvSpPr/>
          <p:nvPr/>
        </p:nvSpPr>
        <p:spPr>
          <a:xfrm>
            <a:off x="822960" y="54864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RECAP</a:t>
            </a:r>
            <a:endParaRPr lang="en-US" sz="1100" dirty="0"/>
          </a:p>
        </p:txBody>
      </p:sp>
      <p:sp>
        <p:nvSpPr>
          <p:cNvPr id="5" name="Text 3"/>
          <p:cNvSpPr/>
          <p:nvPr/>
        </p:nvSpPr>
        <p:spPr>
          <a:xfrm>
            <a:off x="777240" y="960120"/>
            <a:ext cx="10058400" cy="73152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The whole picture</a:t>
            </a:r>
            <a:endParaRPr lang="en-US" sz="3600" dirty="0"/>
          </a:p>
        </p:txBody>
      </p:sp>
      <p:sp>
        <p:nvSpPr>
          <p:cNvPr id="6" name="Shape 4"/>
          <p:cNvSpPr/>
          <p:nvPr/>
        </p:nvSpPr>
        <p:spPr>
          <a:xfrm>
            <a:off x="777240" y="19659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7" name="Shape 5"/>
          <p:cNvSpPr/>
          <p:nvPr/>
        </p:nvSpPr>
        <p:spPr>
          <a:xfrm>
            <a:off x="1005840" y="2286000"/>
            <a:ext cx="594360" cy="594360"/>
          </a:xfrm>
          <a:prstGeom prst="ellipse">
            <a:avLst/>
          </a:prstGeom>
          <a:solidFill>
            <a:srgbClr val="2563EB"/>
          </a:solidFill>
          <a:ln/>
        </p:spPr>
      </p:sp>
      <p:pic>
        <p:nvPicPr>
          <p:cNvPr id="8" name="Image 0" descr="preencoded.png">    </p:cNvPr>
          <p:cNvPicPr>
            <a:picLocks noChangeAspect="1"/>
          </p:cNvPicPr>
          <p:nvPr/>
        </p:nvPicPr>
        <p:blipFill>
          <a:blip r:embed="rId1"/>
          <a:stretch>
            <a:fillRect/>
          </a:stretch>
        </p:blipFill>
        <p:spPr>
          <a:xfrm>
            <a:off x="1160374" y="2440534"/>
            <a:ext cx="285293" cy="285293"/>
          </a:xfrm>
          <a:prstGeom prst="rect">
            <a:avLst/>
          </a:prstGeom>
        </p:spPr>
      </p:pic>
      <p:sp>
        <p:nvSpPr>
          <p:cNvPr id="9" name="Text 6"/>
          <p:cNvSpPr/>
          <p:nvPr/>
        </p:nvSpPr>
        <p:spPr>
          <a:xfrm>
            <a:off x="1783080" y="2130552"/>
            <a:ext cx="420624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ourier New" pitchFamily="34" charset="0"/>
                <a:ea typeface="Courier New" pitchFamily="34" charset="-122"/>
                <a:cs typeface="Courier New" pitchFamily="34" charset="-120"/>
              </a:rPr>
              <a:t>display: grid</a:t>
            </a:r>
            <a:endParaRPr lang="en-US" sz="1300" dirty="0"/>
          </a:p>
        </p:txBody>
      </p:sp>
      <p:sp>
        <p:nvSpPr>
          <p:cNvPr id="10" name="Text 7"/>
          <p:cNvSpPr/>
          <p:nvPr/>
        </p:nvSpPr>
        <p:spPr>
          <a:xfrm>
            <a:off x="1783080" y="2532888"/>
            <a:ext cx="4206240" cy="594360"/>
          </a:xfrm>
          <a:prstGeom prst="rect">
            <a:avLst/>
          </a:prstGeom>
          <a:noFill/>
          <a:ln/>
        </p:spPr>
        <p:txBody>
          <a:bodyPr wrap="square" lIns="0" tIns="0" rIns="0" bIns="0" rtlCol="0" anchor="t"/>
          <a:lstStyle/>
          <a:p>
            <a:pPr algn="l" indent="0" marL="0">
              <a:buNone/>
            </a:pPr>
            <a:r>
              <a:rPr lang="en-US" sz="1250" dirty="0">
                <a:solidFill>
                  <a:srgbClr val="C7DBFF"/>
                </a:solidFill>
                <a:latin typeface="Calibri" pitchFamily="34" charset="0"/>
                <a:ea typeface="Calibri" pitchFamily="34" charset="-122"/>
                <a:cs typeface="Calibri" pitchFamily="34" charset="-120"/>
              </a:rPr>
              <a:t>makes a two-dimensional grid container</a:t>
            </a:r>
            <a:endParaRPr lang="en-US" sz="1250" dirty="0"/>
          </a:p>
        </p:txBody>
      </p:sp>
      <p:sp>
        <p:nvSpPr>
          <p:cNvPr id="11" name="Shape 8"/>
          <p:cNvSpPr/>
          <p:nvPr/>
        </p:nvSpPr>
        <p:spPr>
          <a:xfrm>
            <a:off x="6446520" y="19659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12" name="Shape 9"/>
          <p:cNvSpPr/>
          <p:nvPr/>
        </p:nvSpPr>
        <p:spPr>
          <a:xfrm>
            <a:off x="6675120" y="2286000"/>
            <a:ext cx="594360" cy="594360"/>
          </a:xfrm>
          <a:prstGeom prst="ellipse">
            <a:avLst/>
          </a:prstGeom>
          <a:solidFill>
            <a:srgbClr val="2563EB"/>
          </a:solidFill>
          <a:ln/>
        </p:spPr>
      </p:sp>
      <p:pic>
        <p:nvPicPr>
          <p:cNvPr id="13" name="Image 1" descr="preencoded.png">    </p:cNvPr>
          <p:cNvPicPr>
            <a:picLocks noChangeAspect="1"/>
          </p:cNvPicPr>
          <p:nvPr/>
        </p:nvPicPr>
        <p:blipFill>
          <a:blip r:embed="rId2"/>
          <a:stretch>
            <a:fillRect/>
          </a:stretch>
        </p:blipFill>
        <p:spPr>
          <a:xfrm>
            <a:off x="6829654" y="2440534"/>
            <a:ext cx="285293" cy="285293"/>
          </a:xfrm>
          <a:prstGeom prst="rect">
            <a:avLst/>
          </a:prstGeom>
        </p:spPr>
      </p:pic>
      <p:sp>
        <p:nvSpPr>
          <p:cNvPr id="14" name="Text 10"/>
          <p:cNvSpPr/>
          <p:nvPr/>
        </p:nvSpPr>
        <p:spPr>
          <a:xfrm>
            <a:off x="7452360" y="2130552"/>
            <a:ext cx="420624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ourier New" pitchFamily="34" charset="0"/>
                <a:ea typeface="Courier New" pitchFamily="34" charset="-122"/>
                <a:cs typeface="Courier New" pitchFamily="34" charset="-120"/>
              </a:rPr>
              <a:t>grid-template-columns / rows</a:t>
            </a:r>
            <a:endParaRPr lang="en-US" sz="1300" dirty="0"/>
          </a:p>
        </p:txBody>
      </p:sp>
      <p:sp>
        <p:nvSpPr>
          <p:cNvPr id="15" name="Text 11"/>
          <p:cNvSpPr/>
          <p:nvPr/>
        </p:nvSpPr>
        <p:spPr>
          <a:xfrm>
            <a:off x="7452360" y="2532888"/>
            <a:ext cx="4206240" cy="594360"/>
          </a:xfrm>
          <a:prstGeom prst="rect">
            <a:avLst/>
          </a:prstGeom>
          <a:noFill/>
          <a:ln/>
        </p:spPr>
        <p:txBody>
          <a:bodyPr wrap="square" lIns="0" tIns="0" rIns="0" bIns="0" rtlCol="0" anchor="t"/>
          <a:lstStyle/>
          <a:p>
            <a:pPr algn="l" indent="0" marL="0">
              <a:buNone/>
            </a:pPr>
            <a:r>
              <a:rPr lang="en-US" sz="1250" dirty="0">
                <a:solidFill>
                  <a:srgbClr val="C7DBFF"/>
                </a:solidFill>
                <a:latin typeface="Calibri" pitchFamily="34" charset="0"/>
                <a:ea typeface="Calibri" pitchFamily="34" charset="-122"/>
                <a:cs typeface="Calibri" pitchFamily="34" charset="-120"/>
              </a:rPr>
              <a:t>define the tracks, in px or fr</a:t>
            </a:r>
            <a:endParaRPr lang="en-US" sz="1250" dirty="0"/>
          </a:p>
        </p:txBody>
      </p:sp>
      <p:sp>
        <p:nvSpPr>
          <p:cNvPr id="16" name="Shape 12"/>
          <p:cNvSpPr/>
          <p:nvPr/>
        </p:nvSpPr>
        <p:spPr>
          <a:xfrm>
            <a:off x="777240" y="33375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17" name="Shape 13"/>
          <p:cNvSpPr/>
          <p:nvPr/>
        </p:nvSpPr>
        <p:spPr>
          <a:xfrm>
            <a:off x="1005840" y="3657600"/>
            <a:ext cx="594360" cy="594360"/>
          </a:xfrm>
          <a:prstGeom prst="ellipse">
            <a:avLst/>
          </a:prstGeom>
          <a:solidFill>
            <a:srgbClr val="2563EB"/>
          </a:solidFill>
          <a:ln/>
        </p:spPr>
      </p:sp>
      <p:pic>
        <p:nvPicPr>
          <p:cNvPr id="18" name="Image 2" descr="preencoded.png">    </p:cNvPr>
          <p:cNvPicPr>
            <a:picLocks noChangeAspect="1"/>
          </p:cNvPicPr>
          <p:nvPr/>
        </p:nvPicPr>
        <p:blipFill>
          <a:blip r:embed="rId3"/>
          <a:stretch>
            <a:fillRect/>
          </a:stretch>
        </p:blipFill>
        <p:spPr>
          <a:xfrm>
            <a:off x="1160374" y="3812134"/>
            <a:ext cx="285293" cy="285293"/>
          </a:xfrm>
          <a:prstGeom prst="rect">
            <a:avLst/>
          </a:prstGeom>
        </p:spPr>
      </p:pic>
      <p:sp>
        <p:nvSpPr>
          <p:cNvPr id="19" name="Text 14"/>
          <p:cNvSpPr/>
          <p:nvPr/>
        </p:nvSpPr>
        <p:spPr>
          <a:xfrm>
            <a:off x="1783080" y="3502152"/>
            <a:ext cx="420624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ourier New" pitchFamily="34" charset="0"/>
                <a:ea typeface="Courier New" pitchFamily="34" charset="-122"/>
                <a:cs typeface="Courier New" pitchFamily="34" charset="-120"/>
              </a:rPr>
              <a:t>fr and repeat()</a:t>
            </a:r>
            <a:endParaRPr lang="en-US" sz="1300" dirty="0"/>
          </a:p>
        </p:txBody>
      </p:sp>
      <p:sp>
        <p:nvSpPr>
          <p:cNvPr id="20" name="Text 15"/>
          <p:cNvSpPr/>
          <p:nvPr/>
        </p:nvSpPr>
        <p:spPr>
          <a:xfrm>
            <a:off x="1783080" y="3904488"/>
            <a:ext cx="4206240" cy="594360"/>
          </a:xfrm>
          <a:prstGeom prst="rect">
            <a:avLst/>
          </a:prstGeom>
          <a:noFill/>
          <a:ln/>
        </p:spPr>
        <p:txBody>
          <a:bodyPr wrap="square" lIns="0" tIns="0" rIns="0" bIns="0" rtlCol="0" anchor="t"/>
          <a:lstStyle/>
          <a:p>
            <a:pPr algn="l" indent="0" marL="0">
              <a:buNone/>
            </a:pPr>
            <a:r>
              <a:rPr lang="en-US" sz="1250" dirty="0">
                <a:solidFill>
                  <a:srgbClr val="C7DBFF"/>
                </a:solidFill>
                <a:latin typeface="Calibri" pitchFamily="34" charset="0"/>
                <a:ea typeface="Calibri" pitchFamily="34" charset="-122"/>
                <a:cs typeface="Calibri" pitchFamily="34" charset="-120"/>
              </a:rPr>
              <a:t>share out free space, and stop repeating yourself</a:t>
            </a:r>
            <a:endParaRPr lang="en-US" sz="1250" dirty="0"/>
          </a:p>
        </p:txBody>
      </p:sp>
      <p:sp>
        <p:nvSpPr>
          <p:cNvPr id="21" name="Shape 16"/>
          <p:cNvSpPr/>
          <p:nvPr/>
        </p:nvSpPr>
        <p:spPr>
          <a:xfrm>
            <a:off x="6446520" y="33375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22" name="Shape 17"/>
          <p:cNvSpPr/>
          <p:nvPr/>
        </p:nvSpPr>
        <p:spPr>
          <a:xfrm>
            <a:off x="6675120" y="3657600"/>
            <a:ext cx="594360" cy="594360"/>
          </a:xfrm>
          <a:prstGeom prst="ellipse">
            <a:avLst/>
          </a:prstGeom>
          <a:solidFill>
            <a:srgbClr val="2563EB"/>
          </a:solidFill>
          <a:ln/>
        </p:spPr>
      </p:sp>
      <p:pic>
        <p:nvPicPr>
          <p:cNvPr id="23" name="Image 3" descr="preencoded.png">    </p:cNvPr>
          <p:cNvPicPr>
            <a:picLocks noChangeAspect="1"/>
          </p:cNvPicPr>
          <p:nvPr/>
        </p:nvPicPr>
        <p:blipFill>
          <a:blip r:embed="rId4"/>
          <a:stretch>
            <a:fillRect/>
          </a:stretch>
        </p:blipFill>
        <p:spPr>
          <a:xfrm>
            <a:off x="6829654" y="3812134"/>
            <a:ext cx="285293" cy="285293"/>
          </a:xfrm>
          <a:prstGeom prst="rect">
            <a:avLst/>
          </a:prstGeom>
        </p:spPr>
      </p:pic>
      <p:sp>
        <p:nvSpPr>
          <p:cNvPr id="24" name="Text 18"/>
          <p:cNvSpPr/>
          <p:nvPr/>
        </p:nvSpPr>
        <p:spPr>
          <a:xfrm>
            <a:off x="7452360" y="3502152"/>
            <a:ext cx="420624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ourier New" pitchFamily="34" charset="0"/>
                <a:ea typeface="Courier New" pitchFamily="34" charset="-122"/>
                <a:cs typeface="Courier New" pitchFamily="34" charset="-120"/>
              </a:rPr>
              <a:t>gap</a:t>
            </a:r>
            <a:endParaRPr lang="en-US" sz="1300" dirty="0"/>
          </a:p>
        </p:txBody>
      </p:sp>
      <p:sp>
        <p:nvSpPr>
          <p:cNvPr id="25" name="Text 19"/>
          <p:cNvSpPr/>
          <p:nvPr/>
        </p:nvSpPr>
        <p:spPr>
          <a:xfrm>
            <a:off x="7452360" y="3904488"/>
            <a:ext cx="4206240" cy="594360"/>
          </a:xfrm>
          <a:prstGeom prst="rect">
            <a:avLst/>
          </a:prstGeom>
          <a:noFill/>
          <a:ln/>
        </p:spPr>
        <p:txBody>
          <a:bodyPr wrap="square" lIns="0" tIns="0" rIns="0" bIns="0" rtlCol="0" anchor="t"/>
          <a:lstStyle/>
          <a:p>
            <a:pPr algn="l" indent="0" marL="0">
              <a:buNone/>
            </a:pPr>
            <a:r>
              <a:rPr lang="en-US" sz="1250" dirty="0">
                <a:solidFill>
                  <a:srgbClr val="C7DBFF"/>
                </a:solidFill>
                <a:latin typeface="Calibri" pitchFamily="34" charset="0"/>
                <a:ea typeface="Calibri" pitchFamily="34" charset="-122"/>
                <a:cs typeface="Calibri" pitchFamily="34" charset="-120"/>
              </a:rPr>
              <a:t>row-gap, column-gap, or both in one property</a:t>
            </a:r>
            <a:endParaRPr lang="en-US" sz="1250" dirty="0"/>
          </a:p>
        </p:txBody>
      </p:sp>
      <p:sp>
        <p:nvSpPr>
          <p:cNvPr id="26" name="Shape 20"/>
          <p:cNvSpPr/>
          <p:nvPr/>
        </p:nvSpPr>
        <p:spPr>
          <a:xfrm>
            <a:off x="777240" y="47091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27" name="Shape 21"/>
          <p:cNvSpPr/>
          <p:nvPr/>
        </p:nvSpPr>
        <p:spPr>
          <a:xfrm>
            <a:off x="1005840" y="5029200"/>
            <a:ext cx="594360" cy="594360"/>
          </a:xfrm>
          <a:prstGeom prst="ellipse">
            <a:avLst/>
          </a:prstGeom>
          <a:solidFill>
            <a:srgbClr val="2563EB"/>
          </a:solidFill>
          <a:ln/>
        </p:spPr>
      </p:sp>
      <p:pic>
        <p:nvPicPr>
          <p:cNvPr id="28" name="Image 4" descr="preencoded.png">    </p:cNvPr>
          <p:cNvPicPr>
            <a:picLocks noChangeAspect="1"/>
          </p:cNvPicPr>
          <p:nvPr/>
        </p:nvPicPr>
        <p:blipFill>
          <a:blip r:embed="rId5"/>
          <a:stretch>
            <a:fillRect/>
          </a:stretch>
        </p:blipFill>
        <p:spPr>
          <a:xfrm>
            <a:off x="1160374" y="5183734"/>
            <a:ext cx="285293" cy="285293"/>
          </a:xfrm>
          <a:prstGeom prst="rect">
            <a:avLst/>
          </a:prstGeom>
        </p:spPr>
      </p:pic>
      <p:sp>
        <p:nvSpPr>
          <p:cNvPr id="29" name="Text 22"/>
          <p:cNvSpPr/>
          <p:nvPr/>
        </p:nvSpPr>
        <p:spPr>
          <a:xfrm>
            <a:off x="1783080" y="4873752"/>
            <a:ext cx="420624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ourier New" pitchFamily="34" charset="0"/>
                <a:ea typeface="Courier New" pitchFamily="34" charset="-122"/>
                <a:cs typeface="Courier New" pitchFamily="34" charset="-120"/>
              </a:rPr>
              <a:t>grid-row / grid-column / span</a:t>
            </a:r>
            <a:endParaRPr lang="en-US" sz="1300" dirty="0"/>
          </a:p>
        </p:txBody>
      </p:sp>
      <p:sp>
        <p:nvSpPr>
          <p:cNvPr id="30" name="Text 23"/>
          <p:cNvSpPr/>
          <p:nvPr/>
        </p:nvSpPr>
        <p:spPr>
          <a:xfrm>
            <a:off x="1783080" y="5276088"/>
            <a:ext cx="4206240" cy="594360"/>
          </a:xfrm>
          <a:prstGeom prst="rect">
            <a:avLst/>
          </a:prstGeom>
          <a:noFill/>
          <a:ln/>
        </p:spPr>
        <p:txBody>
          <a:bodyPr wrap="square" lIns="0" tIns="0" rIns="0" bIns="0" rtlCol="0" anchor="t"/>
          <a:lstStyle/>
          <a:p>
            <a:pPr algn="l" indent="0" marL="0">
              <a:buNone/>
            </a:pPr>
            <a:r>
              <a:rPr lang="en-US" sz="1250" dirty="0">
                <a:solidFill>
                  <a:srgbClr val="C7DBFF"/>
                </a:solidFill>
                <a:latin typeface="Calibri" pitchFamily="34" charset="0"/>
                <a:ea typeface="Calibri" pitchFamily="34" charset="-122"/>
                <a:cs typeface="Calibri" pitchFamily="34" charset="-120"/>
              </a:rPr>
              <a:t>let one item cover several tracks</a:t>
            </a:r>
            <a:endParaRPr lang="en-US" sz="1250" dirty="0"/>
          </a:p>
        </p:txBody>
      </p:sp>
      <p:sp>
        <p:nvSpPr>
          <p:cNvPr id="31" name="Shape 24"/>
          <p:cNvSpPr/>
          <p:nvPr/>
        </p:nvSpPr>
        <p:spPr>
          <a:xfrm>
            <a:off x="6446520" y="47091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32" name="Shape 25"/>
          <p:cNvSpPr/>
          <p:nvPr/>
        </p:nvSpPr>
        <p:spPr>
          <a:xfrm>
            <a:off x="6675120" y="5029200"/>
            <a:ext cx="594360" cy="594360"/>
          </a:xfrm>
          <a:prstGeom prst="ellipse">
            <a:avLst/>
          </a:prstGeom>
          <a:solidFill>
            <a:srgbClr val="2563EB"/>
          </a:solidFill>
          <a:ln/>
        </p:spPr>
      </p:sp>
      <p:pic>
        <p:nvPicPr>
          <p:cNvPr id="33" name="Image 5" descr="preencoded.png">    </p:cNvPr>
          <p:cNvPicPr>
            <a:picLocks noChangeAspect="1"/>
          </p:cNvPicPr>
          <p:nvPr/>
        </p:nvPicPr>
        <p:blipFill>
          <a:blip r:embed="rId6"/>
          <a:stretch>
            <a:fillRect/>
          </a:stretch>
        </p:blipFill>
        <p:spPr>
          <a:xfrm>
            <a:off x="6829654" y="5183734"/>
            <a:ext cx="285293" cy="285293"/>
          </a:xfrm>
          <a:prstGeom prst="rect">
            <a:avLst/>
          </a:prstGeom>
        </p:spPr>
      </p:pic>
      <p:sp>
        <p:nvSpPr>
          <p:cNvPr id="34" name="Text 26"/>
          <p:cNvSpPr/>
          <p:nvPr/>
        </p:nvSpPr>
        <p:spPr>
          <a:xfrm>
            <a:off x="7452360" y="4873752"/>
            <a:ext cx="420624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ourier New" pitchFamily="34" charset="0"/>
                <a:ea typeface="Courier New" pitchFamily="34" charset="-122"/>
                <a:cs typeface="Courier New" pitchFamily="34" charset="-120"/>
              </a:rPr>
              <a:t>grid-template-areas</a:t>
            </a:r>
            <a:endParaRPr lang="en-US" sz="1300" dirty="0"/>
          </a:p>
        </p:txBody>
      </p:sp>
      <p:sp>
        <p:nvSpPr>
          <p:cNvPr id="35" name="Text 27"/>
          <p:cNvSpPr/>
          <p:nvPr/>
        </p:nvSpPr>
        <p:spPr>
          <a:xfrm>
            <a:off x="7452360" y="5276088"/>
            <a:ext cx="4206240" cy="594360"/>
          </a:xfrm>
          <a:prstGeom prst="rect">
            <a:avLst/>
          </a:prstGeom>
          <a:noFill/>
          <a:ln/>
        </p:spPr>
        <p:txBody>
          <a:bodyPr wrap="square" lIns="0" tIns="0" rIns="0" bIns="0" rtlCol="0" anchor="t"/>
          <a:lstStyle/>
          <a:p>
            <a:pPr algn="l" indent="0" marL="0">
              <a:buNone/>
            </a:pPr>
            <a:r>
              <a:rPr lang="en-US" sz="1250" dirty="0">
                <a:solidFill>
                  <a:srgbClr val="C7DBFF"/>
                </a:solidFill>
                <a:latin typeface="Calibri" pitchFamily="34" charset="0"/>
                <a:ea typeface="Calibri" pitchFamily="34" charset="-122"/>
                <a:cs typeface="Calibri" pitchFamily="34" charset="-120"/>
              </a:rPr>
              <a:t>name the regions and draw the layout as a map</a:t>
            </a:r>
            <a:endParaRPr lang="en-US" sz="1250" dirty="0"/>
          </a:p>
        </p:txBody>
      </p:sp>
      <p:sp>
        <p:nvSpPr>
          <p:cNvPr id="36" name="Text 28"/>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1371600" y="3840480"/>
            <a:ext cx="4206240" cy="4206240"/>
          </a:xfrm>
          <a:prstGeom prst="ellipse">
            <a:avLst/>
          </a:prstGeom>
          <a:solidFill>
            <a:srgbClr val="1B2A4A"/>
          </a:solidFill>
          <a:ln/>
        </p:spPr>
      </p:sp>
      <p:sp>
        <p:nvSpPr>
          <p:cNvPr id="3" name="Shape 1"/>
          <p:cNvSpPr/>
          <p:nvPr/>
        </p:nvSpPr>
        <p:spPr>
          <a:xfrm>
            <a:off x="5623560" y="1371600"/>
            <a:ext cx="1188720" cy="118872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932627" y="1680667"/>
            <a:ext cx="570586" cy="570586"/>
          </a:xfrm>
          <a:prstGeom prst="rect">
            <a:avLst/>
          </a:prstGeom>
        </p:spPr>
      </p:pic>
      <p:sp>
        <p:nvSpPr>
          <p:cNvPr id="5" name="Text 2"/>
          <p:cNvSpPr/>
          <p:nvPr/>
        </p:nvSpPr>
        <p:spPr>
          <a:xfrm>
            <a:off x="914400" y="274320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Questions and doubts</a:t>
            </a:r>
            <a:endParaRPr lang="en-US" sz="4000" dirty="0"/>
          </a:p>
        </p:txBody>
      </p:sp>
      <p:sp>
        <p:nvSpPr>
          <p:cNvPr id="6" name="Text 3"/>
          <p:cNvSpPr/>
          <p:nvPr/>
        </p:nvSpPr>
        <p:spPr>
          <a:xfrm>
            <a:off x="1371600" y="3566160"/>
            <a:ext cx="9445752" cy="54864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Practice: rebuild today's page layout from memory using only grid-template-areas.</a:t>
            </a:r>
            <a:endParaRPr lang="en-US" sz="1600" dirty="0"/>
          </a:p>
        </p:txBody>
      </p:sp>
      <p:sp>
        <p:nvSpPr>
          <p:cNvPr id="7" name="Shape 4"/>
          <p:cNvSpPr/>
          <p:nvPr/>
        </p:nvSpPr>
        <p:spPr>
          <a:xfrm>
            <a:off x="3931920" y="4480560"/>
            <a:ext cx="4325112" cy="1005840"/>
          </a:xfrm>
          <a:prstGeom prst="roundRect">
            <a:avLst>
              <a:gd name="adj" fmla="val 10909"/>
            </a:avLst>
          </a:prstGeom>
          <a:solidFill>
            <a:srgbClr val="1B2A4A"/>
          </a:solidFill>
          <a:ln/>
          <a:effectLst>
            <a:outerShdw sx="100000" sy="100000" kx="0" ky="0" algn="bl" rotWithShape="0" blurRad="101600" dist="38100" dir="5400000">
              <a:srgbClr val="0B1220">
                <a:alpha val="18000"/>
              </a:srgbClr>
            </a:outerShdw>
          </a:effectLst>
        </p:spPr>
      </p:sp>
      <p:sp>
        <p:nvSpPr>
          <p:cNvPr id="8" name="Text 5"/>
          <p:cNvSpPr/>
          <p:nvPr/>
        </p:nvSpPr>
        <p:spPr>
          <a:xfrm>
            <a:off x="4114800" y="4480560"/>
            <a:ext cx="4023360" cy="1005840"/>
          </a:xfrm>
          <a:prstGeom prst="rect">
            <a:avLst/>
          </a:prstGeom>
          <a:noFill/>
          <a:ln/>
        </p:spPr>
        <p:txBody>
          <a:bodyPr wrap="square" lIns="0" tIns="0" rIns="0" bIns="0" rtlCol="0" anchor="ctr"/>
          <a:lstStyle/>
          <a:p>
            <a:pPr algn="l" indent="0" marL="0">
              <a:buNone/>
            </a:pPr>
            <a:r>
              <a:rPr lang="en-US" sz="1300" b="1" dirty="0">
                <a:solidFill>
                  <a:srgbClr val="F59E0B"/>
                </a:solidFill>
                <a:latin typeface="Calibri" pitchFamily="34" charset="0"/>
                <a:ea typeface="Calibri" pitchFamily="34" charset="-122"/>
                <a:cs typeface="Calibri" pitchFamily="34" charset="-120"/>
              </a:rPr>
              <a:t>Try also   </a:t>
            </a:r>
            <a:pPr algn="l" indent="0" marL="0">
              <a:buNone/>
            </a:pPr>
            <a:r>
              <a:rPr lang="en-US" sz="1400" dirty="0">
                <a:solidFill>
                  <a:srgbClr val="FFFFFF"/>
                </a:solidFill>
                <a:latin typeface="Calibri" pitchFamily="34" charset="0"/>
                <a:ea typeface="Calibri" pitchFamily="34" charset="-122"/>
                <a:cs typeface="Calibri" pitchFamily="34" charset="-120"/>
              </a:rPr>
              <a:t>cssgridgarden.com for practice</a:t>
            </a:r>
            <a:endParaRPr lang="en-US" sz="1300" dirty="0"/>
          </a:p>
        </p:txBody>
      </p:sp>
      <p:sp>
        <p:nvSpPr>
          <p:cNvPr id="9" name="Text 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2026-08-27T13:16:46Z</dcterms:created>
  <dcterms:modified xsi:type="dcterms:W3CDTF">2026-08-27T13:16:46Z</dcterms:modified>
</cp:coreProperties>
</file>
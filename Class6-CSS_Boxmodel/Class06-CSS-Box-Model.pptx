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8869680" y="-1920240"/>
            <a:ext cx="5669280" cy="5669280"/>
          </a:xfrm>
          <a:prstGeom prst="ellipse">
            <a:avLst/>
          </a:prstGeom>
          <a:solidFill>
            <a:srgbClr val="1B2A4A"/>
          </a:solidFill>
          <a:ln/>
        </p:spPr>
      </p:sp>
      <p:sp>
        <p:nvSpPr>
          <p:cNvPr id="3" name="Shape 1"/>
          <p:cNvSpPr/>
          <p:nvPr/>
        </p:nvSpPr>
        <p:spPr>
          <a:xfrm>
            <a:off x="10881360" y="4023360"/>
            <a:ext cx="3291840" cy="3291840"/>
          </a:xfrm>
          <a:prstGeom prst="ellipse">
            <a:avLst/>
          </a:prstGeom>
          <a:solidFill>
            <a:srgbClr val="2563EB"/>
          </a:solidFill>
          <a:ln/>
          <a:effectLst>
            <a:outerShdw sx="100000" sy="100000" kx="0" ky="0" algn="bl" rotWithShape="0" blurRad="304800" dist="38100" dir="5400000">
              <a:srgbClr val="0B1220">
                <a:alpha val="35000"/>
              </a:srgbClr>
            </a:outerShdw>
          </a:effectLst>
        </p:spPr>
      </p:sp>
      <p:sp>
        <p:nvSpPr>
          <p:cNvPr id="4" name="Shape 2"/>
          <p:cNvSpPr/>
          <p:nvPr/>
        </p:nvSpPr>
        <p:spPr>
          <a:xfrm>
            <a:off x="822960" y="960120"/>
            <a:ext cx="3291840" cy="310896"/>
          </a:xfrm>
          <a:prstGeom prst="roundRect">
            <a:avLst>
              <a:gd name="adj" fmla="val 50000"/>
            </a:avLst>
          </a:prstGeom>
          <a:solidFill>
            <a:srgbClr val="2563EB"/>
          </a:solidFill>
          <a:ln/>
        </p:spPr>
      </p:sp>
      <p:sp>
        <p:nvSpPr>
          <p:cNvPr id="5" name="Text 3"/>
          <p:cNvSpPr/>
          <p:nvPr/>
        </p:nvSpPr>
        <p:spPr>
          <a:xfrm>
            <a:off x="822960" y="960120"/>
            <a:ext cx="32918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WEB DEVELOPMENT  -  CLASS 04</a:t>
            </a:r>
            <a:endParaRPr lang="en-US" sz="1100" dirty="0"/>
          </a:p>
        </p:txBody>
      </p:sp>
      <p:sp>
        <p:nvSpPr>
          <p:cNvPr id="6" name="Text 4"/>
          <p:cNvSpPr/>
          <p:nvPr/>
        </p:nvSpPr>
        <p:spPr>
          <a:xfrm>
            <a:off x="777240" y="1554480"/>
            <a:ext cx="9601200" cy="1005840"/>
          </a:xfrm>
          <a:prstGeom prst="rect">
            <a:avLst/>
          </a:prstGeom>
          <a:noFill/>
          <a:ln/>
        </p:spPr>
        <p:txBody>
          <a:bodyPr wrap="square" lIns="0" tIns="0" rIns="0" bIns="0" rtlCol="0" anchor="ctr"/>
          <a:lstStyle/>
          <a:p>
            <a:pPr algn="l" indent="0" marL="0">
              <a:buNone/>
            </a:pPr>
            <a:r>
              <a:rPr lang="en-US" sz="5400" b="1" dirty="0">
                <a:solidFill>
                  <a:srgbClr val="FFFFFF"/>
                </a:solidFill>
                <a:latin typeface="Calibri" pitchFamily="34" charset="0"/>
                <a:ea typeface="Calibri" pitchFamily="34" charset="-122"/>
                <a:cs typeface="Calibri" pitchFamily="34" charset="-120"/>
              </a:rPr>
              <a:t>The CSS Box Model</a:t>
            </a:r>
            <a:endParaRPr lang="en-US" sz="5400" dirty="0"/>
          </a:p>
        </p:txBody>
      </p:sp>
      <p:sp>
        <p:nvSpPr>
          <p:cNvPr id="7" name="Text 5"/>
          <p:cNvSpPr/>
          <p:nvPr/>
        </p:nvSpPr>
        <p:spPr>
          <a:xfrm>
            <a:off x="822960" y="2606040"/>
            <a:ext cx="9601200" cy="731520"/>
          </a:xfrm>
          <a:prstGeom prst="rect">
            <a:avLst/>
          </a:prstGeom>
          <a:noFill/>
          <a:ln/>
        </p:spPr>
        <p:txBody>
          <a:bodyPr wrap="square" lIns="0" tIns="0" rIns="0" bIns="0" rtlCol="0" anchor="ctr"/>
          <a:lstStyle/>
          <a:p>
            <a:pPr algn="l" indent="0" marL="0">
              <a:buNone/>
            </a:pPr>
            <a:r>
              <a:rPr lang="en-US" sz="3000" dirty="0">
                <a:solidFill>
                  <a:srgbClr val="C7DBFF"/>
                </a:solidFill>
                <a:latin typeface="Calibri" pitchFamily="34" charset="0"/>
                <a:ea typeface="Calibri" pitchFamily="34" charset="-122"/>
                <a:cs typeface="Calibri" pitchFamily="34" charset="-120"/>
              </a:rPr>
              <a:t>Display, Overflow and CSS Units</a:t>
            </a:r>
            <a:endParaRPr lang="en-US" sz="3000" dirty="0"/>
          </a:p>
        </p:txBody>
      </p:sp>
      <p:sp>
        <p:nvSpPr>
          <p:cNvPr id="8" name="Text 6"/>
          <p:cNvSpPr/>
          <p:nvPr/>
        </p:nvSpPr>
        <p:spPr>
          <a:xfrm>
            <a:off x="822960" y="3611880"/>
            <a:ext cx="8686800" cy="457200"/>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Every single thing on a web page is a box.  </a:t>
            </a:r>
            <a:pPr algn="l" indent="0" marL="0">
              <a:buNone/>
            </a:pPr>
            <a:r>
              <a:rPr lang="en-US" sz="1600" i="1" dirty="0">
                <a:solidFill>
                  <a:srgbClr val="94A3B8"/>
                </a:solidFill>
                <a:latin typeface="Calibri" pitchFamily="34" charset="0"/>
                <a:ea typeface="Calibri" pitchFamily="34" charset="-122"/>
                <a:cs typeface="Calibri" pitchFamily="34" charset="-120"/>
              </a:rPr>
              <a:t>Today we learn to control every one of them.</a:t>
            </a:r>
            <a:endParaRPr lang="en-US" sz="1600" dirty="0"/>
          </a:p>
        </p:txBody>
      </p:sp>
      <p:sp>
        <p:nvSpPr>
          <p:cNvPr id="9" name="Shape 7"/>
          <p:cNvSpPr/>
          <p:nvPr/>
        </p:nvSpPr>
        <p:spPr>
          <a:xfrm>
            <a:off x="822960" y="4892040"/>
            <a:ext cx="822960" cy="82296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36930" y="5106010"/>
            <a:ext cx="395021" cy="395021"/>
          </a:xfrm>
          <a:prstGeom prst="rect">
            <a:avLst/>
          </a:prstGeom>
        </p:spPr>
      </p:pic>
      <p:sp>
        <p:nvSpPr>
          <p:cNvPr id="11" name="Text 8"/>
          <p:cNvSpPr/>
          <p:nvPr/>
        </p:nvSpPr>
        <p:spPr>
          <a:xfrm>
            <a:off x="1783080" y="4892040"/>
            <a:ext cx="7315200" cy="822960"/>
          </a:xfrm>
          <a:prstGeom prst="rect">
            <a:avLst/>
          </a:prstGeom>
          <a:noFill/>
          <a:ln/>
        </p:spPr>
        <p:txBody>
          <a:bodyPr wrap="square" lIns="0" tIns="0" rIns="0" bIns="0" rtlCol="0" anchor="ctr"/>
          <a:lstStyle/>
          <a:p>
            <a:pPr algn="l" indent="0" marL="0">
              <a:buNone/>
            </a:pPr>
            <a:r>
              <a:rPr lang="en-US" sz="1500" dirty="0">
                <a:solidFill>
                  <a:srgbClr val="C7DBFF"/>
                </a:solidFill>
                <a:latin typeface="Calibri" pitchFamily="34" charset="0"/>
                <a:ea typeface="Calibri" pitchFamily="34" charset="-122"/>
                <a:cs typeface="Calibri" pitchFamily="34" charset="-120"/>
              </a:rPr>
              <a:t>180 minute session  -  four breaks built in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ROADMAP</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Today's agenda</a:t>
            </a:r>
            <a:endParaRPr lang="en-US" sz="3400" dirty="0"/>
          </a:p>
        </p:txBody>
      </p:sp>
      <p:sp>
        <p:nvSpPr>
          <p:cNvPr id="5" name="Shape 3"/>
          <p:cNvSpPr/>
          <p:nvPr/>
        </p:nvSpPr>
        <p:spPr>
          <a:xfrm>
            <a:off x="548640" y="1783080"/>
            <a:ext cx="2121408" cy="2514600"/>
          </a:xfrm>
          <a:prstGeom prst="roundRect">
            <a:avLst>
              <a:gd name="adj" fmla="val 5172"/>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1225296" y="2103120"/>
            <a:ext cx="768096" cy="768096"/>
          </a:xfrm>
          <a:prstGeom prst="ellipse">
            <a:avLst/>
          </a:prstGeom>
          <a:solidFill>
            <a:srgbClr val="E5EEFF"/>
          </a:solidFill>
          <a:ln/>
        </p:spPr>
      </p:sp>
      <p:pic>
        <p:nvPicPr>
          <p:cNvPr id="7" name="Image 0" descr="preencoded.png">    </p:cNvPr>
          <p:cNvPicPr>
            <a:picLocks noChangeAspect="1"/>
          </p:cNvPicPr>
          <p:nvPr/>
        </p:nvPicPr>
        <p:blipFill>
          <a:blip r:embed="rId1"/>
          <a:stretch>
            <a:fillRect/>
          </a:stretch>
        </p:blipFill>
        <p:spPr>
          <a:xfrm>
            <a:off x="1425001" y="2302825"/>
            <a:ext cx="368686" cy="368686"/>
          </a:xfrm>
          <a:prstGeom prst="rect">
            <a:avLst/>
          </a:prstGeom>
        </p:spPr>
      </p:pic>
      <p:sp>
        <p:nvSpPr>
          <p:cNvPr id="8" name="Text 5"/>
          <p:cNvSpPr/>
          <p:nvPr/>
        </p:nvSpPr>
        <p:spPr>
          <a:xfrm>
            <a:off x="731520" y="1965960"/>
            <a:ext cx="731520" cy="274320"/>
          </a:xfrm>
          <a:prstGeom prst="rect">
            <a:avLst/>
          </a:prstGeom>
          <a:noFill/>
          <a:ln/>
        </p:spPr>
        <p:txBody>
          <a:bodyPr wrap="square" lIns="0" tIns="0" rIns="0" bIns="0" rtlCol="0" anchor="ctr"/>
          <a:lstStyle/>
          <a:p>
            <a:pPr algn="l" indent="0" marL="0">
              <a:buNone/>
            </a:pPr>
            <a:r>
              <a:rPr lang="en-US" sz="1300" b="1" dirty="0">
                <a:solidFill>
                  <a:srgbClr val="94A3B8"/>
                </a:solidFill>
                <a:latin typeface="Calibri" pitchFamily="34" charset="0"/>
                <a:ea typeface="Calibri" pitchFamily="34" charset="-122"/>
                <a:cs typeface="Calibri" pitchFamily="34" charset="-120"/>
              </a:rPr>
              <a:t>01</a:t>
            </a:r>
            <a:endParaRPr lang="en-US" sz="1300" dirty="0"/>
          </a:p>
        </p:txBody>
      </p:sp>
      <p:sp>
        <p:nvSpPr>
          <p:cNvPr id="9" name="Text 6"/>
          <p:cNvSpPr/>
          <p:nvPr/>
        </p:nvSpPr>
        <p:spPr>
          <a:xfrm>
            <a:off x="640080" y="3017520"/>
            <a:ext cx="1938528" cy="457200"/>
          </a:xfrm>
          <a:prstGeom prst="rect">
            <a:avLst/>
          </a:prstGeom>
          <a:noFill/>
          <a:ln/>
        </p:spPr>
        <p:txBody>
          <a:bodyPr wrap="square" lIns="0" tIns="0" rIns="0" bIns="0" rtlCol="0" anchor="ctr"/>
          <a:lstStyle/>
          <a:p>
            <a:pPr algn="ctr" indent="0" marL="0">
              <a:buNone/>
            </a:pPr>
            <a:r>
              <a:rPr lang="en-US" sz="1700" b="1" dirty="0">
                <a:solidFill>
                  <a:srgbClr val="0F172A"/>
                </a:solidFill>
                <a:latin typeface="Calibri" pitchFamily="34" charset="0"/>
                <a:ea typeface="Calibri" pitchFamily="34" charset="-122"/>
                <a:cs typeface="Calibri" pitchFamily="34" charset="-120"/>
              </a:rPr>
              <a:t>Box Model</a:t>
            </a:r>
            <a:endParaRPr lang="en-US" sz="1700" dirty="0"/>
          </a:p>
        </p:txBody>
      </p:sp>
      <p:sp>
        <p:nvSpPr>
          <p:cNvPr id="10" name="Text 7"/>
          <p:cNvSpPr/>
          <p:nvPr/>
        </p:nvSpPr>
        <p:spPr>
          <a:xfrm>
            <a:off x="685800" y="3474720"/>
            <a:ext cx="1847088" cy="73152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content, padding, border, margin</a:t>
            </a:r>
            <a:endParaRPr lang="en-US" sz="1200" dirty="0"/>
          </a:p>
        </p:txBody>
      </p:sp>
      <p:sp>
        <p:nvSpPr>
          <p:cNvPr id="11" name="Shape 8"/>
          <p:cNvSpPr/>
          <p:nvPr/>
        </p:nvSpPr>
        <p:spPr>
          <a:xfrm>
            <a:off x="2843784" y="1783080"/>
            <a:ext cx="2121408" cy="2514600"/>
          </a:xfrm>
          <a:prstGeom prst="roundRect">
            <a:avLst>
              <a:gd name="adj" fmla="val 5172"/>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2" name="Shape 9"/>
          <p:cNvSpPr/>
          <p:nvPr/>
        </p:nvSpPr>
        <p:spPr>
          <a:xfrm>
            <a:off x="3520440" y="2103120"/>
            <a:ext cx="768096" cy="768096"/>
          </a:xfrm>
          <a:prstGeom prst="ellipse">
            <a:avLst/>
          </a:prstGeom>
          <a:solidFill>
            <a:srgbClr val="E5EEFF"/>
          </a:solidFill>
          <a:ln/>
        </p:spPr>
      </p:sp>
      <p:pic>
        <p:nvPicPr>
          <p:cNvPr id="13" name="Image 1" descr="preencoded.png">    </p:cNvPr>
          <p:cNvPicPr>
            <a:picLocks noChangeAspect="1"/>
          </p:cNvPicPr>
          <p:nvPr/>
        </p:nvPicPr>
        <p:blipFill>
          <a:blip r:embed="rId2"/>
          <a:stretch>
            <a:fillRect/>
          </a:stretch>
        </p:blipFill>
        <p:spPr>
          <a:xfrm>
            <a:off x="3720145" y="2302825"/>
            <a:ext cx="368686" cy="368686"/>
          </a:xfrm>
          <a:prstGeom prst="rect">
            <a:avLst/>
          </a:prstGeom>
        </p:spPr>
      </p:pic>
      <p:sp>
        <p:nvSpPr>
          <p:cNvPr id="14" name="Text 10"/>
          <p:cNvSpPr/>
          <p:nvPr/>
        </p:nvSpPr>
        <p:spPr>
          <a:xfrm>
            <a:off x="3026664" y="1965960"/>
            <a:ext cx="731520" cy="274320"/>
          </a:xfrm>
          <a:prstGeom prst="rect">
            <a:avLst/>
          </a:prstGeom>
          <a:noFill/>
          <a:ln/>
        </p:spPr>
        <p:txBody>
          <a:bodyPr wrap="square" lIns="0" tIns="0" rIns="0" bIns="0" rtlCol="0" anchor="ctr"/>
          <a:lstStyle/>
          <a:p>
            <a:pPr algn="l" indent="0" marL="0">
              <a:buNone/>
            </a:pPr>
            <a:r>
              <a:rPr lang="en-US" sz="1300" b="1" dirty="0">
                <a:solidFill>
                  <a:srgbClr val="94A3B8"/>
                </a:solidFill>
                <a:latin typeface="Calibri" pitchFamily="34" charset="0"/>
                <a:ea typeface="Calibri" pitchFamily="34" charset="-122"/>
                <a:cs typeface="Calibri" pitchFamily="34" charset="-120"/>
              </a:rPr>
              <a:t>02</a:t>
            </a:r>
            <a:endParaRPr lang="en-US" sz="1300" dirty="0"/>
          </a:p>
        </p:txBody>
      </p:sp>
      <p:sp>
        <p:nvSpPr>
          <p:cNvPr id="15" name="Text 11"/>
          <p:cNvSpPr/>
          <p:nvPr/>
        </p:nvSpPr>
        <p:spPr>
          <a:xfrm>
            <a:off x="2935224" y="3017520"/>
            <a:ext cx="1938528" cy="457200"/>
          </a:xfrm>
          <a:prstGeom prst="rect">
            <a:avLst/>
          </a:prstGeom>
          <a:noFill/>
          <a:ln/>
        </p:spPr>
        <p:txBody>
          <a:bodyPr wrap="square" lIns="0" tIns="0" rIns="0" bIns="0" rtlCol="0" anchor="ctr"/>
          <a:lstStyle/>
          <a:p>
            <a:pPr algn="ctr" indent="0" marL="0">
              <a:buNone/>
            </a:pPr>
            <a:r>
              <a:rPr lang="en-US" sz="1700" b="1" dirty="0">
                <a:solidFill>
                  <a:srgbClr val="0F172A"/>
                </a:solidFill>
                <a:latin typeface="Calibri" pitchFamily="34" charset="0"/>
                <a:ea typeface="Calibri" pitchFamily="34" charset="-122"/>
                <a:cs typeface="Calibri" pitchFamily="34" charset="-120"/>
              </a:rPr>
              <a:t>Box Sizing</a:t>
            </a:r>
            <a:endParaRPr lang="en-US" sz="1700" dirty="0"/>
          </a:p>
        </p:txBody>
      </p:sp>
      <p:sp>
        <p:nvSpPr>
          <p:cNvPr id="16" name="Text 12"/>
          <p:cNvSpPr/>
          <p:nvPr/>
        </p:nvSpPr>
        <p:spPr>
          <a:xfrm>
            <a:off x="2980944" y="3474720"/>
            <a:ext cx="1847088" cy="73152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content-box vs border-box</a:t>
            </a:r>
            <a:endParaRPr lang="en-US" sz="1200" dirty="0"/>
          </a:p>
        </p:txBody>
      </p:sp>
      <p:sp>
        <p:nvSpPr>
          <p:cNvPr id="17" name="Shape 13"/>
          <p:cNvSpPr/>
          <p:nvPr/>
        </p:nvSpPr>
        <p:spPr>
          <a:xfrm>
            <a:off x="5138928" y="1783080"/>
            <a:ext cx="2121408" cy="2514600"/>
          </a:xfrm>
          <a:prstGeom prst="roundRect">
            <a:avLst>
              <a:gd name="adj" fmla="val 5172"/>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8" name="Shape 14"/>
          <p:cNvSpPr/>
          <p:nvPr/>
        </p:nvSpPr>
        <p:spPr>
          <a:xfrm>
            <a:off x="5815584" y="2103120"/>
            <a:ext cx="768096" cy="768096"/>
          </a:xfrm>
          <a:prstGeom prst="ellipse">
            <a:avLst/>
          </a:prstGeom>
          <a:solidFill>
            <a:srgbClr val="E5EEFF"/>
          </a:solidFill>
          <a:ln/>
        </p:spPr>
      </p:sp>
      <p:pic>
        <p:nvPicPr>
          <p:cNvPr id="19" name="Image 2" descr="preencoded.png">    </p:cNvPr>
          <p:cNvPicPr>
            <a:picLocks noChangeAspect="1"/>
          </p:cNvPicPr>
          <p:nvPr/>
        </p:nvPicPr>
        <p:blipFill>
          <a:blip r:embed="rId3"/>
          <a:stretch>
            <a:fillRect/>
          </a:stretch>
        </p:blipFill>
        <p:spPr>
          <a:xfrm>
            <a:off x="6015289" y="2302825"/>
            <a:ext cx="368686" cy="368686"/>
          </a:xfrm>
          <a:prstGeom prst="rect">
            <a:avLst/>
          </a:prstGeom>
        </p:spPr>
      </p:pic>
      <p:sp>
        <p:nvSpPr>
          <p:cNvPr id="20" name="Text 15"/>
          <p:cNvSpPr/>
          <p:nvPr/>
        </p:nvSpPr>
        <p:spPr>
          <a:xfrm>
            <a:off x="5321808" y="1965960"/>
            <a:ext cx="731520" cy="274320"/>
          </a:xfrm>
          <a:prstGeom prst="rect">
            <a:avLst/>
          </a:prstGeom>
          <a:noFill/>
          <a:ln/>
        </p:spPr>
        <p:txBody>
          <a:bodyPr wrap="square" lIns="0" tIns="0" rIns="0" bIns="0" rtlCol="0" anchor="ctr"/>
          <a:lstStyle/>
          <a:p>
            <a:pPr algn="l" indent="0" marL="0">
              <a:buNone/>
            </a:pPr>
            <a:r>
              <a:rPr lang="en-US" sz="1300" b="1" dirty="0">
                <a:solidFill>
                  <a:srgbClr val="94A3B8"/>
                </a:solidFill>
                <a:latin typeface="Calibri" pitchFamily="34" charset="0"/>
                <a:ea typeface="Calibri" pitchFamily="34" charset="-122"/>
                <a:cs typeface="Calibri" pitchFamily="34" charset="-120"/>
              </a:rPr>
              <a:t>03</a:t>
            </a:r>
            <a:endParaRPr lang="en-US" sz="1300" dirty="0"/>
          </a:p>
        </p:txBody>
      </p:sp>
      <p:sp>
        <p:nvSpPr>
          <p:cNvPr id="21" name="Text 16"/>
          <p:cNvSpPr/>
          <p:nvPr/>
        </p:nvSpPr>
        <p:spPr>
          <a:xfrm>
            <a:off x="5230368" y="3017520"/>
            <a:ext cx="1938528" cy="457200"/>
          </a:xfrm>
          <a:prstGeom prst="rect">
            <a:avLst/>
          </a:prstGeom>
          <a:noFill/>
          <a:ln/>
        </p:spPr>
        <p:txBody>
          <a:bodyPr wrap="square" lIns="0" tIns="0" rIns="0" bIns="0" rtlCol="0" anchor="ctr"/>
          <a:lstStyle/>
          <a:p>
            <a:pPr algn="ctr" indent="0" marL="0">
              <a:buNone/>
            </a:pPr>
            <a:r>
              <a:rPr lang="en-US" sz="1700" b="1" dirty="0">
                <a:solidFill>
                  <a:srgbClr val="0F172A"/>
                </a:solidFill>
                <a:latin typeface="Calibri" pitchFamily="34" charset="0"/>
                <a:ea typeface="Calibri" pitchFamily="34" charset="-122"/>
                <a:cs typeface="Calibri" pitchFamily="34" charset="-120"/>
              </a:rPr>
              <a:t>Overflow</a:t>
            </a:r>
            <a:endParaRPr lang="en-US" sz="1700" dirty="0"/>
          </a:p>
        </p:txBody>
      </p:sp>
      <p:sp>
        <p:nvSpPr>
          <p:cNvPr id="22" name="Text 17"/>
          <p:cNvSpPr/>
          <p:nvPr/>
        </p:nvSpPr>
        <p:spPr>
          <a:xfrm>
            <a:off x="5276088" y="3474720"/>
            <a:ext cx="1847088" cy="73152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hidden, scroll, auto, visible</a:t>
            </a:r>
            <a:endParaRPr lang="en-US" sz="1200" dirty="0"/>
          </a:p>
        </p:txBody>
      </p:sp>
      <p:sp>
        <p:nvSpPr>
          <p:cNvPr id="23" name="Shape 18"/>
          <p:cNvSpPr/>
          <p:nvPr/>
        </p:nvSpPr>
        <p:spPr>
          <a:xfrm>
            <a:off x="7434072" y="1783080"/>
            <a:ext cx="2121408" cy="2514600"/>
          </a:xfrm>
          <a:prstGeom prst="roundRect">
            <a:avLst>
              <a:gd name="adj" fmla="val 5172"/>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4" name="Shape 19"/>
          <p:cNvSpPr/>
          <p:nvPr/>
        </p:nvSpPr>
        <p:spPr>
          <a:xfrm>
            <a:off x="8110728" y="2103120"/>
            <a:ext cx="768096" cy="768096"/>
          </a:xfrm>
          <a:prstGeom prst="ellipse">
            <a:avLst/>
          </a:prstGeom>
          <a:solidFill>
            <a:srgbClr val="E5EEFF"/>
          </a:solidFill>
          <a:ln/>
        </p:spPr>
      </p:sp>
      <p:pic>
        <p:nvPicPr>
          <p:cNvPr id="25" name="Image 3" descr="preencoded.png">    </p:cNvPr>
          <p:cNvPicPr>
            <a:picLocks noChangeAspect="1"/>
          </p:cNvPicPr>
          <p:nvPr/>
        </p:nvPicPr>
        <p:blipFill>
          <a:blip r:embed="rId4"/>
          <a:stretch>
            <a:fillRect/>
          </a:stretch>
        </p:blipFill>
        <p:spPr>
          <a:xfrm>
            <a:off x="8310433" y="2302825"/>
            <a:ext cx="368686" cy="368686"/>
          </a:xfrm>
          <a:prstGeom prst="rect">
            <a:avLst/>
          </a:prstGeom>
        </p:spPr>
      </p:pic>
      <p:sp>
        <p:nvSpPr>
          <p:cNvPr id="26" name="Text 20"/>
          <p:cNvSpPr/>
          <p:nvPr/>
        </p:nvSpPr>
        <p:spPr>
          <a:xfrm>
            <a:off x="7616952" y="1965960"/>
            <a:ext cx="731520" cy="274320"/>
          </a:xfrm>
          <a:prstGeom prst="rect">
            <a:avLst/>
          </a:prstGeom>
          <a:noFill/>
          <a:ln/>
        </p:spPr>
        <p:txBody>
          <a:bodyPr wrap="square" lIns="0" tIns="0" rIns="0" bIns="0" rtlCol="0" anchor="ctr"/>
          <a:lstStyle/>
          <a:p>
            <a:pPr algn="l" indent="0" marL="0">
              <a:buNone/>
            </a:pPr>
            <a:r>
              <a:rPr lang="en-US" sz="1300" b="1" dirty="0">
                <a:solidFill>
                  <a:srgbClr val="94A3B8"/>
                </a:solidFill>
                <a:latin typeface="Calibri" pitchFamily="34" charset="0"/>
                <a:ea typeface="Calibri" pitchFamily="34" charset="-122"/>
                <a:cs typeface="Calibri" pitchFamily="34" charset="-120"/>
              </a:rPr>
              <a:t>04</a:t>
            </a:r>
            <a:endParaRPr lang="en-US" sz="1300" dirty="0"/>
          </a:p>
        </p:txBody>
      </p:sp>
      <p:sp>
        <p:nvSpPr>
          <p:cNvPr id="27" name="Text 21"/>
          <p:cNvSpPr/>
          <p:nvPr/>
        </p:nvSpPr>
        <p:spPr>
          <a:xfrm>
            <a:off x="7525512" y="3017520"/>
            <a:ext cx="1938528" cy="457200"/>
          </a:xfrm>
          <a:prstGeom prst="rect">
            <a:avLst/>
          </a:prstGeom>
          <a:noFill/>
          <a:ln/>
        </p:spPr>
        <p:txBody>
          <a:bodyPr wrap="square" lIns="0" tIns="0" rIns="0" bIns="0" rtlCol="0" anchor="ctr"/>
          <a:lstStyle/>
          <a:p>
            <a:pPr algn="ctr" indent="0" marL="0">
              <a:buNone/>
            </a:pPr>
            <a:r>
              <a:rPr lang="en-US" sz="1700" b="1" dirty="0">
                <a:solidFill>
                  <a:srgbClr val="0F172A"/>
                </a:solidFill>
                <a:latin typeface="Calibri" pitchFamily="34" charset="0"/>
                <a:ea typeface="Calibri" pitchFamily="34" charset="-122"/>
                <a:cs typeface="Calibri" pitchFamily="34" charset="-120"/>
              </a:rPr>
              <a:t>Display</a:t>
            </a:r>
            <a:endParaRPr lang="en-US" sz="1700" dirty="0"/>
          </a:p>
        </p:txBody>
      </p:sp>
      <p:sp>
        <p:nvSpPr>
          <p:cNvPr id="28" name="Text 22"/>
          <p:cNvSpPr/>
          <p:nvPr/>
        </p:nvSpPr>
        <p:spPr>
          <a:xfrm>
            <a:off x="7571232" y="3474720"/>
            <a:ext cx="1847088" cy="73152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block, inline, inline-block</a:t>
            </a:r>
            <a:endParaRPr lang="en-US" sz="1200" dirty="0"/>
          </a:p>
        </p:txBody>
      </p:sp>
      <p:sp>
        <p:nvSpPr>
          <p:cNvPr id="29" name="Shape 23"/>
          <p:cNvSpPr/>
          <p:nvPr/>
        </p:nvSpPr>
        <p:spPr>
          <a:xfrm>
            <a:off x="9729216" y="1783080"/>
            <a:ext cx="2121408" cy="2514600"/>
          </a:xfrm>
          <a:prstGeom prst="roundRect">
            <a:avLst>
              <a:gd name="adj" fmla="val 5172"/>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30" name="Shape 24"/>
          <p:cNvSpPr/>
          <p:nvPr/>
        </p:nvSpPr>
        <p:spPr>
          <a:xfrm>
            <a:off x="10405872" y="2103120"/>
            <a:ext cx="768096" cy="768096"/>
          </a:xfrm>
          <a:prstGeom prst="ellipse">
            <a:avLst/>
          </a:prstGeom>
          <a:solidFill>
            <a:srgbClr val="E5EEFF"/>
          </a:solidFill>
          <a:ln/>
        </p:spPr>
      </p:sp>
      <p:pic>
        <p:nvPicPr>
          <p:cNvPr id="31" name="Image 4" descr="preencoded.png">    </p:cNvPr>
          <p:cNvPicPr>
            <a:picLocks noChangeAspect="1"/>
          </p:cNvPicPr>
          <p:nvPr/>
        </p:nvPicPr>
        <p:blipFill>
          <a:blip r:embed="rId5"/>
          <a:stretch>
            <a:fillRect/>
          </a:stretch>
        </p:blipFill>
        <p:spPr>
          <a:xfrm>
            <a:off x="10605577" y="2302825"/>
            <a:ext cx="368686" cy="368686"/>
          </a:xfrm>
          <a:prstGeom prst="rect">
            <a:avLst/>
          </a:prstGeom>
        </p:spPr>
      </p:pic>
      <p:sp>
        <p:nvSpPr>
          <p:cNvPr id="32" name="Text 25"/>
          <p:cNvSpPr/>
          <p:nvPr/>
        </p:nvSpPr>
        <p:spPr>
          <a:xfrm>
            <a:off x="9912096" y="1965960"/>
            <a:ext cx="731520" cy="274320"/>
          </a:xfrm>
          <a:prstGeom prst="rect">
            <a:avLst/>
          </a:prstGeom>
          <a:noFill/>
          <a:ln/>
        </p:spPr>
        <p:txBody>
          <a:bodyPr wrap="square" lIns="0" tIns="0" rIns="0" bIns="0" rtlCol="0" anchor="ctr"/>
          <a:lstStyle/>
          <a:p>
            <a:pPr algn="l" indent="0" marL="0">
              <a:buNone/>
            </a:pPr>
            <a:r>
              <a:rPr lang="en-US" sz="1300" b="1" dirty="0">
                <a:solidFill>
                  <a:srgbClr val="94A3B8"/>
                </a:solidFill>
                <a:latin typeface="Calibri" pitchFamily="34" charset="0"/>
                <a:ea typeface="Calibri" pitchFamily="34" charset="-122"/>
                <a:cs typeface="Calibri" pitchFamily="34" charset="-120"/>
              </a:rPr>
              <a:t>05</a:t>
            </a:r>
            <a:endParaRPr lang="en-US" sz="1300" dirty="0"/>
          </a:p>
        </p:txBody>
      </p:sp>
      <p:sp>
        <p:nvSpPr>
          <p:cNvPr id="33" name="Text 26"/>
          <p:cNvSpPr/>
          <p:nvPr/>
        </p:nvSpPr>
        <p:spPr>
          <a:xfrm>
            <a:off x="9820656" y="3017520"/>
            <a:ext cx="1938528" cy="457200"/>
          </a:xfrm>
          <a:prstGeom prst="rect">
            <a:avLst/>
          </a:prstGeom>
          <a:noFill/>
          <a:ln/>
        </p:spPr>
        <p:txBody>
          <a:bodyPr wrap="square" lIns="0" tIns="0" rIns="0" bIns="0" rtlCol="0" anchor="ctr"/>
          <a:lstStyle/>
          <a:p>
            <a:pPr algn="ctr" indent="0" marL="0">
              <a:buNone/>
            </a:pPr>
            <a:r>
              <a:rPr lang="en-US" sz="1700" b="1" dirty="0">
                <a:solidFill>
                  <a:srgbClr val="0F172A"/>
                </a:solidFill>
                <a:latin typeface="Calibri" pitchFamily="34" charset="0"/>
                <a:ea typeface="Calibri" pitchFamily="34" charset="-122"/>
                <a:cs typeface="Calibri" pitchFamily="34" charset="-120"/>
              </a:rPr>
              <a:t>CSS Units</a:t>
            </a:r>
            <a:endParaRPr lang="en-US" sz="1700" dirty="0"/>
          </a:p>
        </p:txBody>
      </p:sp>
      <p:sp>
        <p:nvSpPr>
          <p:cNvPr id="34" name="Text 27"/>
          <p:cNvSpPr/>
          <p:nvPr/>
        </p:nvSpPr>
        <p:spPr>
          <a:xfrm>
            <a:off x="9866376" y="3474720"/>
            <a:ext cx="1847088" cy="73152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px, percent, vw, vh, rem</a:t>
            </a:r>
            <a:endParaRPr lang="en-US" sz="1200" dirty="0"/>
          </a:p>
        </p:txBody>
      </p:sp>
      <p:sp>
        <p:nvSpPr>
          <p:cNvPr id="35" name="Shape 28"/>
          <p:cNvSpPr/>
          <p:nvPr/>
        </p:nvSpPr>
        <p:spPr>
          <a:xfrm>
            <a:off x="548640" y="4617720"/>
            <a:ext cx="11109960" cy="868680"/>
          </a:xfrm>
          <a:prstGeom prst="roundRect">
            <a:avLst>
              <a:gd name="adj" fmla="val 12632"/>
            </a:avLst>
          </a:prstGeom>
          <a:solidFill>
            <a:srgbClr val="E5EEFF"/>
          </a:solidFill>
          <a:ln/>
        </p:spPr>
      </p:sp>
      <p:sp>
        <p:nvSpPr>
          <p:cNvPr id="36" name="Shape 29"/>
          <p:cNvSpPr/>
          <p:nvPr/>
        </p:nvSpPr>
        <p:spPr>
          <a:xfrm>
            <a:off x="749808" y="4924044"/>
            <a:ext cx="256032" cy="256032"/>
          </a:xfrm>
          <a:prstGeom prst="ellipse">
            <a:avLst/>
          </a:prstGeom>
          <a:solidFill>
            <a:srgbClr val="2563EB"/>
          </a:solidFill>
          <a:ln/>
        </p:spPr>
      </p:sp>
      <p:sp>
        <p:nvSpPr>
          <p:cNvPr id="37" name="Text 30"/>
          <p:cNvSpPr/>
          <p:nvPr/>
        </p:nvSpPr>
        <p:spPr>
          <a:xfrm>
            <a:off x="1207008" y="4617720"/>
            <a:ext cx="10241280" cy="868680"/>
          </a:xfrm>
          <a:prstGeom prst="rect">
            <a:avLst/>
          </a:prstGeom>
          <a:noFill/>
          <a:ln/>
        </p:spPr>
        <p:txBody>
          <a:bodyPr wrap="square" lIns="0" tIns="0" rIns="0" bIns="0" rtlCol="0" anchor="ctr"/>
          <a:lstStyle/>
          <a:p>
            <a:pPr algn="l" indent="0" marL="0">
              <a:buNone/>
            </a:pPr>
            <a:r>
              <a:rPr lang="en-US" sz="1400" dirty="0">
                <a:solidFill>
                  <a:srgbClr val="0F172A"/>
                </a:solidFill>
                <a:latin typeface="Calibri" pitchFamily="34" charset="0"/>
                <a:ea typeface="Calibri" pitchFamily="34" charset="-122"/>
                <a:cs typeface="Calibri" pitchFamily="34" charset="-120"/>
              </a:rPr>
              <a:t>By the end you can inspect any element, read its box in DevTools, and size it exactly how you want. Break slides appear every 40 minutes.</a:t>
            </a:r>
            <a:endParaRPr lang="en-US" sz="1400" dirty="0"/>
          </a:p>
        </p:txBody>
      </p:sp>
      <p:sp>
        <p:nvSpPr>
          <p:cNvPr id="38" name="Text 31"/>
          <p:cNvSpPr/>
          <p:nvPr/>
        </p:nvSpPr>
        <p:spPr>
          <a:xfrm>
            <a:off x="548640" y="5669280"/>
            <a:ext cx="5486400" cy="457200"/>
          </a:xfrm>
          <a:prstGeom prst="rect">
            <a:avLst/>
          </a:prstGeom>
          <a:noFill/>
          <a:ln/>
        </p:spPr>
        <p:txBody>
          <a:bodyPr wrap="square" lIns="0" tIns="0" rIns="0" bIns="0" rtlCol="0" anchor="ctr"/>
          <a:lstStyle/>
          <a:p>
            <a:pPr algn="l" indent="0" marL="0">
              <a:buNone/>
            </a:pPr>
            <a:r>
              <a:rPr lang="en-US" sz="1800" b="1" i="1" dirty="0">
                <a:solidFill>
                  <a:srgbClr val="2563EB"/>
                </a:solidFill>
                <a:latin typeface="Calibri" pitchFamily="34" charset="0"/>
                <a:ea typeface="Calibri" pitchFamily="34" charset="-122"/>
                <a:cs typeface="Calibri" pitchFamily="34" charset="-120"/>
              </a:rPr>
              <a:t>Let us start.</a:t>
            </a:r>
            <a:endParaRPr lang="en-US" sz="1800" dirty="0"/>
          </a:p>
        </p:txBody>
      </p:sp>
      <p:sp>
        <p:nvSpPr>
          <p:cNvPr id="39" name="Text 3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40" name="Text 3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01</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1</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The Box Model</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Everything you create in HTML becomes a rectangular box.</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120140" cy="310896"/>
          </a:xfrm>
          <a:prstGeom prst="roundRect">
            <a:avLst>
              <a:gd name="adj" fmla="val 50000"/>
            </a:avLst>
          </a:prstGeom>
          <a:solidFill>
            <a:srgbClr val="2563EB"/>
          </a:solidFill>
          <a:ln/>
        </p:spPr>
      </p:sp>
      <p:sp>
        <p:nvSpPr>
          <p:cNvPr id="3" name="Text 1"/>
          <p:cNvSpPr/>
          <p:nvPr/>
        </p:nvSpPr>
        <p:spPr>
          <a:xfrm>
            <a:off x="548640" y="45720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BOX MODEL</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Everything is a box</a:t>
            </a:r>
            <a:endParaRPr lang="en-US" sz="3400" dirty="0"/>
          </a:p>
        </p:txBody>
      </p:sp>
      <p:sp>
        <p:nvSpPr>
          <p:cNvPr id="5" name="Text 3"/>
          <p:cNvSpPr/>
          <p:nvPr/>
        </p:nvSpPr>
        <p:spPr>
          <a:xfrm>
            <a:off x="548640" y="1691640"/>
            <a:ext cx="5943600" cy="548640"/>
          </a:xfrm>
          <a:prstGeom prst="rect">
            <a:avLst/>
          </a:prstGeom>
          <a:noFill/>
          <a:ln/>
        </p:spPr>
        <p:txBody>
          <a:bodyPr wrap="square" lIns="0" tIns="0" rIns="0" bIns="0" rtlCol="0" anchor="ctr"/>
          <a:lstStyle/>
          <a:p>
            <a:pPr algn="l" indent="0" marL="0">
              <a:buNone/>
            </a:pPr>
            <a:r>
              <a:rPr lang="en-US" sz="1600" dirty="0">
                <a:solidFill>
                  <a:srgbClr val="0F172A"/>
                </a:solidFill>
                <a:latin typeface="Calibri" pitchFamily="34" charset="0"/>
                <a:ea typeface="Calibri" pitchFamily="34" charset="-122"/>
                <a:cs typeface="Calibri" pitchFamily="34" charset="-120"/>
              </a:rPr>
              <a:t>Every element you write </a:t>
            </a:r>
            <a:pPr algn="l" indent="0" marL="0">
              <a:buNone/>
            </a:pPr>
            <a:r>
              <a:rPr lang="en-US" sz="1600" dirty="0">
                <a:solidFill>
                  <a:srgbClr val="94A3B8"/>
                </a:solidFill>
                <a:latin typeface="Calibri" pitchFamily="34" charset="0"/>
                <a:ea typeface="Calibri" pitchFamily="34" charset="-122"/>
                <a:cs typeface="Calibri" pitchFamily="34" charset="-120"/>
              </a:rPr>
              <a:t>-</a:t>
            </a:r>
            <a:pPr algn="l" indent="0" marL="0">
              <a:buNone/>
            </a:pPr>
            <a:r>
              <a:rPr lang="en-US" sz="1600" dirty="0">
                <a:solidFill>
                  <a:srgbClr val="0F172A"/>
                </a:solidFill>
                <a:latin typeface="Calibri" pitchFamily="34" charset="0"/>
                <a:ea typeface="Calibri" pitchFamily="34" charset="-122"/>
                <a:cs typeface="Calibri" pitchFamily="34" charset="-120"/>
              </a:rPr>
              <a:t> a heading, a paragraph, an image </a:t>
            </a:r>
            <a:pPr algn="l" indent="0" marL="0">
              <a:buNone/>
            </a:pPr>
            <a:r>
              <a:rPr lang="en-US" sz="1600" dirty="0">
                <a:solidFill>
                  <a:srgbClr val="94A3B8"/>
                </a:solidFill>
                <a:latin typeface="Calibri" pitchFamily="34" charset="0"/>
                <a:ea typeface="Calibri" pitchFamily="34" charset="-122"/>
                <a:cs typeface="Calibri" pitchFamily="34" charset="-120"/>
              </a:rPr>
              <a:t>-</a:t>
            </a:r>
            <a:pPr algn="l" indent="0" marL="0">
              <a:buNone/>
            </a:pPr>
            <a:r>
              <a:rPr lang="en-US" sz="1600" dirty="0">
                <a:solidFill>
                  <a:srgbClr val="0F172A"/>
                </a:solidFill>
                <a:latin typeface="Calibri" pitchFamily="34" charset="0"/>
                <a:ea typeface="Calibri" pitchFamily="34" charset="-122"/>
                <a:cs typeface="Calibri" pitchFamily="34" charset="-120"/>
              </a:rPr>
              <a:t> is drawn by the browser as a rectangle.</a:t>
            </a:r>
            <a:endParaRPr lang="en-US" sz="1600" dirty="0"/>
          </a:p>
        </p:txBody>
      </p:sp>
      <p:sp>
        <p:nvSpPr>
          <p:cNvPr id="6" name="Shape 4"/>
          <p:cNvSpPr/>
          <p:nvPr/>
        </p:nvSpPr>
        <p:spPr>
          <a:xfrm>
            <a:off x="594360" y="2331720"/>
            <a:ext cx="420624" cy="420624"/>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7" name="Text 5"/>
          <p:cNvSpPr/>
          <p:nvPr/>
        </p:nvSpPr>
        <p:spPr>
          <a:xfrm>
            <a:off x="594360" y="233172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188720" y="2313432"/>
            <a:ext cx="5303520" cy="45720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Open any site you have built so far.</a:t>
            </a:r>
            <a:endParaRPr lang="en-US" sz="1500" dirty="0"/>
          </a:p>
        </p:txBody>
      </p:sp>
      <p:sp>
        <p:nvSpPr>
          <p:cNvPr id="9" name="Shape 7"/>
          <p:cNvSpPr/>
          <p:nvPr/>
        </p:nvSpPr>
        <p:spPr>
          <a:xfrm>
            <a:off x="594360" y="3017520"/>
            <a:ext cx="420624" cy="420624"/>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10" name="Text 8"/>
          <p:cNvSpPr/>
          <p:nvPr/>
        </p:nvSpPr>
        <p:spPr>
          <a:xfrm>
            <a:off x="594360" y="301752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188720" y="2999232"/>
            <a:ext cx="5303520" cy="45720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Right click a paragraph, then click Inspect.</a:t>
            </a:r>
            <a:endParaRPr lang="en-US" sz="1500" dirty="0"/>
          </a:p>
        </p:txBody>
      </p:sp>
      <p:sp>
        <p:nvSpPr>
          <p:cNvPr id="12" name="Shape 10"/>
          <p:cNvSpPr/>
          <p:nvPr/>
        </p:nvSpPr>
        <p:spPr>
          <a:xfrm>
            <a:off x="594360" y="3703320"/>
            <a:ext cx="420624" cy="420624"/>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13" name="Text 11"/>
          <p:cNvSpPr/>
          <p:nvPr/>
        </p:nvSpPr>
        <p:spPr>
          <a:xfrm>
            <a:off x="594360" y="370332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188720" y="3685032"/>
            <a:ext cx="5303520" cy="45720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The right panel shows the box wrapping your content.</a:t>
            </a:r>
            <a:endParaRPr lang="en-US" sz="1500" dirty="0"/>
          </a:p>
        </p:txBody>
      </p:sp>
      <p:sp>
        <p:nvSpPr>
          <p:cNvPr id="15" name="Shape 13"/>
          <p:cNvSpPr/>
          <p:nvPr/>
        </p:nvSpPr>
        <p:spPr>
          <a:xfrm>
            <a:off x="548640" y="4572000"/>
            <a:ext cx="5943600" cy="914400"/>
          </a:xfrm>
          <a:prstGeom prst="roundRect">
            <a:avLst>
              <a:gd name="adj" fmla="val 12000"/>
            </a:avLst>
          </a:prstGeom>
          <a:solidFill>
            <a:srgbClr val="FFF3E0"/>
          </a:solidFill>
          <a:ln/>
        </p:spPr>
      </p:sp>
      <p:sp>
        <p:nvSpPr>
          <p:cNvPr id="16" name="Shape 14"/>
          <p:cNvSpPr/>
          <p:nvPr/>
        </p:nvSpPr>
        <p:spPr>
          <a:xfrm>
            <a:off x="749808" y="4901184"/>
            <a:ext cx="256032" cy="256032"/>
          </a:xfrm>
          <a:prstGeom prst="ellipse">
            <a:avLst/>
          </a:prstGeom>
          <a:solidFill>
            <a:srgbClr val="F59E0B"/>
          </a:solidFill>
          <a:ln/>
        </p:spPr>
      </p:sp>
      <p:sp>
        <p:nvSpPr>
          <p:cNvPr id="17" name="Text 15"/>
          <p:cNvSpPr/>
          <p:nvPr/>
        </p:nvSpPr>
        <p:spPr>
          <a:xfrm>
            <a:off x="1207008" y="4572000"/>
            <a:ext cx="5074920" cy="914400"/>
          </a:xfrm>
          <a:prstGeom prst="rect">
            <a:avLst/>
          </a:prstGeom>
          <a:noFill/>
          <a:ln/>
        </p:spPr>
        <p:txBody>
          <a:bodyPr wrap="square" lIns="0" tIns="0" rIns="0" bIns="0" rtlCol="0" anchor="ctr"/>
          <a:lstStyle/>
          <a:p>
            <a:pPr algn="l" indent="0" marL="0">
              <a:buNone/>
            </a:pPr>
            <a:r>
              <a:rPr lang="en-US" sz="1400" dirty="0">
                <a:solidFill>
                  <a:srgbClr val="7A4A05"/>
                </a:solidFill>
                <a:latin typeface="Calibri" pitchFamily="34" charset="0"/>
                <a:ea typeface="Calibri" pitchFamily="34" charset="-122"/>
                <a:cs typeface="Calibri" pitchFamily="34" charset="-120"/>
              </a:rPr>
              <a:t>Always give a box a height and width, or with no content it stays invisible.</a:t>
            </a:r>
            <a:endParaRPr lang="en-US" sz="1400" dirty="0"/>
          </a:p>
        </p:txBody>
      </p:sp>
      <p:sp>
        <p:nvSpPr>
          <p:cNvPr id="18" name="Shape 16"/>
          <p:cNvSpPr/>
          <p:nvPr/>
        </p:nvSpPr>
        <p:spPr>
          <a:xfrm>
            <a:off x="6858000" y="1691640"/>
            <a:ext cx="4800600" cy="4206240"/>
          </a:xfrm>
          <a:prstGeom prst="roundRect">
            <a:avLst>
              <a:gd name="adj" fmla="val 2174"/>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9" name="Shape 17"/>
          <p:cNvSpPr/>
          <p:nvPr/>
        </p:nvSpPr>
        <p:spPr>
          <a:xfrm>
            <a:off x="6858000" y="1691640"/>
            <a:ext cx="4800600" cy="384048"/>
          </a:xfrm>
          <a:prstGeom prst="roundRect">
            <a:avLst>
              <a:gd name="adj" fmla="val 23810"/>
            </a:avLst>
          </a:prstGeom>
          <a:solidFill>
            <a:srgbClr val="EAF1FF"/>
          </a:solidFill>
          <a:ln/>
        </p:spPr>
      </p:sp>
      <p:sp>
        <p:nvSpPr>
          <p:cNvPr id="20" name="Shape 18"/>
          <p:cNvSpPr/>
          <p:nvPr/>
        </p:nvSpPr>
        <p:spPr>
          <a:xfrm>
            <a:off x="6858000" y="1984248"/>
            <a:ext cx="4800600" cy="91440"/>
          </a:xfrm>
          <a:prstGeom prst="rect">
            <a:avLst/>
          </a:prstGeom>
          <a:solidFill>
            <a:srgbClr val="EAF1FF"/>
          </a:solidFill>
          <a:ln/>
        </p:spPr>
      </p:sp>
      <p:sp>
        <p:nvSpPr>
          <p:cNvPr id="21" name="Shape 19"/>
          <p:cNvSpPr/>
          <p:nvPr/>
        </p:nvSpPr>
        <p:spPr>
          <a:xfrm>
            <a:off x="7004304" y="1819656"/>
            <a:ext cx="118872" cy="118872"/>
          </a:xfrm>
          <a:prstGeom prst="ellipse">
            <a:avLst/>
          </a:prstGeom>
          <a:solidFill>
            <a:srgbClr val="FF5F56"/>
          </a:solidFill>
          <a:ln/>
        </p:spPr>
      </p:sp>
      <p:sp>
        <p:nvSpPr>
          <p:cNvPr id="22" name="Shape 20"/>
          <p:cNvSpPr/>
          <p:nvPr/>
        </p:nvSpPr>
        <p:spPr>
          <a:xfrm>
            <a:off x="7205472" y="1819656"/>
            <a:ext cx="118872" cy="118872"/>
          </a:xfrm>
          <a:prstGeom prst="ellipse">
            <a:avLst/>
          </a:prstGeom>
          <a:solidFill>
            <a:srgbClr val="FFBD2E"/>
          </a:solidFill>
          <a:ln/>
        </p:spPr>
      </p:sp>
      <p:sp>
        <p:nvSpPr>
          <p:cNvPr id="23" name="Shape 21"/>
          <p:cNvSpPr/>
          <p:nvPr/>
        </p:nvSpPr>
        <p:spPr>
          <a:xfrm>
            <a:off x="7406640" y="1819656"/>
            <a:ext cx="118872" cy="118872"/>
          </a:xfrm>
          <a:prstGeom prst="ellipse">
            <a:avLst/>
          </a:prstGeom>
          <a:solidFill>
            <a:srgbClr val="27C93F"/>
          </a:solidFill>
          <a:ln/>
        </p:spPr>
      </p:sp>
      <p:sp>
        <p:nvSpPr>
          <p:cNvPr id="24" name="Shape 22"/>
          <p:cNvSpPr/>
          <p:nvPr/>
        </p:nvSpPr>
        <p:spPr>
          <a:xfrm>
            <a:off x="7635240" y="1764792"/>
            <a:ext cx="3840480" cy="237744"/>
          </a:xfrm>
          <a:prstGeom prst="roundRect">
            <a:avLst>
              <a:gd name="adj" fmla="val 50000"/>
            </a:avLst>
          </a:prstGeom>
          <a:solidFill>
            <a:srgbClr val="FFFFFF"/>
          </a:solidFill>
          <a:ln w="12700">
            <a:solidFill>
              <a:srgbClr val="C7DBFF"/>
            </a:solidFill>
            <a:prstDash val="solid"/>
          </a:ln>
        </p:spPr>
      </p:sp>
      <p:sp>
        <p:nvSpPr>
          <p:cNvPr id="25" name="Text 23"/>
          <p:cNvSpPr/>
          <p:nvPr/>
        </p:nvSpPr>
        <p:spPr>
          <a:xfrm>
            <a:off x="7772400" y="1764792"/>
            <a:ext cx="3703320" cy="237744"/>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yourwebsite.dev</a:t>
            </a:r>
            <a:endParaRPr lang="en-US" sz="1000" dirty="0"/>
          </a:p>
        </p:txBody>
      </p:sp>
      <p:sp>
        <p:nvSpPr>
          <p:cNvPr id="26" name="Shape 24"/>
          <p:cNvSpPr/>
          <p:nvPr/>
        </p:nvSpPr>
        <p:spPr>
          <a:xfrm>
            <a:off x="7178040" y="2286000"/>
            <a:ext cx="4160520" cy="502920"/>
          </a:xfrm>
          <a:prstGeom prst="rect">
            <a:avLst/>
          </a:prstGeom>
          <a:solidFill>
            <a:srgbClr val="9CC5FF"/>
          </a:solidFill>
          <a:ln w="25400">
            <a:solidFill>
              <a:srgbClr val="FFFFFF"/>
            </a:solidFill>
            <a:prstDash val="dash"/>
          </a:ln>
        </p:spPr>
      </p:sp>
      <p:sp>
        <p:nvSpPr>
          <p:cNvPr id="27" name="Text 25"/>
          <p:cNvSpPr/>
          <p:nvPr/>
        </p:nvSpPr>
        <p:spPr>
          <a:xfrm>
            <a:off x="7315200" y="2286000"/>
            <a:ext cx="3886200" cy="502920"/>
          </a:xfrm>
          <a:prstGeom prst="rect">
            <a:avLst/>
          </a:prstGeom>
          <a:noFill/>
          <a:ln/>
        </p:spPr>
        <p:txBody>
          <a:bodyPr wrap="square" lIns="0" tIns="0" rIns="0" bIns="0" rtlCol="0" anchor="ctr"/>
          <a:lstStyle/>
          <a:p>
            <a:pPr algn="l" indent="0" marL="0">
              <a:buNone/>
            </a:pPr>
            <a:r>
              <a:rPr lang="en-US" sz="1200" b="1" dirty="0">
                <a:solidFill>
                  <a:srgbClr val="0F172A"/>
                </a:solidFill>
                <a:latin typeface="Courier New" pitchFamily="34" charset="0"/>
                <a:ea typeface="Courier New" pitchFamily="34" charset="-122"/>
                <a:cs typeface="Courier New" pitchFamily="34" charset="-120"/>
              </a:rPr>
              <a:t>header  (a box)</a:t>
            </a:r>
            <a:endParaRPr lang="en-US" sz="1200" dirty="0"/>
          </a:p>
        </p:txBody>
      </p:sp>
      <p:sp>
        <p:nvSpPr>
          <p:cNvPr id="28" name="Shape 26"/>
          <p:cNvSpPr/>
          <p:nvPr/>
        </p:nvSpPr>
        <p:spPr>
          <a:xfrm>
            <a:off x="7178040" y="2880360"/>
            <a:ext cx="4160520" cy="822960"/>
          </a:xfrm>
          <a:prstGeom prst="rect">
            <a:avLst/>
          </a:prstGeom>
          <a:solidFill>
            <a:srgbClr val="A7E8B7"/>
          </a:solidFill>
          <a:ln w="25400">
            <a:solidFill>
              <a:srgbClr val="FFFFFF"/>
            </a:solidFill>
            <a:prstDash val="dash"/>
          </a:ln>
        </p:spPr>
      </p:sp>
      <p:sp>
        <p:nvSpPr>
          <p:cNvPr id="29" name="Text 27"/>
          <p:cNvSpPr/>
          <p:nvPr/>
        </p:nvSpPr>
        <p:spPr>
          <a:xfrm>
            <a:off x="7315200" y="2880360"/>
            <a:ext cx="3886200" cy="822960"/>
          </a:xfrm>
          <a:prstGeom prst="rect">
            <a:avLst/>
          </a:prstGeom>
          <a:noFill/>
          <a:ln/>
        </p:spPr>
        <p:txBody>
          <a:bodyPr wrap="square" lIns="0" tIns="0" rIns="0" bIns="0" rtlCol="0" anchor="ctr"/>
          <a:lstStyle/>
          <a:p>
            <a:pPr algn="l" indent="0" marL="0">
              <a:buNone/>
            </a:pPr>
            <a:r>
              <a:rPr lang="en-US" sz="1200" b="1" dirty="0">
                <a:solidFill>
                  <a:srgbClr val="0F172A"/>
                </a:solidFill>
                <a:latin typeface="Courier New" pitchFamily="34" charset="0"/>
                <a:ea typeface="Courier New" pitchFamily="34" charset="-122"/>
                <a:cs typeface="Courier New" pitchFamily="34" charset="-120"/>
              </a:rPr>
              <a:t>paragraph  (a box)</a:t>
            </a:r>
            <a:endParaRPr lang="en-US" sz="1200" dirty="0"/>
          </a:p>
        </p:txBody>
      </p:sp>
      <p:sp>
        <p:nvSpPr>
          <p:cNvPr id="30" name="Shape 28"/>
          <p:cNvSpPr/>
          <p:nvPr/>
        </p:nvSpPr>
        <p:spPr>
          <a:xfrm>
            <a:off x="7178040" y="3794760"/>
            <a:ext cx="4160520" cy="914400"/>
          </a:xfrm>
          <a:prstGeom prst="rect">
            <a:avLst/>
          </a:prstGeom>
          <a:solidFill>
            <a:srgbClr val="FBD34D"/>
          </a:solidFill>
          <a:ln w="25400">
            <a:solidFill>
              <a:srgbClr val="FFFFFF"/>
            </a:solidFill>
            <a:prstDash val="dash"/>
          </a:ln>
        </p:spPr>
      </p:sp>
      <p:sp>
        <p:nvSpPr>
          <p:cNvPr id="31" name="Text 29"/>
          <p:cNvSpPr/>
          <p:nvPr/>
        </p:nvSpPr>
        <p:spPr>
          <a:xfrm>
            <a:off x="7315200" y="3794760"/>
            <a:ext cx="3886200" cy="914400"/>
          </a:xfrm>
          <a:prstGeom prst="rect">
            <a:avLst/>
          </a:prstGeom>
          <a:noFill/>
          <a:ln/>
        </p:spPr>
        <p:txBody>
          <a:bodyPr wrap="square" lIns="0" tIns="0" rIns="0" bIns="0" rtlCol="0" anchor="ctr"/>
          <a:lstStyle/>
          <a:p>
            <a:pPr algn="l" indent="0" marL="0">
              <a:buNone/>
            </a:pPr>
            <a:r>
              <a:rPr lang="en-US" sz="1200" b="1" dirty="0">
                <a:solidFill>
                  <a:srgbClr val="0F172A"/>
                </a:solidFill>
                <a:latin typeface="Courier New" pitchFamily="34" charset="0"/>
                <a:ea typeface="Courier New" pitchFamily="34" charset="-122"/>
                <a:cs typeface="Courier New" pitchFamily="34" charset="-120"/>
              </a:rPr>
              <a:t>image  (a box)</a:t>
            </a:r>
            <a:endParaRPr lang="en-US" sz="1200" dirty="0"/>
          </a:p>
        </p:txBody>
      </p:sp>
      <p:sp>
        <p:nvSpPr>
          <p:cNvPr id="32" name="Shape 30"/>
          <p:cNvSpPr/>
          <p:nvPr/>
        </p:nvSpPr>
        <p:spPr>
          <a:xfrm>
            <a:off x="7178040" y="4800600"/>
            <a:ext cx="4160520" cy="868680"/>
          </a:xfrm>
          <a:prstGeom prst="rect">
            <a:avLst/>
          </a:prstGeom>
          <a:solidFill>
            <a:srgbClr val="F6C89A"/>
          </a:solidFill>
          <a:ln w="25400">
            <a:solidFill>
              <a:srgbClr val="FFFFFF"/>
            </a:solidFill>
            <a:prstDash val="dash"/>
          </a:ln>
        </p:spPr>
      </p:sp>
      <p:sp>
        <p:nvSpPr>
          <p:cNvPr id="33" name="Text 31"/>
          <p:cNvSpPr/>
          <p:nvPr/>
        </p:nvSpPr>
        <p:spPr>
          <a:xfrm>
            <a:off x="7315200" y="4800600"/>
            <a:ext cx="3886200" cy="868680"/>
          </a:xfrm>
          <a:prstGeom prst="rect">
            <a:avLst/>
          </a:prstGeom>
          <a:noFill/>
          <a:ln/>
        </p:spPr>
        <p:txBody>
          <a:bodyPr wrap="square" lIns="0" tIns="0" rIns="0" bIns="0" rtlCol="0" anchor="ctr"/>
          <a:lstStyle/>
          <a:p>
            <a:pPr algn="l" indent="0" marL="0">
              <a:buNone/>
            </a:pPr>
            <a:r>
              <a:rPr lang="en-US" sz="1200" b="1" dirty="0">
                <a:solidFill>
                  <a:srgbClr val="0F172A"/>
                </a:solidFill>
                <a:latin typeface="Courier New" pitchFamily="34" charset="0"/>
                <a:ea typeface="Courier New" pitchFamily="34" charset="-122"/>
                <a:cs typeface="Courier New" pitchFamily="34" charset="-120"/>
              </a:rPr>
              <a:t>button  (a box)</a:t>
            </a:r>
            <a:endParaRPr lang="en-US" sz="1200" dirty="0"/>
          </a:p>
        </p:txBody>
      </p:sp>
      <p:sp>
        <p:nvSpPr>
          <p:cNvPr id="34" name="Text 3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35" name="Text 3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548640" y="457200"/>
            <a:ext cx="3291840" cy="310896"/>
          </a:xfrm>
          <a:prstGeom prst="roundRect">
            <a:avLst>
              <a:gd name="adj" fmla="val 50000"/>
            </a:avLst>
          </a:prstGeom>
          <a:solidFill>
            <a:srgbClr val="FB7185"/>
          </a:solidFill>
          <a:ln/>
        </p:spPr>
      </p:sp>
      <p:sp>
        <p:nvSpPr>
          <p:cNvPr id="3" name="Text 1"/>
          <p:cNvSpPr/>
          <p:nvPr/>
        </p:nvSpPr>
        <p:spPr>
          <a:xfrm>
            <a:off x="548640" y="457200"/>
            <a:ext cx="32918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LIVE CODE  -  SWITCH TO VS CODE</a:t>
            </a:r>
            <a:endParaRPr lang="en-US" sz="1100" dirty="0"/>
          </a:p>
        </p:txBody>
      </p:sp>
      <p:sp>
        <p:nvSpPr>
          <p:cNvPr id="4" name="Text 2"/>
          <p:cNvSpPr/>
          <p:nvPr/>
        </p:nvSpPr>
        <p:spPr>
          <a:xfrm>
            <a:off x="548640" y="896112"/>
            <a:ext cx="10972800"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Live code: make your first box</a:t>
            </a:r>
            <a:endParaRPr lang="en-US" sz="3000" dirty="0"/>
          </a:p>
        </p:txBody>
      </p:sp>
      <p:sp>
        <p:nvSpPr>
          <p:cNvPr id="5" name="Shape 3"/>
          <p:cNvSpPr/>
          <p:nvPr/>
        </p:nvSpPr>
        <p:spPr>
          <a:xfrm>
            <a:off x="548640" y="1691640"/>
            <a:ext cx="6766560" cy="4480560"/>
          </a:xfrm>
          <a:prstGeom prst="roundRect">
            <a:avLst>
              <a:gd name="adj" fmla="val 2449"/>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1911096"/>
            <a:ext cx="128016" cy="128016"/>
          </a:xfrm>
          <a:prstGeom prst="ellipse">
            <a:avLst/>
          </a:prstGeom>
          <a:solidFill>
            <a:srgbClr val="FF5F56"/>
          </a:solidFill>
          <a:ln/>
        </p:spPr>
      </p:sp>
      <p:sp>
        <p:nvSpPr>
          <p:cNvPr id="7" name="Shape 5"/>
          <p:cNvSpPr/>
          <p:nvPr/>
        </p:nvSpPr>
        <p:spPr>
          <a:xfrm>
            <a:off x="1042416" y="1911096"/>
            <a:ext cx="128016" cy="128016"/>
          </a:xfrm>
          <a:prstGeom prst="ellipse">
            <a:avLst/>
          </a:prstGeom>
          <a:solidFill>
            <a:srgbClr val="FFBD2E"/>
          </a:solidFill>
          <a:ln/>
        </p:spPr>
      </p:sp>
      <p:sp>
        <p:nvSpPr>
          <p:cNvPr id="8" name="Shape 6"/>
          <p:cNvSpPr/>
          <p:nvPr/>
        </p:nvSpPr>
        <p:spPr>
          <a:xfrm>
            <a:off x="1280160" y="1911096"/>
            <a:ext cx="128016" cy="128016"/>
          </a:xfrm>
          <a:prstGeom prst="ellipse">
            <a:avLst/>
          </a:prstGeom>
          <a:solidFill>
            <a:srgbClr val="27C93F"/>
          </a:solidFill>
          <a:ln/>
        </p:spPr>
      </p:sp>
      <p:sp>
        <p:nvSpPr>
          <p:cNvPr id="9" name="Text 7"/>
          <p:cNvSpPr/>
          <p:nvPr/>
        </p:nvSpPr>
        <p:spPr>
          <a:xfrm>
            <a:off x="1645920" y="1801368"/>
            <a:ext cx="548640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index.html</a:t>
            </a:r>
            <a:endParaRPr lang="en-US" sz="1100" dirty="0"/>
          </a:p>
        </p:txBody>
      </p:sp>
      <p:sp>
        <p:nvSpPr>
          <p:cNvPr id="10" name="Text 8"/>
          <p:cNvSpPr/>
          <p:nvPr/>
        </p:nvSpPr>
        <p:spPr>
          <a:xfrm>
            <a:off x="804672" y="2221992"/>
            <a:ext cx="6254496" cy="3767328"/>
          </a:xfrm>
          <a:prstGeom prst="rect">
            <a:avLst/>
          </a:prstGeom>
          <a:noFill/>
          <a:ln/>
        </p:spPr>
        <p:txBody>
          <a:bodyPr wrap="square" lIns="0" tIns="0" rIns="0" bIns="0" rtlCol="0" anchor="t"/>
          <a:lstStyle/>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&lt;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DOCTYPE</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html</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&gt;</a:t>
            </a:r>
            <a:endParaRPr lang="en-US" sz="1300" dirty="0"/>
          </a:p>
          <a:p>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&lt;html</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lang</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FDBA74"/>
                </a:solidFill>
                <a:latin typeface="Courier New" pitchFamily="34" charset="0"/>
                <a:ea typeface="Courier New" pitchFamily="34" charset="-122"/>
                <a:cs typeface="Courier New" pitchFamily="34" charset="-120"/>
              </a:rPr>
              <a:t>"en"</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&gt;</a:t>
            </a:r>
            <a:endParaRPr lang="en-US" sz="1300" dirty="0"/>
          </a:p>
          <a:p>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&lt;head</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&gt;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&lt;meta</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charset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FDBA74"/>
                </a:solidFill>
                <a:latin typeface="Courier New" pitchFamily="34" charset="0"/>
                <a:ea typeface="Courier New" pitchFamily="34" charset="-122"/>
                <a:cs typeface="Courier New" pitchFamily="34" charset="-120"/>
              </a:rPr>
              <a:t>"UTF-8"</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&gt;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&lt;title</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&gt;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Document</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&lt;/title</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&gt;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&lt;style</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&gt;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box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width</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200px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height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300px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background-color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red</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&lt;/style</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&gt;</a:t>
            </a:r>
            <a:endParaRPr lang="en-US" sz="1300" dirty="0"/>
          </a:p>
          <a:p>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&lt;/head</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&gt;</a:t>
            </a:r>
            <a:endParaRPr lang="en-US" sz="1300" dirty="0"/>
          </a:p>
          <a:p>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&lt;body</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&gt;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&lt;div</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class</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FDBA74"/>
                </a:solidFill>
                <a:latin typeface="Courier New" pitchFamily="34" charset="0"/>
                <a:ea typeface="Courier New" pitchFamily="34" charset="-122"/>
                <a:cs typeface="Courier New" pitchFamily="34" charset="-120"/>
              </a:rPr>
              <a:t>"box"</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&gt;</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&lt;/div</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&gt;</a:t>
            </a:r>
            <a:endParaRPr lang="en-US" sz="1300" dirty="0"/>
          </a:p>
          <a:p>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&lt;/body</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&gt;</a:t>
            </a:r>
            <a:endParaRPr lang="en-US" sz="1300" dirty="0"/>
          </a:p>
          <a:p>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&lt;/html</a:t>
            </a:r>
            <a:pPr algn="l" indent="0" marL="0">
              <a:lnSpc>
                <a:spcPct val="108000"/>
              </a:lnSpc>
              <a:buNone/>
            </a:pPr>
            <a:r>
              <a:rPr lang="en-US" sz="1300" dirty="0">
                <a:solidFill>
                  <a:srgbClr val="7DD3FC"/>
                </a:solidFill>
                <a:latin typeface="Courier New" pitchFamily="34" charset="0"/>
                <a:ea typeface="Courier New" pitchFamily="34" charset="-122"/>
                <a:cs typeface="Courier New" pitchFamily="34" charset="-120"/>
              </a:rPr>
              <a:t>&gt;</a:t>
            </a:r>
            <a:endParaRPr lang="en-US" sz="1300" dirty="0"/>
          </a:p>
        </p:txBody>
      </p:sp>
      <p:sp>
        <p:nvSpPr>
          <p:cNvPr id="11" name="Shape 9"/>
          <p:cNvSpPr/>
          <p:nvPr/>
        </p:nvSpPr>
        <p:spPr>
          <a:xfrm>
            <a:off x="7498080" y="1691640"/>
            <a:ext cx="4160520" cy="4480560"/>
          </a:xfrm>
          <a:prstGeom prst="roundRect">
            <a:avLst>
              <a:gd name="adj" fmla="val 2637"/>
            </a:avLst>
          </a:prstGeom>
          <a:solidFill>
            <a:srgbClr val="1B2A4A"/>
          </a:solidFill>
          <a:ln/>
        </p:spPr>
      </p:sp>
      <p:sp>
        <p:nvSpPr>
          <p:cNvPr id="12" name="Text 10"/>
          <p:cNvSpPr/>
          <p:nvPr/>
        </p:nvSpPr>
        <p:spPr>
          <a:xfrm>
            <a:off x="7726680" y="1874520"/>
            <a:ext cx="3749040" cy="320040"/>
          </a:xfrm>
          <a:prstGeom prst="rect">
            <a:avLst/>
          </a:prstGeom>
          <a:noFill/>
          <a:ln/>
        </p:spPr>
        <p:txBody>
          <a:bodyPr wrap="square" lIns="0" tIns="0" rIns="0" bIns="0" rtlCol="0" anchor="ctr"/>
          <a:lstStyle/>
          <a:p>
            <a:pPr algn="l" indent="0" marL="0">
              <a:buNone/>
            </a:pPr>
            <a:r>
              <a:rPr lang="en-US" sz="1200" b="1" spc="150" kern="0" dirty="0">
                <a:solidFill>
                  <a:srgbClr val="F59E0B"/>
                </a:solidFill>
                <a:latin typeface="Calibri" pitchFamily="34" charset="0"/>
                <a:ea typeface="Calibri" pitchFamily="34" charset="-122"/>
                <a:cs typeface="Calibri" pitchFamily="34" charset="-120"/>
              </a:rPr>
              <a:t>SAY THIS WHILE YOU TYPE</a:t>
            </a:r>
            <a:endParaRPr lang="en-US" sz="1200" dirty="0"/>
          </a:p>
        </p:txBody>
      </p:sp>
      <p:sp>
        <p:nvSpPr>
          <p:cNvPr id="13" name="Text 11"/>
          <p:cNvSpPr/>
          <p:nvPr/>
        </p:nvSpPr>
        <p:spPr>
          <a:xfrm>
            <a:off x="7726680" y="2286000"/>
            <a:ext cx="3794760" cy="3749040"/>
          </a:xfrm>
          <a:prstGeom prst="rect">
            <a:avLst/>
          </a:prstGeom>
          <a:noFill/>
          <a:ln/>
        </p:spPr>
        <p:txBody>
          <a:bodyPr wrap="square" lIns="0" tIns="0" rIns="0" bIns="0" rtlCol="0" anchor="t"/>
          <a:lstStyle/>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Type a div and give it class box.</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In the style tag, target .box.</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Set width and height first. Without them the box has no size.</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Add background-color red so we can actually see it.</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Save, refresh. There is your first box.</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Now change 200px to 400px. The box grows. You are in control.</a:t>
            </a:r>
            <a:endParaRPr lang="en-US" sz="1350" dirty="0"/>
          </a:p>
        </p:txBody>
      </p:sp>
      <p:sp>
        <p:nvSpPr>
          <p:cNvPr id="14" name="Text 1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CSS Box Model, Display and Units</a:t>
            </a:r>
            <a:endParaRPr lang="en-US" sz="1000" dirty="0"/>
          </a:p>
        </p:txBody>
      </p:sp>
      <p:sp>
        <p:nvSpPr>
          <p:cNvPr id="15" name="Text 1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ANALOGY</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The four layers of a box</a:t>
            </a:r>
            <a:endParaRPr lang="en-US" sz="3400" dirty="0"/>
          </a:p>
        </p:txBody>
      </p:sp>
      <p:sp>
        <p:nvSpPr>
          <p:cNvPr id="5" name="Text 3"/>
          <p:cNvSpPr/>
          <p:nvPr/>
        </p:nvSpPr>
        <p:spPr>
          <a:xfrm>
            <a:off x="548640" y="1691640"/>
            <a:ext cx="6583680" cy="45720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Think of a gift box, or a shagun lifafa. </a:t>
            </a:r>
            <a:pPr indent="0" marL="0">
              <a:buNone/>
            </a:pPr>
            <a:r>
              <a:rPr lang="en-US" sz="1500" dirty="0">
                <a:solidFill>
                  <a:srgbClr val="0F172A"/>
                </a:solidFill>
                <a:latin typeface="Calibri" pitchFamily="34" charset="0"/>
                <a:ea typeface="Calibri" pitchFamily="34" charset="-122"/>
                <a:cs typeface="Calibri" pitchFamily="34" charset="-120"/>
              </a:rPr>
              <a:t>The same four layers wrap every element on screen.</a:t>
            </a:r>
            <a:endParaRPr lang="en-US" sz="1500" dirty="0"/>
          </a:p>
        </p:txBody>
      </p:sp>
      <p:sp>
        <p:nvSpPr>
          <p:cNvPr id="6" name="Shape 4"/>
          <p:cNvSpPr/>
          <p:nvPr/>
        </p:nvSpPr>
        <p:spPr>
          <a:xfrm>
            <a:off x="548640" y="2286000"/>
            <a:ext cx="6400800" cy="804672"/>
          </a:xfrm>
          <a:prstGeom prst="roundRect">
            <a:avLst>
              <a:gd name="adj" fmla="val 9091"/>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7" name="Shape 5"/>
          <p:cNvSpPr/>
          <p:nvPr/>
        </p:nvSpPr>
        <p:spPr>
          <a:xfrm>
            <a:off x="658368" y="2395728"/>
            <a:ext cx="1371600" cy="585216"/>
          </a:xfrm>
          <a:prstGeom prst="roundRect">
            <a:avLst>
              <a:gd name="adj" fmla="val 9375"/>
            </a:avLst>
          </a:prstGeom>
          <a:solidFill>
            <a:srgbClr val="9CC5FF"/>
          </a:solidFill>
          <a:ln/>
        </p:spPr>
      </p:sp>
      <p:sp>
        <p:nvSpPr>
          <p:cNvPr id="8" name="Text 6"/>
          <p:cNvSpPr/>
          <p:nvPr/>
        </p:nvSpPr>
        <p:spPr>
          <a:xfrm>
            <a:off x="658368" y="2395728"/>
            <a:ext cx="1371600" cy="585216"/>
          </a:xfrm>
          <a:prstGeom prst="rect">
            <a:avLst/>
          </a:prstGeom>
          <a:noFill/>
          <a:ln/>
        </p:spPr>
        <p:txBody>
          <a:bodyPr wrap="square" lIns="0" tIns="0" rIns="0" bIns="0" rtlCol="0" anchor="ctr"/>
          <a:lstStyle/>
          <a:p>
            <a:pPr algn="ctr" indent="0" marL="0">
              <a:buNone/>
            </a:pPr>
            <a:r>
              <a:rPr lang="en-US" sz="1400" b="1" dirty="0">
                <a:solidFill>
                  <a:srgbClr val="1E4F9C"/>
                </a:solidFill>
                <a:latin typeface="Calibri" pitchFamily="34" charset="0"/>
                <a:ea typeface="Calibri" pitchFamily="34" charset="-122"/>
                <a:cs typeface="Calibri" pitchFamily="34" charset="-120"/>
              </a:rPr>
              <a:t>Content</a:t>
            </a:r>
            <a:endParaRPr lang="en-US" sz="1400" dirty="0"/>
          </a:p>
        </p:txBody>
      </p:sp>
      <p:sp>
        <p:nvSpPr>
          <p:cNvPr id="9" name="Text 7"/>
          <p:cNvSpPr/>
          <p:nvPr/>
        </p:nvSpPr>
        <p:spPr>
          <a:xfrm>
            <a:off x="2176272" y="2286000"/>
            <a:ext cx="4663440" cy="804672"/>
          </a:xfrm>
          <a:prstGeom prst="rect">
            <a:avLst/>
          </a:prstGeom>
          <a:noFill/>
          <a:ln/>
        </p:spPr>
        <p:txBody>
          <a:bodyPr wrap="square" lIns="0" tIns="0" rIns="0" bIns="0" rtlCol="0" anchor="ctr"/>
          <a:lstStyle/>
          <a:p>
            <a:pPr algn="l" indent="0" marL="0">
              <a:buNone/>
            </a:pPr>
            <a:r>
              <a:rPr lang="en-US" sz="1250" b="1" dirty="0">
                <a:solidFill>
                  <a:srgbClr val="1E4F9C"/>
                </a:solidFill>
                <a:latin typeface="Calibri" pitchFamily="34" charset="0"/>
                <a:ea typeface="Calibri" pitchFamily="34" charset="-122"/>
                <a:cs typeface="Calibri" pitchFamily="34" charset="-120"/>
              </a:rPr>
              <a:t>Real: </a:t>
            </a:r>
            <a:pPr algn="l" indent="0" marL="0">
              <a:buNone/>
            </a:pPr>
            <a:r>
              <a:rPr lang="en-US" sz="1250" dirty="0">
                <a:solidFill>
                  <a:srgbClr val="0F172A"/>
                </a:solidFill>
                <a:latin typeface="Calibri" pitchFamily="34" charset="0"/>
                <a:ea typeface="Calibri" pitchFamily="34" charset="-122"/>
                <a:cs typeface="Calibri" pitchFamily="34" charset="-120"/>
              </a:rPr>
              <a:t>The actual gift inside the box.   </a:t>
            </a:r>
            <a:pPr algn="l" indent="0" marL="0">
              <a:buNone/>
            </a:pPr>
            <a:r>
              <a:rPr lang="en-US" sz="1250" b="1" dirty="0">
                <a:solidFill>
                  <a:srgbClr val="2563EB"/>
                </a:solidFill>
                <a:latin typeface="Calibri" pitchFamily="34" charset="0"/>
                <a:ea typeface="Calibri" pitchFamily="34" charset="-122"/>
                <a:cs typeface="Calibri" pitchFamily="34" charset="-120"/>
              </a:rPr>
              <a:t>CSS: </a:t>
            </a:r>
            <a:pPr algn="l" indent="0" marL="0">
              <a:buNone/>
            </a:pPr>
            <a:r>
              <a:rPr lang="en-US" sz="1250" dirty="0">
                <a:solidFill>
                  <a:srgbClr val="64748B"/>
                </a:solidFill>
                <a:latin typeface="Calibri" pitchFamily="34" charset="0"/>
                <a:ea typeface="Calibri" pitchFamily="34" charset="-122"/>
                <a:cs typeface="Calibri" pitchFamily="34" charset="-120"/>
              </a:rPr>
              <a:t>The text or image itself.</a:t>
            </a:r>
            <a:endParaRPr lang="en-US" sz="1250" dirty="0"/>
          </a:p>
        </p:txBody>
      </p:sp>
      <p:sp>
        <p:nvSpPr>
          <p:cNvPr id="10" name="Shape 8"/>
          <p:cNvSpPr/>
          <p:nvPr/>
        </p:nvSpPr>
        <p:spPr>
          <a:xfrm>
            <a:off x="548640" y="3218688"/>
            <a:ext cx="6400800" cy="804672"/>
          </a:xfrm>
          <a:prstGeom prst="roundRect">
            <a:avLst>
              <a:gd name="adj" fmla="val 9091"/>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1" name="Shape 9"/>
          <p:cNvSpPr/>
          <p:nvPr/>
        </p:nvSpPr>
        <p:spPr>
          <a:xfrm>
            <a:off x="658368" y="3328416"/>
            <a:ext cx="1371600" cy="585216"/>
          </a:xfrm>
          <a:prstGeom prst="roundRect">
            <a:avLst>
              <a:gd name="adj" fmla="val 9375"/>
            </a:avLst>
          </a:prstGeom>
          <a:solidFill>
            <a:srgbClr val="A7E8B7"/>
          </a:solidFill>
          <a:ln/>
        </p:spPr>
      </p:sp>
      <p:sp>
        <p:nvSpPr>
          <p:cNvPr id="12" name="Text 10"/>
          <p:cNvSpPr/>
          <p:nvPr/>
        </p:nvSpPr>
        <p:spPr>
          <a:xfrm>
            <a:off x="658368" y="3328416"/>
            <a:ext cx="1371600" cy="585216"/>
          </a:xfrm>
          <a:prstGeom prst="rect">
            <a:avLst/>
          </a:prstGeom>
          <a:noFill/>
          <a:ln/>
        </p:spPr>
        <p:txBody>
          <a:bodyPr wrap="square" lIns="0" tIns="0" rIns="0" bIns="0" rtlCol="0" anchor="ctr"/>
          <a:lstStyle/>
          <a:p>
            <a:pPr algn="ctr" indent="0" marL="0">
              <a:buNone/>
            </a:pPr>
            <a:r>
              <a:rPr lang="en-US" sz="1400" b="1" dirty="0">
                <a:solidFill>
                  <a:srgbClr val="1B7A3B"/>
                </a:solidFill>
                <a:latin typeface="Calibri" pitchFamily="34" charset="0"/>
                <a:ea typeface="Calibri" pitchFamily="34" charset="-122"/>
                <a:cs typeface="Calibri" pitchFamily="34" charset="-120"/>
              </a:rPr>
              <a:t>Padding</a:t>
            </a:r>
            <a:endParaRPr lang="en-US" sz="1400" dirty="0"/>
          </a:p>
        </p:txBody>
      </p:sp>
      <p:sp>
        <p:nvSpPr>
          <p:cNvPr id="13" name="Text 11"/>
          <p:cNvSpPr/>
          <p:nvPr/>
        </p:nvSpPr>
        <p:spPr>
          <a:xfrm>
            <a:off x="2176272" y="3218688"/>
            <a:ext cx="4663440" cy="804672"/>
          </a:xfrm>
          <a:prstGeom prst="rect">
            <a:avLst/>
          </a:prstGeom>
          <a:noFill/>
          <a:ln/>
        </p:spPr>
        <p:txBody>
          <a:bodyPr wrap="square" lIns="0" tIns="0" rIns="0" bIns="0" rtlCol="0" anchor="ctr"/>
          <a:lstStyle/>
          <a:p>
            <a:pPr algn="l" indent="0" marL="0">
              <a:buNone/>
            </a:pPr>
            <a:r>
              <a:rPr lang="en-US" sz="1250" b="1" dirty="0">
                <a:solidFill>
                  <a:srgbClr val="1B7A3B"/>
                </a:solidFill>
                <a:latin typeface="Calibri" pitchFamily="34" charset="0"/>
                <a:ea typeface="Calibri" pitchFamily="34" charset="-122"/>
                <a:cs typeface="Calibri" pitchFamily="34" charset="-120"/>
              </a:rPr>
              <a:t>Real: </a:t>
            </a:r>
            <a:pPr algn="l" indent="0" marL="0">
              <a:buNone/>
            </a:pPr>
            <a:r>
              <a:rPr lang="en-US" sz="1250" dirty="0">
                <a:solidFill>
                  <a:srgbClr val="0F172A"/>
                </a:solidFill>
                <a:latin typeface="Calibri" pitchFamily="34" charset="0"/>
                <a:ea typeface="Calibri" pitchFamily="34" charset="-122"/>
                <a:cs typeface="Calibri" pitchFamily="34" charset="-120"/>
              </a:rPr>
              <a:t>Bubble wrap inside, hugging the gift.   </a:t>
            </a:r>
            <a:pPr algn="l" indent="0" marL="0">
              <a:buNone/>
            </a:pPr>
            <a:r>
              <a:rPr lang="en-US" sz="1250" b="1" dirty="0">
                <a:solidFill>
                  <a:srgbClr val="2563EB"/>
                </a:solidFill>
                <a:latin typeface="Calibri" pitchFamily="34" charset="0"/>
                <a:ea typeface="Calibri" pitchFamily="34" charset="-122"/>
                <a:cs typeface="Calibri" pitchFamily="34" charset="-120"/>
              </a:rPr>
              <a:t>CSS: </a:t>
            </a:r>
            <a:pPr algn="l" indent="0" marL="0">
              <a:buNone/>
            </a:pPr>
            <a:r>
              <a:rPr lang="en-US" sz="1250" dirty="0">
                <a:solidFill>
                  <a:srgbClr val="64748B"/>
                </a:solidFill>
                <a:latin typeface="Calibri" pitchFamily="34" charset="0"/>
                <a:ea typeface="Calibri" pitchFamily="34" charset="-122"/>
                <a:cs typeface="Calibri" pitchFamily="34" charset="-120"/>
              </a:rPr>
              <a:t>Space between content and border.</a:t>
            </a:r>
            <a:endParaRPr lang="en-US" sz="1250" dirty="0"/>
          </a:p>
        </p:txBody>
      </p:sp>
      <p:sp>
        <p:nvSpPr>
          <p:cNvPr id="14" name="Shape 12"/>
          <p:cNvSpPr/>
          <p:nvPr/>
        </p:nvSpPr>
        <p:spPr>
          <a:xfrm>
            <a:off x="548640" y="4151376"/>
            <a:ext cx="6400800" cy="804672"/>
          </a:xfrm>
          <a:prstGeom prst="roundRect">
            <a:avLst>
              <a:gd name="adj" fmla="val 9091"/>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5" name="Shape 13"/>
          <p:cNvSpPr/>
          <p:nvPr/>
        </p:nvSpPr>
        <p:spPr>
          <a:xfrm>
            <a:off x="658368" y="4261104"/>
            <a:ext cx="1371600" cy="585216"/>
          </a:xfrm>
          <a:prstGeom prst="roundRect">
            <a:avLst>
              <a:gd name="adj" fmla="val 9375"/>
            </a:avLst>
          </a:prstGeom>
          <a:solidFill>
            <a:srgbClr val="FBD34D"/>
          </a:solidFill>
          <a:ln/>
        </p:spPr>
      </p:sp>
      <p:sp>
        <p:nvSpPr>
          <p:cNvPr id="16" name="Text 14"/>
          <p:cNvSpPr/>
          <p:nvPr/>
        </p:nvSpPr>
        <p:spPr>
          <a:xfrm>
            <a:off x="658368" y="4261104"/>
            <a:ext cx="1371600" cy="585216"/>
          </a:xfrm>
          <a:prstGeom prst="rect">
            <a:avLst/>
          </a:prstGeom>
          <a:noFill/>
          <a:ln/>
        </p:spPr>
        <p:txBody>
          <a:bodyPr wrap="square" lIns="0" tIns="0" rIns="0" bIns="0" rtlCol="0" anchor="ctr"/>
          <a:lstStyle/>
          <a:p>
            <a:pPr algn="ctr" indent="0" marL="0">
              <a:buNone/>
            </a:pPr>
            <a:r>
              <a:rPr lang="en-US" sz="1400" b="1" dirty="0">
                <a:solidFill>
                  <a:srgbClr val="8A6D0B"/>
                </a:solidFill>
                <a:latin typeface="Calibri" pitchFamily="34" charset="0"/>
                <a:ea typeface="Calibri" pitchFamily="34" charset="-122"/>
                <a:cs typeface="Calibri" pitchFamily="34" charset="-120"/>
              </a:rPr>
              <a:t>Border</a:t>
            </a:r>
            <a:endParaRPr lang="en-US" sz="1400" dirty="0"/>
          </a:p>
        </p:txBody>
      </p:sp>
      <p:sp>
        <p:nvSpPr>
          <p:cNvPr id="17" name="Text 15"/>
          <p:cNvSpPr/>
          <p:nvPr/>
        </p:nvSpPr>
        <p:spPr>
          <a:xfrm>
            <a:off x="2176272" y="4151376"/>
            <a:ext cx="4663440" cy="804672"/>
          </a:xfrm>
          <a:prstGeom prst="rect">
            <a:avLst/>
          </a:prstGeom>
          <a:noFill/>
          <a:ln/>
        </p:spPr>
        <p:txBody>
          <a:bodyPr wrap="square" lIns="0" tIns="0" rIns="0" bIns="0" rtlCol="0" anchor="ctr"/>
          <a:lstStyle/>
          <a:p>
            <a:pPr algn="l" indent="0" marL="0">
              <a:buNone/>
            </a:pPr>
            <a:r>
              <a:rPr lang="en-US" sz="1250" b="1" dirty="0">
                <a:solidFill>
                  <a:srgbClr val="8A6D0B"/>
                </a:solidFill>
                <a:latin typeface="Calibri" pitchFamily="34" charset="0"/>
                <a:ea typeface="Calibri" pitchFamily="34" charset="-122"/>
                <a:cs typeface="Calibri" pitchFamily="34" charset="-120"/>
              </a:rPr>
              <a:t>Real: </a:t>
            </a:r>
            <a:pPr algn="l" indent="0" marL="0">
              <a:buNone/>
            </a:pPr>
            <a:r>
              <a:rPr lang="en-US" sz="1250" dirty="0">
                <a:solidFill>
                  <a:srgbClr val="0F172A"/>
                </a:solidFill>
                <a:latin typeface="Calibri" pitchFamily="34" charset="0"/>
                <a:ea typeface="Calibri" pitchFamily="34" charset="-122"/>
                <a:cs typeface="Calibri" pitchFamily="34" charset="-120"/>
              </a:rPr>
              <a:t>The cardboard walls of the box.   </a:t>
            </a:r>
            <a:pPr algn="l" indent="0" marL="0">
              <a:buNone/>
            </a:pPr>
            <a:r>
              <a:rPr lang="en-US" sz="1250" b="1" dirty="0">
                <a:solidFill>
                  <a:srgbClr val="2563EB"/>
                </a:solidFill>
                <a:latin typeface="Calibri" pitchFamily="34" charset="0"/>
                <a:ea typeface="Calibri" pitchFamily="34" charset="-122"/>
                <a:cs typeface="Calibri" pitchFamily="34" charset="-120"/>
              </a:rPr>
              <a:t>CSS: </a:t>
            </a:r>
            <a:pPr algn="l" indent="0" marL="0">
              <a:buNone/>
            </a:pPr>
            <a:r>
              <a:rPr lang="en-US" sz="1250" dirty="0">
                <a:solidFill>
                  <a:srgbClr val="64748B"/>
                </a:solidFill>
                <a:latin typeface="Calibri" pitchFamily="34" charset="0"/>
                <a:ea typeface="Calibri" pitchFamily="34" charset="-122"/>
                <a:cs typeface="Calibri" pitchFamily="34" charset="-120"/>
              </a:rPr>
              <a:t>The boundary around the padding.</a:t>
            </a:r>
            <a:endParaRPr lang="en-US" sz="1250" dirty="0"/>
          </a:p>
        </p:txBody>
      </p:sp>
      <p:sp>
        <p:nvSpPr>
          <p:cNvPr id="18" name="Shape 16"/>
          <p:cNvSpPr/>
          <p:nvPr/>
        </p:nvSpPr>
        <p:spPr>
          <a:xfrm>
            <a:off x="548640" y="5084064"/>
            <a:ext cx="6400800" cy="804672"/>
          </a:xfrm>
          <a:prstGeom prst="roundRect">
            <a:avLst>
              <a:gd name="adj" fmla="val 9091"/>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9" name="Shape 17"/>
          <p:cNvSpPr/>
          <p:nvPr/>
        </p:nvSpPr>
        <p:spPr>
          <a:xfrm>
            <a:off x="658368" y="5193792"/>
            <a:ext cx="1371600" cy="585216"/>
          </a:xfrm>
          <a:prstGeom prst="roundRect">
            <a:avLst>
              <a:gd name="adj" fmla="val 9375"/>
            </a:avLst>
          </a:prstGeom>
          <a:solidFill>
            <a:srgbClr val="F6C89A"/>
          </a:solidFill>
          <a:ln/>
        </p:spPr>
      </p:sp>
      <p:sp>
        <p:nvSpPr>
          <p:cNvPr id="20" name="Text 18"/>
          <p:cNvSpPr/>
          <p:nvPr/>
        </p:nvSpPr>
        <p:spPr>
          <a:xfrm>
            <a:off x="658368" y="5193792"/>
            <a:ext cx="1371600" cy="585216"/>
          </a:xfrm>
          <a:prstGeom prst="rect">
            <a:avLst/>
          </a:prstGeom>
          <a:noFill/>
          <a:ln/>
        </p:spPr>
        <p:txBody>
          <a:bodyPr wrap="square" lIns="0" tIns="0" rIns="0" bIns="0" rtlCol="0" anchor="ctr"/>
          <a:lstStyle/>
          <a:p>
            <a:pPr algn="ctr" indent="0" marL="0">
              <a:buNone/>
            </a:pPr>
            <a:r>
              <a:rPr lang="en-US" sz="1400" b="1" dirty="0">
                <a:solidFill>
                  <a:srgbClr val="8A5A24"/>
                </a:solidFill>
                <a:latin typeface="Calibri" pitchFamily="34" charset="0"/>
                <a:ea typeface="Calibri" pitchFamily="34" charset="-122"/>
                <a:cs typeface="Calibri" pitchFamily="34" charset="-120"/>
              </a:rPr>
              <a:t>Margin</a:t>
            </a:r>
            <a:endParaRPr lang="en-US" sz="1400" dirty="0"/>
          </a:p>
        </p:txBody>
      </p:sp>
      <p:sp>
        <p:nvSpPr>
          <p:cNvPr id="21" name="Text 19"/>
          <p:cNvSpPr/>
          <p:nvPr/>
        </p:nvSpPr>
        <p:spPr>
          <a:xfrm>
            <a:off x="2176272" y="5084064"/>
            <a:ext cx="4663440" cy="804672"/>
          </a:xfrm>
          <a:prstGeom prst="rect">
            <a:avLst/>
          </a:prstGeom>
          <a:noFill/>
          <a:ln/>
        </p:spPr>
        <p:txBody>
          <a:bodyPr wrap="square" lIns="0" tIns="0" rIns="0" bIns="0" rtlCol="0" anchor="ctr"/>
          <a:lstStyle/>
          <a:p>
            <a:pPr algn="l" indent="0" marL="0">
              <a:buNone/>
            </a:pPr>
            <a:r>
              <a:rPr lang="en-US" sz="1250" b="1" dirty="0">
                <a:solidFill>
                  <a:srgbClr val="8A5A24"/>
                </a:solidFill>
                <a:latin typeface="Calibri" pitchFamily="34" charset="0"/>
                <a:ea typeface="Calibri" pitchFamily="34" charset="-122"/>
                <a:cs typeface="Calibri" pitchFamily="34" charset="-120"/>
              </a:rPr>
              <a:t>Real: </a:t>
            </a:r>
            <a:pPr algn="l" indent="0" marL="0">
              <a:buNone/>
            </a:pPr>
            <a:r>
              <a:rPr lang="en-US" sz="1250" dirty="0">
                <a:solidFill>
                  <a:srgbClr val="0F172A"/>
                </a:solidFill>
                <a:latin typeface="Calibri" pitchFamily="34" charset="0"/>
                <a:ea typeface="Calibri" pitchFamily="34" charset="-122"/>
                <a:cs typeface="Calibri" pitchFamily="34" charset="-120"/>
              </a:rPr>
              <a:t>Gap to the next box on the shelf.   </a:t>
            </a:r>
            <a:pPr algn="l" indent="0" marL="0">
              <a:buNone/>
            </a:pPr>
            <a:r>
              <a:rPr lang="en-US" sz="1250" b="1" dirty="0">
                <a:solidFill>
                  <a:srgbClr val="2563EB"/>
                </a:solidFill>
                <a:latin typeface="Calibri" pitchFamily="34" charset="0"/>
                <a:ea typeface="Calibri" pitchFamily="34" charset="-122"/>
                <a:cs typeface="Calibri" pitchFamily="34" charset="-120"/>
              </a:rPr>
              <a:t>CSS: </a:t>
            </a:r>
            <a:pPr algn="l" indent="0" marL="0">
              <a:buNone/>
            </a:pPr>
            <a:r>
              <a:rPr lang="en-US" sz="1250" dirty="0">
                <a:solidFill>
                  <a:srgbClr val="64748B"/>
                </a:solidFill>
                <a:latin typeface="Calibri" pitchFamily="34" charset="0"/>
                <a:ea typeface="Calibri" pitchFamily="34" charset="-122"/>
                <a:cs typeface="Calibri" pitchFamily="34" charset="-120"/>
              </a:rPr>
              <a:t>Space outside, pushing others away.</a:t>
            </a:r>
            <a:endParaRPr lang="en-US" sz="1250" dirty="0"/>
          </a:p>
        </p:txBody>
      </p:sp>
      <p:sp>
        <p:nvSpPr>
          <p:cNvPr id="22" name="Text 20"/>
          <p:cNvSpPr/>
          <p:nvPr/>
        </p:nvSpPr>
        <p:spPr>
          <a:xfrm>
            <a:off x="7315200" y="1783080"/>
            <a:ext cx="4297680" cy="365760"/>
          </a:xfrm>
          <a:prstGeom prst="rect">
            <a:avLst/>
          </a:prstGeom>
          <a:noFill/>
          <a:ln/>
        </p:spPr>
        <p:txBody>
          <a:bodyPr wrap="square" lIns="0" tIns="0" rIns="0" bIns="0" rtlCol="0" anchor="ctr"/>
          <a:lstStyle/>
          <a:p>
            <a:pPr algn="ctr" indent="0" marL="0">
              <a:buNone/>
            </a:pPr>
            <a:r>
              <a:rPr lang="en-US" sz="1300" b="1" dirty="0">
                <a:solidFill>
                  <a:srgbClr val="64748B"/>
                </a:solidFill>
                <a:latin typeface="Calibri" pitchFamily="34" charset="0"/>
                <a:ea typeface="Calibri" pitchFamily="34" charset="-122"/>
                <a:cs typeface="Calibri" pitchFamily="34" charset="-120"/>
              </a:rPr>
              <a:t>This is exactly what DevTools shows</a:t>
            </a:r>
            <a:endParaRPr lang="en-US" sz="1300" dirty="0"/>
          </a:p>
        </p:txBody>
      </p:sp>
      <p:sp>
        <p:nvSpPr>
          <p:cNvPr id="23" name="Shape 21"/>
          <p:cNvSpPr/>
          <p:nvPr/>
        </p:nvSpPr>
        <p:spPr>
          <a:xfrm>
            <a:off x="7360920" y="2240280"/>
            <a:ext cx="4160520" cy="3611880"/>
          </a:xfrm>
          <a:prstGeom prst="rect">
            <a:avLst/>
          </a:prstGeom>
          <a:solidFill>
            <a:srgbClr val="F6C89A"/>
          </a:solidFill>
          <a:ln/>
        </p:spPr>
      </p:sp>
      <p:sp>
        <p:nvSpPr>
          <p:cNvPr id="24" name="Shape 22"/>
          <p:cNvSpPr/>
          <p:nvPr/>
        </p:nvSpPr>
        <p:spPr>
          <a:xfrm>
            <a:off x="7927848" y="2807208"/>
            <a:ext cx="3026664" cy="2478024"/>
          </a:xfrm>
          <a:prstGeom prst="rect">
            <a:avLst/>
          </a:prstGeom>
          <a:solidFill>
            <a:srgbClr val="FBD34D"/>
          </a:solidFill>
          <a:ln/>
        </p:spPr>
      </p:sp>
      <p:sp>
        <p:nvSpPr>
          <p:cNvPr id="25" name="Shape 23"/>
          <p:cNvSpPr/>
          <p:nvPr/>
        </p:nvSpPr>
        <p:spPr>
          <a:xfrm>
            <a:off x="8311896" y="3191256"/>
            <a:ext cx="2258568" cy="1709928"/>
          </a:xfrm>
          <a:prstGeom prst="rect">
            <a:avLst/>
          </a:prstGeom>
          <a:solidFill>
            <a:srgbClr val="A7E8B7"/>
          </a:solidFill>
          <a:ln/>
        </p:spPr>
      </p:sp>
      <p:sp>
        <p:nvSpPr>
          <p:cNvPr id="26" name="Shape 24"/>
          <p:cNvSpPr/>
          <p:nvPr/>
        </p:nvSpPr>
        <p:spPr>
          <a:xfrm>
            <a:off x="8878824" y="3758184"/>
            <a:ext cx="1124712" cy="576072"/>
          </a:xfrm>
          <a:prstGeom prst="rect">
            <a:avLst/>
          </a:prstGeom>
          <a:solidFill>
            <a:srgbClr val="9CC5FF"/>
          </a:solidFill>
          <a:ln/>
        </p:spPr>
      </p:sp>
      <p:sp>
        <p:nvSpPr>
          <p:cNvPr id="27" name="Text 25"/>
          <p:cNvSpPr/>
          <p:nvPr/>
        </p:nvSpPr>
        <p:spPr>
          <a:xfrm>
            <a:off x="8878824" y="3758184"/>
            <a:ext cx="1124712" cy="576072"/>
          </a:xfrm>
          <a:prstGeom prst="rect">
            <a:avLst/>
          </a:prstGeom>
          <a:noFill/>
          <a:ln/>
        </p:spPr>
        <p:txBody>
          <a:bodyPr wrap="square" lIns="0" tIns="0" rIns="0" bIns="0" rtlCol="0" anchor="ctr"/>
          <a:lstStyle/>
          <a:p>
            <a:pPr algn="ctr" indent="0" marL="0">
              <a:buNone/>
            </a:pPr>
            <a:r>
              <a:rPr lang="en-US" sz="1400" b="1" dirty="0">
                <a:solidFill>
                  <a:srgbClr val="1E4F9C"/>
                </a:solidFill>
                <a:latin typeface="Courier New" pitchFamily="34" charset="0"/>
                <a:ea typeface="Courier New" pitchFamily="34" charset="-122"/>
                <a:cs typeface="Courier New" pitchFamily="34" charset="-120"/>
              </a:rPr>
              <a:t>content</a:t>
            </a:r>
            <a:endParaRPr lang="en-US" sz="1400" dirty="0"/>
          </a:p>
        </p:txBody>
      </p:sp>
      <p:sp>
        <p:nvSpPr>
          <p:cNvPr id="28" name="Text 26"/>
          <p:cNvSpPr/>
          <p:nvPr/>
        </p:nvSpPr>
        <p:spPr>
          <a:xfrm>
            <a:off x="7434072" y="2295144"/>
            <a:ext cx="1188720" cy="256032"/>
          </a:xfrm>
          <a:prstGeom prst="rect">
            <a:avLst/>
          </a:prstGeom>
          <a:noFill/>
          <a:ln/>
        </p:spPr>
        <p:txBody>
          <a:bodyPr wrap="square" lIns="0" tIns="0" rIns="0" bIns="0" rtlCol="0" anchor="ctr"/>
          <a:lstStyle/>
          <a:p>
            <a:pPr algn="l" indent="0" marL="0">
              <a:buNone/>
            </a:pPr>
            <a:r>
              <a:rPr lang="en-US" sz="1200" b="1" dirty="0">
                <a:solidFill>
                  <a:srgbClr val="8A5A24"/>
                </a:solidFill>
                <a:latin typeface="Calibri" pitchFamily="34" charset="0"/>
                <a:ea typeface="Calibri" pitchFamily="34" charset="-122"/>
                <a:cs typeface="Calibri" pitchFamily="34" charset="-120"/>
              </a:rPr>
              <a:t>margin</a:t>
            </a:r>
            <a:endParaRPr lang="en-US" sz="1200" dirty="0"/>
          </a:p>
        </p:txBody>
      </p:sp>
      <p:sp>
        <p:nvSpPr>
          <p:cNvPr id="29" name="Text 27"/>
          <p:cNvSpPr/>
          <p:nvPr/>
        </p:nvSpPr>
        <p:spPr>
          <a:xfrm>
            <a:off x="7982712" y="2843784"/>
            <a:ext cx="1188720" cy="256032"/>
          </a:xfrm>
          <a:prstGeom prst="rect">
            <a:avLst/>
          </a:prstGeom>
          <a:noFill/>
          <a:ln/>
        </p:spPr>
        <p:txBody>
          <a:bodyPr wrap="square" lIns="0" tIns="0" rIns="0" bIns="0" rtlCol="0" anchor="ctr"/>
          <a:lstStyle/>
          <a:p>
            <a:pPr algn="l" indent="0" marL="0">
              <a:buNone/>
            </a:pPr>
            <a:r>
              <a:rPr lang="en-US" sz="1200" b="1" dirty="0">
                <a:solidFill>
                  <a:srgbClr val="8A6D0B"/>
                </a:solidFill>
                <a:latin typeface="Calibri" pitchFamily="34" charset="0"/>
                <a:ea typeface="Calibri" pitchFamily="34" charset="-122"/>
                <a:cs typeface="Calibri" pitchFamily="34" charset="-120"/>
              </a:rPr>
              <a:t>border</a:t>
            </a:r>
            <a:endParaRPr lang="en-US" sz="1200" dirty="0"/>
          </a:p>
        </p:txBody>
      </p:sp>
      <p:sp>
        <p:nvSpPr>
          <p:cNvPr id="30" name="Text 28"/>
          <p:cNvSpPr/>
          <p:nvPr/>
        </p:nvSpPr>
        <p:spPr>
          <a:xfrm>
            <a:off x="8366760" y="3227832"/>
            <a:ext cx="1188720" cy="256032"/>
          </a:xfrm>
          <a:prstGeom prst="rect">
            <a:avLst/>
          </a:prstGeom>
          <a:noFill/>
          <a:ln/>
        </p:spPr>
        <p:txBody>
          <a:bodyPr wrap="square" lIns="0" tIns="0" rIns="0" bIns="0" rtlCol="0" anchor="ctr"/>
          <a:lstStyle/>
          <a:p>
            <a:pPr algn="l" indent="0" marL="0">
              <a:buNone/>
            </a:pPr>
            <a:r>
              <a:rPr lang="en-US" sz="1200" b="1" dirty="0">
                <a:solidFill>
                  <a:srgbClr val="1B7A3B"/>
                </a:solidFill>
                <a:latin typeface="Calibri" pitchFamily="34" charset="0"/>
                <a:ea typeface="Calibri" pitchFamily="34" charset="-122"/>
                <a:cs typeface="Calibri" pitchFamily="34" charset="-120"/>
              </a:rPr>
              <a:t>padding</a:t>
            </a:r>
            <a:endParaRPr lang="en-US" sz="1200" dirty="0"/>
          </a:p>
        </p:txBody>
      </p:sp>
      <p:sp>
        <p:nvSpPr>
          <p:cNvPr id="31" name="Text 29"/>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32" name="Text 30"/>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ANATOMY</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Read the box like DevTools</a:t>
            </a:r>
            <a:endParaRPr lang="en-US" sz="3400" dirty="0"/>
          </a:p>
        </p:txBody>
      </p:sp>
      <p:sp>
        <p:nvSpPr>
          <p:cNvPr id="5" name="Shape 3"/>
          <p:cNvSpPr/>
          <p:nvPr/>
        </p:nvSpPr>
        <p:spPr>
          <a:xfrm>
            <a:off x="640080" y="1737360"/>
            <a:ext cx="5669280" cy="4206240"/>
          </a:xfrm>
          <a:prstGeom prst="rect">
            <a:avLst/>
          </a:prstGeom>
          <a:solidFill>
            <a:srgbClr val="F6C89A"/>
          </a:solidFill>
          <a:ln/>
        </p:spPr>
      </p:sp>
      <p:sp>
        <p:nvSpPr>
          <p:cNvPr id="6" name="Shape 4"/>
          <p:cNvSpPr/>
          <p:nvPr/>
        </p:nvSpPr>
        <p:spPr>
          <a:xfrm>
            <a:off x="1207008" y="2304288"/>
            <a:ext cx="4535424" cy="3072384"/>
          </a:xfrm>
          <a:prstGeom prst="rect">
            <a:avLst/>
          </a:prstGeom>
          <a:solidFill>
            <a:srgbClr val="FBD34D"/>
          </a:solidFill>
          <a:ln/>
        </p:spPr>
      </p:sp>
      <p:sp>
        <p:nvSpPr>
          <p:cNvPr id="7" name="Shape 5"/>
          <p:cNvSpPr/>
          <p:nvPr/>
        </p:nvSpPr>
        <p:spPr>
          <a:xfrm>
            <a:off x="1591056" y="2688336"/>
            <a:ext cx="3767328" cy="2304288"/>
          </a:xfrm>
          <a:prstGeom prst="rect">
            <a:avLst/>
          </a:prstGeom>
          <a:solidFill>
            <a:srgbClr val="A7E8B7"/>
          </a:solidFill>
          <a:ln/>
        </p:spPr>
      </p:sp>
      <p:sp>
        <p:nvSpPr>
          <p:cNvPr id="8" name="Shape 6"/>
          <p:cNvSpPr/>
          <p:nvPr/>
        </p:nvSpPr>
        <p:spPr>
          <a:xfrm>
            <a:off x="2157984" y="3255264"/>
            <a:ext cx="2633472" cy="1170432"/>
          </a:xfrm>
          <a:prstGeom prst="rect">
            <a:avLst/>
          </a:prstGeom>
          <a:solidFill>
            <a:srgbClr val="9CC5FF"/>
          </a:solidFill>
          <a:ln/>
        </p:spPr>
      </p:sp>
      <p:sp>
        <p:nvSpPr>
          <p:cNvPr id="9" name="Text 7"/>
          <p:cNvSpPr/>
          <p:nvPr/>
        </p:nvSpPr>
        <p:spPr>
          <a:xfrm>
            <a:off x="2157984" y="3255264"/>
            <a:ext cx="2633472" cy="1170432"/>
          </a:xfrm>
          <a:prstGeom prst="rect">
            <a:avLst/>
          </a:prstGeom>
          <a:noFill/>
          <a:ln/>
        </p:spPr>
        <p:txBody>
          <a:bodyPr wrap="square" lIns="0" tIns="0" rIns="0" bIns="0" rtlCol="0" anchor="ctr"/>
          <a:lstStyle/>
          <a:p>
            <a:pPr algn="ctr" indent="0" marL="0">
              <a:buNone/>
            </a:pPr>
            <a:r>
              <a:rPr lang="en-US" sz="1400" b="1" dirty="0">
                <a:solidFill>
                  <a:srgbClr val="1E4F9C"/>
                </a:solidFill>
                <a:latin typeface="Courier New" pitchFamily="34" charset="0"/>
                <a:ea typeface="Courier New" pitchFamily="34" charset="-122"/>
                <a:cs typeface="Courier New" pitchFamily="34" charset="-120"/>
              </a:rPr>
              <a:t>content</a:t>
            </a:r>
            <a:endParaRPr lang="en-US" sz="1400" dirty="0"/>
          </a:p>
        </p:txBody>
      </p:sp>
      <p:sp>
        <p:nvSpPr>
          <p:cNvPr id="10" name="Text 8"/>
          <p:cNvSpPr/>
          <p:nvPr/>
        </p:nvSpPr>
        <p:spPr>
          <a:xfrm>
            <a:off x="713232" y="1792224"/>
            <a:ext cx="1188720" cy="256032"/>
          </a:xfrm>
          <a:prstGeom prst="rect">
            <a:avLst/>
          </a:prstGeom>
          <a:noFill/>
          <a:ln/>
        </p:spPr>
        <p:txBody>
          <a:bodyPr wrap="square" lIns="0" tIns="0" rIns="0" bIns="0" rtlCol="0" anchor="ctr"/>
          <a:lstStyle/>
          <a:p>
            <a:pPr algn="l" indent="0" marL="0">
              <a:buNone/>
            </a:pPr>
            <a:r>
              <a:rPr lang="en-US" sz="1200" b="1" dirty="0">
                <a:solidFill>
                  <a:srgbClr val="8A5A24"/>
                </a:solidFill>
                <a:latin typeface="Calibri" pitchFamily="34" charset="0"/>
                <a:ea typeface="Calibri" pitchFamily="34" charset="-122"/>
                <a:cs typeface="Calibri" pitchFamily="34" charset="-120"/>
              </a:rPr>
              <a:t>margin</a:t>
            </a:r>
            <a:endParaRPr lang="en-US" sz="1200" dirty="0"/>
          </a:p>
        </p:txBody>
      </p:sp>
      <p:sp>
        <p:nvSpPr>
          <p:cNvPr id="11" name="Text 9"/>
          <p:cNvSpPr/>
          <p:nvPr/>
        </p:nvSpPr>
        <p:spPr>
          <a:xfrm>
            <a:off x="1261872" y="2340864"/>
            <a:ext cx="1188720" cy="256032"/>
          </a:xfrm>
          <a:prstGeom prst="rect">
            <a:avLst/>
          </a:prstGeom>
          <a:noFill/>
          <a:ln/>
        </p:spPr>
        <p:txBody>
          <a:bodyPr wrap="square" lIns="0" tIns="0" rIns="0" bIns="0" rtlCol="0" anchor="ctr"/>
          <a:lstStyle/>
          <a:p>
            <a:pPr algn="l" indent="0" marL="0">
              <a:buNone/>
            </a:pPr>
            <a:r>
              <a:rPr lang="en-US" sz="1200" b="1" dirty="0">
                <a:solidFill>
                  <a:srgbClr val="8A6D0B"/>
                </a:solidFill>
                <a:latin typeface="Calibri" pitchFamily="34" charset="0"/>
                <a:ea typeface="Calibri" pitchFamily="34" charset="-122"/>
                <a:cs typeface="Calibri" pitchFamily="34" charset="-120"/>
              </a:rPr>
              <a:t>border</a:t>
            </a:r>
            <a:endParaRPr lang="en-US" sz="1200" dirty="0"/>
          </a:p>
        </p:txBody>
      </p:sp>
      <p:sp>
        <p:nvSpPr>
          <p:cNvPr id="12" name="Text 10"/>
          <p:cNvSpPr/>
          <p:nvPr/>
        </p:nvSpPr>
        <p:spPr>
          <a:xfrm>
            <a:off x="1645920" y="2724912"/>
            <a:ext cx="1188720" cy="256032"/>
          </a:xfrm>
          <a:prstGeom prst="rect">
            <a:avLst/>
          </a:prstGeom>
          <a:noFill/>
          <a:ln/>
        </p:spPr>
        <p:txBody>
          <a:bodyPr wrap="square" lIns="0" tIns="0" rIns="0" bIns="0" rtlCol="0" anchor="ctr"/>
          <a:lstStyle/>
          <a:p>
            <a:pPr algn="l" indent="0" marL="0">
              <a:buNone/>
            </a:pPr>
            <a:r>
              <a:rPr lang="en-US" sz="1200" b="1" dirty="0">
                <a:solidFill>
                  <a:srgbClr val="1B7A3B"/>
                </a:solidFill>
                <a:latin typeface="Calibri" pitchFamily="34" charset="0"/>
                <a:ea typeface="Calibri" pitchFamily="34" charset="-122"/>
                <a:cs typeface="Calibri" pitchFamily="34" charset="-120"/>
              </a:rPr>
              <a:t>padding</a:t>
            </a:r>
            <a:endParaRPr lang="en-US" sz="1200" dirty="0"/>
          </a:p>
        </p:txBody>
      </p:sp>
      <p:sp>
        <p:nvSpPr>
          <p:cNvPr id="13" name="Shape 11"/>
          <p:cNvSpPr/>
          <p:nvPr/>
        </p:nvSpPr>
        <p:spPr>
          <a:xfrm>
            <a:off x="6766560" y="1965960"/>
            <a:ext cx="4846320" cy="777240"/>
          </a:xfrm>
          <a:prstGeom prst="roundRect">
            <a:avLst>
              <a:gd name="adj" fmla="val 1411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4" name="Shape 12"/>
          <p:cNvSpPr/>
          <p:nvPr/>
        </p:nvSpPr>
        <p:spPr>
          <a:xfrm>
            <a:off x="6949440" y="2130552"/>
            <a:ext cx="457200" cy="457200"/>
          </a:xfrm>
          <a:prstGeom prst="roundRect">
            <a:avLst>
              <a:gd name="adj" fmla="val 16000"/>
            </a:avLst>
          </a:prstGeom>
          <a:solidFill>
            <a:srgbClr val="9CC5FF"/>
          </a:solidFill>
          <a:ln w="6350">
            <a:solidFill>
              <a:srgbClr val="0F172A"/>
            </a:solidFill>
            <a:prstDash val="solid"/>
          </a:ln>
        </p:spPr>
      </p:sp>
      <p:sp>
        <p:nvSpPr>
          <p:cNvPr id="15" name="Text 13"/>
          <p:cNvSpPr/>
          <p:nvPr/>
        </p:nvSpPr>
        <p:spPr>
          <a:xfrm>
            <a:off x="7543800" y="2057400"/>
            <a:ext cx="393192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Content</a:t>
            </a:r>
            <a:endParaRPr lang="en-US" sz="1600" dirty="0"/>
          </a:p>
        </p:txBody>
      </p:sp>
      <p:sp>
        <p:nvSpPr>
          <p:cNvPr id="16" name="Text 14"/>
          <p:cNvSpPr/>
          <p:nvPr/>
        </p:nvSpPr>
        <p:spPr>
          <a:xfrm>
            <a:off x="7543800" y="2368296"/>
            <a:ext cx="3931920" cy="274320"/>
          </a:xfrm>
          <a:prstGeom prst="rect">
            <a:avLst/>
          </a:prstGeom>
          <a:noFill/>
          <a:ln/>
        </p:spPr>
        <p:txBody>
          <a:bodyPr wrap="square" lIns="0" tIns="0" rIns="0" bIns="0" rtlCol="0" anchor="ctr"/>
          <a:lstStyle/>
          <a:p>
            <a:pPr algn="l" indent="0" marL="0">
              <a:buNone/>
            </a:pPr>
            <a:r>
              <a:rPr lang="en-US" sz="1250" dirty="0">
                <a:solidFill>
                  <a:srgbClr val="64748B"/>
                </a:solidFill>
                <a:latin typeface="Calibri" pitchFamily="34" charset="0"/>
                <a:ea typeface="Calibri" pitchFamily="34" charset="-122"/>
                <a:cs typeface="Calibri" pitchFamily="34" charset="-120"/>
              </a:rPr>
              <a:t>width x height you set</a:t>
            </a:r>
            <a:endParaRPr lang="en-US" sz="1250" dirty="0"/>
          </a:p>
        </p:txBody>
      </p:sp>
      <p:sp>
        <p:nvSpPr>
          <p:cNvPr id="17" name="Shape 15"/>
          <p:cNvSpPr/>
          <p:nvPr/>
        </p:nvSpPr>
        <p:spPr>
          <a:xfrm>
            <a:off x="6766560" y="2898648"/>
            <a:ext cx="4846320" cy="777240"/>
          </a:xfrm>
          <a:prstGeom prst="roundRect">
            <a:avLst>
              <a:gd name="adj" fmla="val 1411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8" name="Shape 16"/>
          <p:cNvSpPr/>
          <p:nvPr/>
        </p:nvSpPr>
        <p:spPr>
          <a:xfrm>
            <a:off x="6949440" y="3063240"/>
            <a:ext cx="457200" cy="457200"/>
          </a:xfrm>
          <a:prstGeom prst="roundRect">
            <a:avLst>
              <a:gd name="adj" fmla="val 16000"/>
            </a:avLst>
          </a:prstGeom>
          <a:solidFill>
            <a:srgbClr val="A7E8B7"/>
          </a:solidFill>
          <a:ln w="6350">
            <a:solidFill>
              <a:srgbClr val="0F172A"/>
            </a:solidFill>
            <a:prstDash val="solid"/>
          </a:ln>
        </p:spPr>
      </p:sp>
      <p:sp>
        <p:nvSpPr>
          <p:cNvPr id="19" name="Text 17"/>
          <p:cNvSpPr/>
          <p:nvPr/>
        </p:nvSpPr>
        <p:spPr>
          <a:xfrm>
            <a:off x="7543800" y="2990088"/>
            <a:ext cx="393192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Padding</a:t>
            </a:r>
            <a:endParaRPr lang="en-US" sz="1600" dirty="0"/>
          </a:p>
        </p:txBody>
      </p:sp>
      <p:sp>
        <p:nvSpPr>
          <p:cNvPr id="20" name="Text 18"/>
          <p:cNvSpPr/>
          <p:nvPr/>
        </p:nvSpPr>
        <p:spPr>
          <a:xfrm>
            <a:off x="7543800" y="3300984"/>
            <a:ext cx="3931920" cy="274320"/>
          </a:xfrm>
          <a:prstGeom prst="rect">
            <a:avLst/>
          </a:prstGeom>
          <a:noFill/>
          <a:ln/>
        </p:spPr>
        <p:txBody>
          <a:bodyPr wrap="square" lIns="0" tIns="0" rIns="0" bIns="0" rtlCol="0" anchor="ctr"/>
          <a:lstStyle/>
          <a:p>
            <a:pPr algn="l" indent="0" marL="0">
              <a:buNone/>
            </a:pPr>
            <a:r>
              <a:rPr lang="en-US" sz="1250" dirty="0">
                <a:solidFill>
                  <a:srgbClr val="64748B"/>
                </a:solidFill>
                <a:latin typeface="Calibri" pitchFamily="34" charset="0"/>
                <a:ea typeface="Calibri" pitchFamily="34" charset="-122"/>
                <a:cs typeface="Calibri" pitchFamily="34" charset="-120"/>
              </a:rPr>
              <a:t>inner cushioning</a:t>
            </a:r>
            <a:endParaRPr lang="en-US" sz="1250" dirty="0"/>
          </a:p>
        </p:txBody>
      </p:sp>
      <p:sp>
        <p:nvSpPr>
          <p:cNvPr id="21" name="Shape 19"/>
          <p:cNvSpPr/>
          <p:nvPr/>
        </p:nvSpPr>
        <p:spPr>
          <a:xfrm>
            <a:off x="6766560" y="3831336"/>
            <a:ext cx="4846320" cy="777240"/>
          </a:xfrm>
          <a:prstGeom prst="roundRect">
            <a:avLst>
              <a:gd name="adj" fmla="val 1411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2" name="Shape 20"/>
          <p:cNvSpPr/>
          <p:nvPr/>
        </p:nvSpPr>
        <p:spPr>
          <a:xfrm>
            <a:off x="6949440" y="3995928"/>
            <a:ext cx="457200" cy="457200"/>
          </a:xfrm>
          <a:prstGeom prst="roundRect">
            <a:avLst>
              <a:gd name="adj" fmla="val 16000"/>
            </a:avLst>
          </a:prstGeom>
          <a:solidFill>
            <a:srgbClr val="FBD34D"/>
          </a:solidFill>
          <a:ln w="6350">
            <a:solidFill>
              <a:srgbClr val="0F172A"/>
            </a:solidFill>
            <a:prstDash val="solid"/>
          </a:ln>
        </p:spPr>
      </p:sp>
      <p:sp>
        <p:nvSpPr>
          <p:cNvPr id="23" name="Text 21"/>
          <p:cNvSpPr/>
          <p:nvPr/>
        </p:nvSpPr>
        <p:spPr>
          <a:xfrm>
            <a:off x="7543800" y="3922776"/>
            <a:ext cx="393192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Border</a:t>
            </a:r>
            <a:endParaRPr lang="en-US" sz="1600" dirty="0"/>
          </a:p>
        </p:txBody>
      </p:sp>
      <p:sp>
        <p:nvSpPr>
          <p:cNvPr id="24" name="Text 22"/>
          <p:cNvSpPr/>
          <p:nvPr/>
        </p:nvSpPr>
        <p:spPr>
          <a:xfrm>
            <a:off x="7543800" y="4233672"/>
            <a:ext cx="3931920" cy="274320"/>
          </a:xfrm>
          <a:prstGeom prst="rect">
            <a:avLst/>
          </a:prstGeom>
          <a:noFill/>
          <a:ln/>
        </p:spPr>
        <p:txBody>
          <a:bodyPr wrap="square" lIns="0" tIns="0" rIns="0" bIns="0" rtlCol="0" anchor="ctr"/>
          <a:lstStyle/>
          <a:p>
            <a:pPr algn="l" indent="0" marL="0">
              <a:buNone/>
            </a:pPr>
            <a:r>
              <a:rPr lang="en-US" sz="1250" dirty="0">
                <a:solidFill>
                  <a:srgbClr val="64748B"/>
                </a:solidFill>
                <a:latin typeface="Calibri" pitchFamily="34" charset="0"/>
                <a:ea typeface="Calibri" pitchFamily="34" charset="-122"/>
                <a:cs typeface="Calibri" pitchFamily="34" charset="-120"/>
              </a:rPr>
              <a:t>the visible edge</a:t>
            </a:r>
            <a:endParaRPr lang="en-US" sz="1250" dirty="0"/>
          </a:p>
        </p:txBody>
      </p:sp>
      <p:sp>
        <p:nvSpPr>
          <p:cNvPr id="25" name="Shape 23"/>
          <p:cNvSpPr/>
          <p:nvPr/>
        </p:nvSpPr>
        <p:spPr>
          <a:xfrm>
            <a:off x="6766560" y="4764024"/>
            <a:ext cx="4846320" cy="777240"/>
          </a:xfrm>
          <a:prstGeom prst="roundRect">
            <a:avLst>
              <a:gd name="adj" fmla="val 1411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6" name="Shape 24"/>
          <p:cNvSpPr/>
          <p:nvPr/>
        </p:nvSpPr>
        <p:spPr>
          <a:xfrm>
            <a:off x="6949440" y="4928616"/>
            <a:ext cx="457200" cy="457200"/>
          </a:xfrm>
          <a:prstGeom prst="roundRect">
            <a:avLst>
              <a:gd name="adj" fmla="val 16000"/>
            </a:avLst>
          </a:prstGeom>
          <a:solidFill>
            <a:srgbClr val="F6C89A"/>
          </a:solidFill>
          <a:ln w="6350">
            <a:solidFill>
              <a:srgbClr val="0F172A"/>
            </a:solidFill>
            <a:prstDash val="solid"/>
          </a:ln>
        </p:spPr>
      </p:sp>
      <p:sp>
        <p:nvSpPr>
          <p:cNvPr id="27" name="Text 25"/>
          <p:cNvSpPr/>
          <p:nvPr/>
        </p:nvSpPr>
        <p:spPr>
          <a:xfrm>
            <a:off x="7543800" y="4855464"/>
            <a:ext cx="3931920" cy="32004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Margin</a:t>
            </a:r>
            <a:endParaRPr lang="en-US" sz="1600" dirty="0"/>
          </a:p>
        </p:txBody>
      </p:sp>
      <p:sp>
        <p:nvSpPr>
          <p:cNvPr id="28" name="Text 26"/>
          <p:cNvSpPr/>
          <p:nvPr/>
        </p:nvSpPr>
        <p:spPr>
          <a:xfrm>
            <a:off x="7543800" y="5166360"/>
            <a:ext cx="3931920" cy="274320"/>
          </a:xfrm>
          <a:prstGeom prst="rect">
            <a:avLst/>
          </a:prstGeom>
          <a:noFill/>
          <a:ln/>
        </p:spPr>
        <p:txBody>
          <a:bodyPr wrap="square" lIns="0" tIns="0" rIns="0" bIns="0" rtlCol="0" anchor="ctr"/>
          <a:lstStyle/>
          <a:p>
            <a:pPr algn="l" indent="0" marL="0">
              <a:buNone/>
            </a:pPr>
            <a:r>
              <a:rPr lang="en-US" sz="1250" dirty="0">
                <a:solidFill>
                  <a:srgbClr val="64748B"/>
                </a:solidFill>
                <a:latin typeface="Calibri" pitchFamily="34" charset="0"/>
                <a:ea typeface="Calibri" pitchFamily="34" charset="-122"/>
                <a:cs typeface="Calibri" pitchFamily="34" charset="-120"/>
              </a:rPr>
              <a:t>outer breathing room</a:t>
            </a:r>
            <a:endParaRPr lang="en-US" sz="1250" dirty="0"/>
          </a:p>
        </p:txBody>
      </p:sp>
      <p:sp>
        <p:nvSpPr>
          <p:cNvPr id="29" name="Shape 27"/>
          <p:cNvSpPr/>
          <p:nvPr/>
        </p:nvSpPr>
        <p:spPr>
          <a:xfrm>
            <a:off x="640080" y="6035040"/>
            <a:ext cx="5669280" cy="548640"/>
          </a:xfrm>
          <a:prstGeom prst="roundRect">
            <a:avLst>
              <a:gd name="adj" fmla="val 20000"/>
            </a:avLst>
          </a:prstGeom>
          <a:solidFill>
            <a:srgbClr val="E7FBEF"/>
          </a:solidFill>
          <a:ln/>
        </p:spPr>
      </p:sp>
      <p:sp>
        <p:nvSpPr>
          <p:cNvPr id="30" name="Shape 28"/>
          <p:cNvSpPr/>
          <p:nvPr/>
        </p:nvSpPr>
        <p:spPr>
          <a:xfrm>
            <a:off x="841248" y="6181344"/>
            <a:ext cx="256032" cy="256032"/>
          </a:xfrm>
          <a:prstGeom prst="ellipse">
            <a:avLst/>
          </a:prstGeom>
          <a:solidFill>
            <a:srgbClr val="22C55E"/>
          </a:solidFill>
          <a:ln/>
        </p:spPr>
      </p:sp>
      <p:sp>
        <p:nvSpPr>
          <p:cNvPr id="31" name="Text 29"/>
          <p:cNvSpPr/>
          <p:nvPr/>
        </p:nvSpPr>
        <p:spPr>
          <a:xfrm>
            <a:off x="1298448" y="6035040"/>
            <a:ext cx="4800600" cy="548640"/>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These four colors match Chrome's Inspect panel. Learn them here, recognise them there.</a:t>
            </a:r>
            <a:endParaRPr lang="en-US" sz="1400" dirty="0"/>
          </a:p>
        </p:txBody>
      </p:sp>
      <p:sp>
        <p:nvSpPr>
          <p:cNvPr id="32" name="Text 30"/>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33" name="Text 31"/>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502920"/>
            <a:ext cx="1371600" cy="310896"/>
          </a:xfrm>
          <a:prstGeom prst="roundRect">
            <a:avLst>
              <a:gd name="adj" fmla="val 50000"/>
            </a:avLst>
          </a:prstGeom>
          <a:solidFill>
            <a:srgbClr val="8B5CF6"/>
          </a:solidFill>
          <a:ln/>
        </p:spPr>
      </p:sp>
      <p:sp>
        <p:nvSpPr>
          <p:cNvPr id="3" name="Text 1"/>
          <p:cNvSpPr/>
          <p:nvPr/>
        </p:nvSpPr>
        <p:spPr>
          <a:xfrm>
            <a:off x="548640" y="502920"/>
            <a:ext cx="13716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QUIZ 1</a:t>
            </a:r>
            <a:endParaRPr lang="en-US" sz="1100" dirty="0"/>
          </a:p>
        </p:txBody>
      </p:sp>
      <p:sp>
        <p:nvSpPr>
          <p:cNvPr id="4" name="Text 2"/>
          <p:cNvSpPr/>
          <p:nvPr/>
        </p:nvSpPr>
        <p:spPr>
          <a:xfrm>
            <a:off x="548640" y="1005840"/>
            <a:ext cx="11064240" cy="1005840"/>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What does the CSS Box Model consist of?</a:t>
            </a:r>
            <a:endParaRPr lang="en-US" sz="3000" dirty="0"/>
          </a:p>
        </p:txBody>
      </p:sp>
      <p:sp>
        <p:nvSpPr>
          <p:cNvPr id="5" name="Shape 3"/>
          <p:cNvSpPr/>
          <p:nvPr/>
        </p:nvSpPr>
        <p:spPr>
          <a:xfrm>
            <a:off x="548640" y="2331720"/>
            <a:ext cx="5372100" cy="1234440"/>
          </a:xfrm>
          <a:prstGeom prst="roundRect">
            <a:avLst>
              <a:gd name="adj" fmla="val 8889"/>
            </a:avLst>
          </a:prstGeom>
          <a:solidFill>
            <a:srgbClr val="E7FBEF"/>
          </a:solidFill>
          <a:ln w="12700">
            <a:solidFill>
              <a:srgbClr val="22C55E"/>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822960" y="2715768"/>
            <a:ext cx="457200" cy="457200"/>
          </a:xfrm>
          <a:prstGeom prst="roundRect">
            <a:avLst>
              <a:gd name="adj" fmla="val 20000"/>
            </a:avLst>
          </a:prstGeom>
          <a:solidFill>
            <a:srgbClr val="22C55E"/>
          </a:solidFill>
          <a:ln/>
        </p:spPr>
      </p:sp>
      <p:sp>
        <p:nvSpPr>
          <p:cNvPr id="7" name="Text 5"/>
          <p:cNvSpPr/>
          <p:nvPr/>
        </p:nvSpPr>
        <p:spPr>
          <a:xfrm>
            <a:off x="82296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8" name="Text 6"/>
          <p:cNvSpPr/>
          <p:nvPr/>
        </p:nvSpPr>
        <p:spPr>
          <a:xfrm>
            <a:off x="1508760" y="2331720"/>
            <a:ext cx="4229100" cy="1234440"/>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Margin, Padding, Content, Border</a:t>
            </a:r>
            <a:endParaRPr lang="en-US" sz="1500" dirty="0"/>
          </a:p>
        </p:txBody>
      </p:sp>
      <p:pic>
        <p:nvPicPr>
          <p:cNvPr id="9" name="Image 0" descr="preencoded.png">    </p:cNvPr>
          <p:cNvPicPr>
            <a:picLocks noChangeAspect="1"/>
          </p:cNvPicPr>
          <p:nvPr/>
        </p:nvPicPr>
        <p:blipFill>
          <a:blip r:embed="rId1"/>
          <a:stretch>
            <a:fillRect/>
          </a:stretch>
        </p:blipFill>
        <p:spPr>
          <a:xfrm>
            <a:off x="5417820" y="2784348"/>
            <a:ext cx="329184" cy="329184"/>
          </a:xfrm>
          <a:prstGeom prst="rect">
            <a:avLst/>
          </a:prstGeom>
        </p:spPr>
      </p:pic>
      <p:sp>
        <p:nvSpPr>
          <p:cNvPr id="10" name="Shape 7"/>
          <p:cNvSpPr/>
          <p:nvPr/>
        </p:nvSpPr>
        <p:spPr>
          <a:xfrm>
            <a:off x="628650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1" name="Shape 8"/>
          <p:cNvSpPr/>
          <p:nvPr/>
        </p:nvSpPr>
        <p:spPr>
          <a:xfrm>
            <a:off x="6560820" y="2715768"/>
            <a:ext cx="457200" cy="457200"/>
          </a:xfrm>
          <a:prstGeom prst="roundRect">
            <a:avLst>
              <a:gd name="adj" fmla="val 20000"/>
            </a:avLst>
          </a:prstGeom>
          <a:solidFill>
            <a:srgbClr val="2563EB"/>
          </a:solidFill>
          <a:ln/>
        </p:spPr>
      </p:sp>
      <p:sp>
        <p:nvSpPr>
          <p:cNvPr id="12" name="Text 9"/>
          <p:cNvSpPr/>
          <p:nvPr/>
        </p:nvSpPr>
        <p:spPr>
          <a:xfrm>
            <a:off x="656082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3" name="Text 10"/>
          <p:cNvSpPr/>
          <p:nvPr/>
        </p:nvSpPr>
        <p:spPr>
          <a:xfrm>
            <a:off x="724662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Margin, Padding, Text, Border</a:t>
            </a:r>
            <a:endParaRPr lang="en-US" sz="1500" dirty="0"/>
          </a:p>
        </p:txBody>
      </p:sp>
      <p:sp>
        <p:nvSpPr>
          <p:cNvPr id="14" name="Shape 11"/>
          <p:cNvSpPr/>
          <p:nvPr/>
        </p:nvSpPr>
        <p:spPr>
          <a:xfrm>
            <a:off x="54864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5" name="Shape 12"/>
          <p:cNvSpPr/>
          <p:nvPr/>
        </p:nvSpPr>
        <p:spPr>
          <a:xfrm>
            <a:off x="822960" y="4315968"/>
            <a:ext cx="457200" cy="457200"/>
          </a:xfrm>
          <a:prstGeom prst="roundRect">
            <a:avLst>
              <a:gd name="adj" fmla="val 20000"/>
            </a:avLst>
          </a:prstGeom>
          <a:solidFill>
            <a:srgbClr val="2563EB"/>
          </a:solidFill>
          <a:ln/>
        </p:spPr>
      </p:sp>
      <p:sp>
        <p:nvSpPr>
          <p:cNvPr id="16" name="Text 13"/>
          <p:cNvSpPr/>
          <p:nvPr/>
        </p:nvSpPr>
        <p:spPr>
          <a:xfrm>
            <a:off x="82296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7" name="Text 14"/>
          <p:cNvSpPr/>
          <p:nvPr/>
        </p:nvSpPr>
        <p:spPr>
          <a:xfrm>
            <a:off x="150876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Border, Content, Float, Padding</a:t>
            </a:r>
            <a:endParaRPr lang="en-US" sz="1500" dirty="0"/>
          </a:p>
        </p:txBody>
      </p:sp>
      <p:sp>
        <p:nvSpPr>
          <p:cNvPr id="18" name="Shape 15"/>
          <p:cNvSpPr/>
          <p:nvPr/>
        </p:nvSpPr>
        <p:spPr>
          <a:xfrm>
            <a:off x="628650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9" name="Shape 16"/>
          <p:cNvSpPr/>
          <p:nvPr/>
        </p:nvSpPr>
        <p:spPr>
          <a:xfrm>
            <a:off x="6560820" y="4315968"/>
            <a:ext cx="457200" cy="457200"/>
          </a:xfrm>
          <a:prstGeom prst="roundRect">
            <a:avLst>
              <a:gd name="adj" fmla="val 20000"/>
            </a:avLst>
          </a:prstGeom>
          <a:solidFill>
            <a:srgbClr val="2563EB"/>
          </a:solidFill>
          <a:ln/>
        </p:spPr>
      </p:sp>
      <p:sp>
        <p:nvSpPr>
          <p:cNvPr id="20" name="Text 17"/>
          <p:cNvSpPr/>
          <p:nvPr/>
        </p:nvSpPr>
        <p:spPr>
          <a:xfrm>
            <a:off x="656082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1" name="Text 18"/>
          <p:cNvSpPr/>
          <p:nvPr/>
        </p:nvSpPr>
        <p:spPr>
          <a:xfrm>
            <a:off x="724662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Margin, Float, Width, Padding</a:t>
            </a:r>
            <a:endParaRPr lang="en-US" sz="1500" dirty="0"/>
          </a:p>
        </p:txBody>
      </p:sp>
      <p:sp>
        <p:nvSpPr>
          <p:cNvPr id="22" name="Shape 19"/>
          <p:cNvSpPr/>
          <p:nvPr/>
        </p:nvSpPr>
        <p:spPr>
          <a:xfrm>
            <a:off x="548640" y="5532120"/>
            <a:ext cx="11109960" cy="777240"/>
          </a:xfrm>
          <a:prstGeom prst="roundRect">
            <a:avLst>
              <a:gd name="adj" fmla="val 14118"/>
            </a:avLst>
          </a:prstGeom>
          <a:solidFill>
            <a:srgbClr val="E7FBEF"/>
          </a:solidFill>
          <a:ln/>
        </p:spPr>
      </p:sp>
      <p:sp>
        <p:nvSpPr>
          <p:cNvPr id="23" name="Shape 20"/>
          <p:cNvSpPr/>
          <p:nvPr/>
        </p:nvSpPr>
        <p:spPr>
          <a:xfrm>
            <a:off x="749808" y="5792724"/>
            <a:ext cx="256032" cy="256032"/>
          </a:xfrm>
          <a:prstGeom prst="ellipse">
            <a:avLst/>
          </a:prstGeom>
          <a:solidFill>
            <a:srgbClr val="22C55E"/>
          </a:solidFill>
          <a:ln/>
        </p:spPr>
      </p:sp>
      <p:sp>
        <p:nvSpPr>
          <p:cNvPr id="24" name="Text 21"/>
          <p:cNvSpPr/>
          <p:nvPr/>
        </p:nvSpPr>
        <p:spPr>
          <a:xfrm>
            <a:off x="1207008" y="5532120"/>
            <a:ext cx="10241280" cy="777240"/>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Four layers, from the inside out: Content, then Padding, then Border, then Margin.</a:t>
            </a:r>
            <a:endParaRPr lang="en-US" sz="1400" dirty="0"/>
          </a:p>
        </p:txBody>
      </p:sp>
      <p:sp>
        <p:nvSpPr>
          <p:cNvPr id="25" name="Text 2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26" name="Text 2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4480560" y="1371600"/>
            <a:ext cx="3200400" cy="3200400"/>
          </a:xfrm>
          <a:prstGeom prst="ellipse">
            <a:avLst/>
          </a:prstGeom>
          <a:solidFill>
            <a:srgbClr val="2563EB"/>
          </a:solidFill>
          <a:ln/>
          <a:effectLst>
            <a:outerShdw sx="100000" sy="100000" kx="0" ky="0" algn="bl" rotWithShape="0" blurRad="254000" dist="38100" dir="5400000">
              <a:srgbClr val="0B1220">
                <a:alpha val="40000"/>
              </a:srgbClr>
            </a:outerShdw>
          </a:effectLst>
        </p:spPr>
      </p:sp>
      <p:sp>
        <p:nvSpPr>
          <p:cNvPr id="3" name="Shape 1"/>
          <p:cNvSpPr/>
          <p:nvPr/>
        </p:nvSpPr>
        <p:spPr>
          <a:xfrm>
            <a:off x="5394960" y="2286000"/>
            <a:ext cx="1371600" cy="1371600"/>
          </a:xfrm>
          <a:prstGeom prst="ellipse">
            <a:avLst/>
          </a:prstGeom>
          <a:solidFill>
            <a:srgbClr val="2563EB"/>
          </a:solidFill>
          <a:ln/>
        </p:spPr>
      </p:sp>
      <p:pic>
        <p:nvPicPr>
          <p:cNvPr id="4" name="Image 0" descr="preencoded.png">    </p:cNvPr>
          <p:cNvPicPr>
            <a:picLocks noChangeAspect="1"/>
          </p:cNvPicPr>
          <p:nvPr/>
        </p:nvPicPr>
        <p:blipFill>
          <a:blip r:embed="rId1"/>
          <a:stretch>
            <a:fillRect/>
          </a:stretch>
        </p:blipFill>
        <p:spPr>
          <a:xfrm>
            <a:off x="5751576" y="2642616"/>
            <a:ext cx="658368" cy="658368"/>
          </a:xfrm>
          <a:prstGeom prst="rect">
            <a:avLst/>
          </a:prstGeom>
        </p:spPr>
      </p:pic>
      <p:sp>
        <p:nvSpPr>
          <p:cNvPr id="5" name="Text 2"/>
          <p:cNvSpPr/>
          <p:nvPr/>
        </p:nvSpPr>
        <p:spPr>
          <a:xfrm>
            <a:off x="914400" y="4709160"/>
            <a:ext cx="10360152"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5 minute break</a:t>
            </a:r>
            <a:endParaRPr lang="en-US" sz="4000" dirty="0"/>
          </a:p>
        </p:txBody>
      </p:sp>
      <p:sp>
        <p:nvSpPr>
          <p:cNvPr id="6" name="Text 3"/>
          <p:cNvSpPr/>
          <p:nvPr/>
        </p:nvSpPr>
        <p:spPr>
          <a:xfrm>
            <a:off x="914400" y="5440680"/>
            <a:ext cx="10360152" cy="457200"/>
          </a:xfrm>
          <a:prstGeom prst="rect">
            <a:avLst/>
          </a:prstGeom>
          <a:noFill/>
          <a:ln/>
        </p:spPr>
        <p:txBody>
          <a:bodyPr wrap="square" lIns="0" tIns="0" rIns="0" bIns="0" rtlCol="0" anchor="ctr"/>
          <a:lstStyle/>
          <a:p>
            <a:pPr algn="ctr" indent="0" marL="0">
              <a:buNone/>
            </a:pPr>
            <a:r>
              <a:rPr lang="en-US" sz="1600" dirty="0">
                <a:solidFill>
                  <a:srgbClr val="C7DBFF"/>
                </a:solidFill>
                <a:latin typeface="Calibri" pitchFamily="34" charset="0"/>
                <a:ea typeface="Calibri" pitchFamily="34" charset="-122"/>
                <a:cs typeface="Calibri" pitchFamily="34" charset="-120"/>
              </a:rPr>
              <a:t>Stand up. Water. Rest your eyes. We resume on the dot.</a:t>
            </a:r>
            <a:endParaRPr lang="en-US" sz="1600" dirty="0"/>
          </a:p>
        </p:txBody>
      </p:sp>
      <p:sp>
        <p:nvSpPr>
          <p:cNvPr id="7" name="Shape 4"/>
          <p:cNvSpPr/>
          <p:nvPr/>
        </p:nvSpPr>
        <p:spPr>
          <a:xfrm>
            <a:off x="822960" y="640080"/>
            <a:ext cx="1280160" cy="310896"/>
          </a:xfrm>
          <a:prstGeom prst="roundRect">
            <a:avLst>
              <a:gd name="adj" fmla="val 50000"/>
            </a:avLst>
          </a:prstGeom>
          <a:solidFill>
            <a:srgbClr val="1B2A4A"/>
          </a:solidFill>
          <a:ln/>
        </p:spPr>
      </p:sp>
      <p:sp>
        <p:nvSpPr>
          <p:cNvPr id="8" name="Text 5"/>
          <p:cNvSpPr/>
          <p:nvPr/>
        </p:nvSpPr>
        <p:spPr>
          <a:xfrm>
            <a:off x="822960" y="640080"/>
            <a:ext cx="128016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40 MIN DONE</a:t>
            </a:r>
            <a:endParaRPr lang="en-US" sz="1100" dirty="0"/>
          </a:p>
        </p:txBody>
      </p:sp>
      <p:sp>
        <p:nvSpPr>
          <p:cNvPr id="9" name="Text 6"/>
          <p:cNvSpPr/>
          <p:nvPr/>
        </p:nvSpPr>
        <p:spPr>
          <a:xfrm>
            <a:off x="914400" y="5943600"/>
            <a:ext cx="10360152" cy="365760"/>
          </a:xfrm>
          <a:prstGeom prst="rect">
            <a:avLst/>
          </a:prstGeom>
          <a:noFill/>
          <a:ln/>
        </p:spPr>
        <p:txBody>
          <a:bodyPr wrap="square" lIns="0" tIns="0" rIns="0" bIns="0" rtlCol="0" anchor="ctr"/>
          <a:lstStyle/>
          <a:p>
            <a:pPr algn="ctr" indent="0" marL="0">
              <a:buNone/>
            </a:pPr>
            <a:r>
              <a:rPr lang="en-US" sz="1300" i="1" dirty="0">
                <a:solidFill>
                  <a:srgbClr val="94A3B8"/>
                </a:solidFill>
                <a:latin typeface="Calibri" pitchFamily="34" charset="0"/>
                <a:ea typeface="Calibri" pitchFamily="34" charset="-122"/>
                <a:cs typeface="Calibri" pitchFamily="34" charset="-120"/>
              </a:rPr>
              <a:t>Next up: Margins, Padding and Borders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02</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2</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Margin, Padding and Border</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Applying spacing and edges to your boxes.</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DRY RUN</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Margin shorthand: dry run</a:t>
            </a:r>
            <a:endParaRPr lang="en-US" sz="3400" dirty="0"/>
          </a:p>
        </p:txBody>
      </p:sp>
      <p:sp>
        <p:nvSpPr>
          <p:cNvPr id="5" name="Text 3"/>
          <p:cNvSpPr/>
          <p:nvPr/>
        </p:nvSpPr>
        <p:spPr>
          <a:xfrm>
            <a:off x="548640" y="1691640"/>
            <a:ext cx="10515600" cy="365760"/>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One property, up to four values. The count decides which sides get which value.</a:t>
            </a:r>
            <a:endParaRPr lang="en-US" sz="1500" dirty="0"/>
          </a:p>
        </p:txBody>
      </p:sp>
      <p:sp>
        <p:nvSpPr>
          <p:cNvPr id="6" name="Shape 4"/>
          <p:cNvSpPr/>
          <p:nvPr/>
        </p:nvSpPr>
        <p:spPr>
          <a:xfrm>
            <a:off x="640080" y="2286000"/>
            <a:ext cx="2468880" cy="1828800"/>
          </a:xfrm>
          <a:prstGeom prst="rect">
            <a:avLst/>
          </a:prstGeom>
          <a:solidFill>
            <a:srgbClr val="F6C89A"/>
          </a:solidFill>
          <a:ln/>
        </p:spPr>
      </p:sp>
      <p:sp>
        <p:nvSpPr>
          <p:cNvPr id="7" name="Shape 5"/>
          <p:cNvSpPr/>
          <p:nvPr/>
        </p:nvSpPr>
        <p:spPr>
          <a:xfrm>
            <a:off x="1051560" y="2606040"/>
            <a:ext cx="1645920" cy="1188720"/>
          </a:xfrm>
          <a:prstGeom prst="rect">
            <a:avLst/>
          </a:prstGeom>
          <a:solidFill>
            <a:srgbClr val="FFFFFF"/>
          </a:solidFill>
          <a:ln w="12700">
            <a:solidFill>
              <a:srgbClr val="C7DBFF"/>
            </a:solidFill>
            <a:prstDash val="solid"/>
          </a:ln>
        </p:spPr>
      </p:sp>
      <p:sp>
        <p:nvSpPr>
          <p:cNvPr id="8" name="Text 6"/>
          <p:cNvSpPr/>
          <p:nvPr/>
        </p:nvSpPr>
        <p:spPr>
          <a:xfrm>
            <a:off x="640080" y="2331720"/>
            <a:ext cx="2468880" cy="201168"/>
          </a:xfrm>
          <a:prstGeom prst="rect">
            <a:avLst/>
          </a:prstGeom>
          <a:noFill/>
          <a:ln/>
        </p:spPr>
        <p:txBody>
          <a:bodyPr wrap="square" lIns="0" tIns="0" rIns="0" bIns="0" rtlCol="0" anchor="ctr"/>
          <a:lstStyle/>
          <a:p>
            <a:pPr algn="ctr" indent="0" marL="0">
              <a:buNone/>
            </a:pPr>
            <a:r>
              <a:rPr lang="en-US" sz="950" b="1" dirty="0">
                <a:solidFill>
                  <a:srgbClr val="8A5A24"/>
                </a:solidFill>
                <a:latin typeface="Courier New" pitchFamily="34" charset="0"/>
                <a:ea typeface="Courier New" pitchFamily="34" charset="-122"/>
                <a:cs typeface="Courier New" pitchFamily="34" charset="-120"/>
              </a:rPr>
              <a:t>20</a:t>
            </a:r>
            <a:endParaRPr lang="en-US" sz="950" dirty="0"/>
          </a:p>
        </p:txBody>
      </p:sp>
      <p:sp>
        <p:nvSpPr>
          <p:cNvPr id="9" name="Text 7"/>
          <p:cNvSpPr/>
          <p:nvPr/>
        </p:nvSpPr>
        <p:spPr>
          <a:xfrm>
            <a:off x="640080" y="3867912"/>
            <a:ext cx="2468880" cy="201168"/>
          </a:xfrm>
          <a:prstGeom prst="rect">
            <a:avLst/>
          </a:prstGeom>
          <a:noFill/>
          <a:ln/>
        </p:spPr>
        <p:txBody>
          <a:bodyPr wrap="square" lIns="0" tIns="0" rIns="0" bIns="0" rtlCol="0" anchor="ctr"/>
          <a:lstStyle/>
          <a:p>
            <a:pPr algn="ctr" indent="0" marL="0">
              <a:buNone/>
            </a:pPr>
            <a:r>
              <a:rPr lang="en-US" sz="950" b="1" dirty="0">
                <a:solidFill>
                  <a:srgbClr val="8A5A24"/>
                </a:solidFill>
                <a:latin typeface="Courier New" pitchFamily="34" charset="0"/>
                <a:ea typeface="Courier New" pitchFamily="34" charset="-122"/>
                <a:cs typeface="Courier New" pitchFamily="34" charset="-120"/>
              </a:rPr>
              <a:t>20</a:t>
            </a:r>
            <a:endParaRPr lang="en-US" sz="950" dirty="0"/>
          </a:p>
        </p:txBody>
      </p:sp>
      <p:sp>
        <p:nvSpPr>
          <p:cNvPr id="10" name="Text 8"/>
          <p:cNvSpPr/>
          <p:nvPr/>
        </p:nvSpPr>
        <p:spPr>
          <a:xfrm>
            <a:off x="658368" y="3099816"/>
            <a:ext cx="384048" cy="201168"/>
          </a:xfrm>
          <a:prstGeom prst="rect">
            <a:avLst/>
          </a:prstGeom>
          <a:noFill/>
          <a:ln/>
        </p:spPr>
        <p:txBody>
          <a:bodyPr wrap="square" lIns="0" tIns="0" rIns="0" bIns="0" rtlCol="0" anchor="ctr"/>
          <a:lstStyle/>
          <a:p>
            <a:pPr algn="ctr" indent="0" marL="0">
              <a:buNone/>
            </a:pPr>
            <a:r>
              <a:rPr lang="en-US" sz="950" b="1" dirty="0">
                <a:solidFill>
                  <a:srgbClr val="8A5A24"/>
                </a:solidFill>
                <a:latin typeface="Courier New" pitchFamily="34" charset="0"/>
                <a:ea typeface="Courier New" pitchFamily="34" charset="-122"/>
                <a:cs typeface="Courier New" pitchFamily="34" charset="-120"/>
              </a:rPr>
              <a:t>20</a:t>
            </a:r>
            <a:endParaRPr lang="en-US" sz="950" dirty="0"/>
          </a:p>
        </p:txBody>
      </p:sp>
      <p:sp>
        <p:nvSpPr>
          <p:cNvPr id="11" name="Text 9"/>
          <p:cNvSpPr/>
          <p:nvPr/>
        </p:nvSpPr>
        <p:spPr>
          <a:xfrm>
            <a:off x="2706624" y="3099816"/>
            <a:ext cx="384048" cy="201168"/>
          </a:xfrm>
          <a:prstGeom prst="rect">
            <a:avLst/>
          </a:prstGeom>
          <a:noFill/>
          <a:ln/>
        </p:spPr>
        <p:txBody>
          <a:bodyPr wrap="square" lIns="0" tIns="0" rIns="0" bIns="0" rtlCol="0" anchor="ctr"/>
          <a:lstStyle/>
          <a:p>
            <a:pPr algn="ctr" indent="0" marL="0">
              <a:buNone/>
            </a:pPr>
            <a:r>
              <a:rPr lang="en-US" sz="950" b="1" dirty="0">
                <a:solidFill>
                  <a:srgbClr val="8A5A24"/>
                </a:solidFill>
                <a:latin typeface="Courier New" pitchFamily="34" charset="0"/>
                <a:ea typeface="Courier New" pitchFamily="34" charset="-122"/>
                <a:cs typeface="Courier New" pitchFamily="34" charset="-120"/>
              </a:rPr>
              <a:t>20</a:t>
            </a:r>
            <a:endParaRPr lang="en-US" sz="950" dirty="0"/>
          </a:p>
        </p:txBody>
      </p:sp>
      <p:sp>
        <p:nvSpPr>
          <p:cNvPr id="12" name="Text 10"/>
          <p:cNvSpPr/>
          <p:nvPr/>
        </p:nvSpPr>
        <p:spPr>
          <a:xfrm>
            <a:off x="640080" y="4169664"/>
            <a:ext cx="246888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ourier New" pitchFamily="34" charset="0"/>
                <a:ea typeface="Courier New" pitchFamily="34" charset="-122"/>
                <a:cs typeface="Courier New" pitchFamily="34" charset="-120"/>
              </a:rPr>
              <a:t>margin: 20px</a:t>
            </a:r>
            <a:endParaRPr lang="en-US" sz="1100" dirty="0"/>
          </a:p>
        </p:txBody>
      </p:sp>
      <p:sp>
        <p:nvSpPr>
          <p:cNvPr id="13" name="Shape 11"/>
          <p:cNvSpPr/>
          <p:nvPr/>
        </p:nvSpPr>
        <p:spPr>
          <a:xfrm>
            <a:off x="3456432" y="2286000"/>
            <a:ext cx="2468880" cy="1828800"/>
          </a:xfrm>
          <a:prstGeom prst="rect">
            <a:avLst/>
          </a:prstGeom>
          <a:solidFill>
            <a:srgbClr val="A7E8B7"/>
          </a:solidFill>
          <a:ln/>
        </p:spPr>
      </p:sp>
      <p:sp>
        <p:nvSpPr>
          <p:cNvPr id="14" name="Shape 12"/>
          <p:cNvSpPr/>
          <p:nvPr/>
        </p:nvSpPr>
        <p:spPr>
          <a:xfrm>
            <a:off x="3867912" y="2606040"/>
            <a:ext cx="1645920" cy="1188720"/>
          </a:xfrm>
          <a:prstGeom prst="rect">
            <a:avLst/>
          </a:prstGeom>
          <a:solidFill>
            <a:srgbClr val="FFFFFF"/>
          </a:solidFill>
          <a:ln w="12700">
            <a:solidFill>
              <a:srgbClr val="C7DBFF"/>
            </a:solidFill>
            <a:prstDash val="solid"/>
          </a:ln>
        </p:spPr>
      </p:sp>
      <p:sp>
        <p:nvSpPr>
          <p:cNvPr id="15" name="Text 13"/>
          <p:cNvSpPr/>
          <p:nvPr/>
        </p:nvSpPr>
        <p:spPr>
          <a:xfrm>
            <a:off x="3456432" y="2331720"/>
            <a:ext cx="2468880" cy="201168"/>
          </a:xfrm>
          <a:prstGeom prst="rect">
            <a:avLst/>
          </a:prstGeom>
          <a:noFill/>
          <a:ln/>
        </p:spPr>
        <p:txBody>
          <a:bodyPr wrap="square" lIns="0" tIns="0" rIns="0" bIns="0" rtlCol="0" anchor="ctr"/>
          <a:lstStyle/>
          <a:p>
            <a:pPr algn="ctr" indent="0" marL="0">
              <a:buNone/>
            </a:pPr>
            <a:r>
              <a:rPr lang="en-US" sz="950" b="1" dirty="0">
                <a:solidFill>
                  <a:srgbClr val="1B7A3B"/>
                </a:solidFill>
                <a:latin typeface="Courier New" pitchFamily="34" charset="0"/>
                <a:ea typeface="Courier New" pitchFamily="34" charset="-122"/>
                <a:cs typeface="Courier New" pitchFamily="34" charset="-120"/>
              </a:rPr>
              <a:t>10</a:t>
            </a:r>
            <a:endParaRPr lang="en-US" sz="950" dirty="0"/>
          </a:p>
        </p:txBody>
      </p:sp>
      <p:sp>
        <p:nvSpPr>
          <p:cNvPr id="16" name="Text 14"/>
          <p:cNvSpPr/>
          <p:nvPr/>
        </p:nvSpPr>
        <p:spPr>
          <a:xfrm>
            <a:off x="3456432" y="3867912"/>
            <a:ext cx="2468880" cy="201168"/>
          </a:xfrm>
          <a:prstGeom prst="rect">
            <a:avLst/>
          </a:prstGeom>
          <a:noFill/>
          <a:ln/>
        </p:spPr>
        <p:txBody>
          <a:bodyPr wrap="square" lIns="0" tIns="0" rIns="0" bIns="0" rtlCol="0" anchor="ctr"/>
          <a:lstStyle/>
          <a:p>
            <a:pPr algn="ctr" indent="0" marL="0">
              <a:buNone/>
            </a:pPr>
            <a:r>
              <a:rPr lang="en-US" sz="950" b="1" dirty="0">
                <a:solidFill>
                  <a:srgbClr val="1B7A3B"/>
                </a:solidFill>
                <a:latin typeface="Courier New" pitchFamily="34" charset="0"/>
                <a:ea typeface="Courier New" pitchFamily="34" charset="-122"/>
                <a:cs typeface="Courier New" pitchFamily="34" charset="-120"/>
              </a:rPr>
              <a:t>10</a:t>
            </a:r>
            <a:endParaRPr lang="en-US" sz="950" dirty="0"/>
          </a:p>
        </p:txBody>
      </p:sp>
      <p:sp>
        <p:nvSpPr>
          <p:cNvPr id="17" name="Text 15"/>
          <p:cNvSpPr/>
          <p:nvPr/>
        </p:nvSpPr>
        <p:spPr>
          <a:xfrm>
            <a:off x="3474720" y="3099816"/>
            <a:ext cx="384048" cy="201168"/>
          </a:xfrm>
          <a:prstGeom prst="rect">
            <a:avLst/>
          </a:prstGeom>
          <a:noFill/>
          <a:ln/>
        </p:spPr>
        <p:txBody>
          <a:bodyPr wrap="square" lIns="0" tIns="0" rIns="0" bIns="0" rtlCol="0" anchor="ctr"/>
          <a:lstStyle/>
          <a:p>
            <a:pPr algn="ctr" indent="0" marL="0">
              <a:buNone/>
            </a:pPr>
            <a:r>
              <a:rPr lang="en-US" sz="950" b="1" dirty="0">
                <a:solidFill>
                  <a:srgbClr val="1B7A3B"/>
                </a:solidFill>
                <a:latin typeface="Courier New" pitchFamily="34" charset="0"/>
                <a:ea typeface="Courier New" pitchFamily="34" charset="-122"/>
                <a:cs typeface="Courier New" pitchFamily="34" charset="-120"/>
              </a:rPr>
              <a:t>20</a:t>
            </a:r>
            <a:endParaRPr lang="en-US" sz="950" dirty="0"/>
          </a:p>
        </p:txBody>
      </p:sp>
      <p:sp>
        <p:nvSpPr>
          <p:cNvPr id="18" name="Text 16"/>
          <p:cNvSpPr/>
          <p:nvPr/>
        </p:nvSpPr>
        <p:spPr>
          <a:xfrm>
            <a:off x="5522976" y="3099816"/>
            <a:ext cx="384048" cy="201168"/>
          </a:xfrm>
          <a:prstGeom prst="rect">
            <a:avLst/>
          </a:prstGeom>
          <a:noFill/>
          <a:ln/>
        </p:spPr>
        <p:txBody>
          <a:bodyPr wrap="square" lIns="0" tIns="0" rIns="0" bIns="0" rtlCol="0" anchor="ctr"/>
          <a:lstStyle/>
          <a:p>
            <a:pPr algn="ctr" indent="0" marL="0">
              <a:buNone/>
            </a:pPr>
            <a:r>
              <a:rPr lang="en-US" sz="950" b="1" dirty="0">
                <a:solidFill>
                  <a:srgbClr val="1B7A3B"/>
                </a:solidFill>
                <a:latin typeface="Courier New" pitchFamily="34" charset="0"/>
                <a:ea typeface="Courier New" pitchFamily="34" charset="-122"/>
                <a:cs typeface="Courier New" pitchFamily="34" charset="-120"/>
              </a:rPr>
              <a:t>20</a:t>
            </a:r>
            <a:endParaRPr lang="en-US" sz="950" dirty="0"/>
          </a:p>
        </p:txBody>
      </p:sp>
      <p:sp>
        <p:nvSpPr>
          <p:cNvPr id="19" name="Text 17"/>
          <p:cNvSpPr/>
          <p:nvPr/>
        </p:nvSpPr>
        <p:spPr>
          <a:xfrm>
            <a:off x="3456432" y="4169664"/>
            <a:ext cx="246888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ourier New" pitchFamily="34" charset="0"/>
                <a:ea typeface="Courier New" pitchFamily="34" charset="-122"/>
                <a:cs typeface="Courier New" pitchFamily="34" charset="-120"/>
              </a:rPr>
              <a:t>margin: 10px 20px</a:t>
            </a:r>
            <a:endParaRPr lang="en-US" sz="1100" dirty="0"/>
          </a:p>
        </p:txBody>
      </p:sp>
      <p:sp>
        <p:nvSpPr>
          <p:cNvPr id="20" name="Shape 18"/>
          <p:cNvSpPr/>
          <p:nvPr/>
        </p:nvSpPr>
        <p:spPr>
          <a:xfrm>
            <a:off x="6272784" y="2286000"/>
            <a:ext cx="2468880" cy="1828800"/>
          </a:xfrm>
          <a:prstGeom prst="rect">
            <a:avLst/>
          </a:prstGeom>
          <a:solidFill>
            <a:srgbClr val="FBD34D"/>
          </a:solidFill>
          <a:ln/>
        </p:spPr>
      </p:sp>
      <p:sp>
        <p:nvSpPr>
          <p:cNvPr id="21" name="Shape 19"/>
          <p:cNvSpPr/>
          <p:nvPr/>
        </p:nvSpPr>
        <p:spPr>
          <a:xfrm>
            <a:off x="6684264" y="2606040"/>
            <a:ext cx="1645920" cy="1188720"/>
          </a:xfrm>
          <a:prstGeom prst="rect">
            <a:avLst/>
          </a:prstGeom>
          <a:solidFill>
            <a:srgbClr val="FFFFFF"/>
          </a:solidFill>
          <a:ln w="12700">
            <a:solidFill>
              <a:srgbClr val="C7DBFF"/>
            </a:solidFill>
            <a:prstDash val="solid"/>
          </a:ln>
        </p:spPr>
      </p:sp>
      <p:sp>
        <p:nvSpPr>
          <p:cNvPr id="22" name="Text 20"/>
          <p:cNvSpPr/>
          <p:nvPr/>
        </p:nvSpPr>
        <p:spPr>
          <a:xfrm>
            <a:off x="6272784" y="2331720"/>
            <a:ext cx="2468880" cy="201168"/>
          </a:xfrm>
          <a:prstGeom prst="rect">
            <a:avLst/>
          </a:prstGeom>
          <a:noFill/>
          <a:ln/>
        </p:spPr>
        <p:txBody>
          <a:bodyPr wrap="square" lIns="0" tIns="0" rIns="0" bIns="0" rtlCol="0" anchor="ctr"/>
          <a:lstStyle/>
          <a:p>
            <a:pPr algn="ctr" indent="0" marL="0">
              <a:buNone/>
            </a:pPr>
            <a:r>
              <a:rPr lang="en-US" sz="950" b="1" dirty="0">
                <a:solidFill>
                  <a:srgbClr val="8A6D0B"/>
                </a:solidFill>
                <a:latin typeface="Courier New" pitchFamily="34" charset="0"/>
                <a:ea typeface="Courier New" pitchFamily="34" charset="-122"/>
                <a:cs typeface="Courier New" pitchFamily="34" charset="-120"/>
              </a:rPr>
              <a:t>10</a:t>
            </a:r>
            <a:endParaRPr lang="en-US" sz="950" dirty="0"/>
          </a:p>
        </p:txBody>
      </p:sp>
      <p:sp>
        <p:nvSpPr>
          <p:cNvPr id="23" name="Text 21"/>
          <p:cNvSpPr/>
          <p:nvPr/>
        </p:nvSpPr>
        <p:spPr>
          <a:xfrm>
            <a:off x="6272784" y="3867912"/>
            <a:ext cx="2468880" cy="201168"/>
          </a:xfrm>
          <a:prstGeom prst="rect">
            <a:avLst/>
          </a:prstGeom>
          <a:noFill/>
          <a:ln/>
        </p:spPr>
        <p:txBody>
          <a:bodyPr wrap="square" lIns="0" tIns="0" rIns="0" bIns="0" rtlCol="0" anchor="ctr"/>
          <a:lstStyle/>
          <a:p>
            <a:pPr algn="ctr" indent="0" marL="0">
              <a:buNone/>
            </a:pPr>
            <a:r>
              <a:rPr lang="en-US" sz="950" b="1" dirty="0">
                <a:solidFill>
                  <a:srgbClr val="8A6D0B"/>
                </a:solidFill>
                <a:latin typeface="Courier New" pitchFamily="34" charset="0"/>
                <a:ea typeface="Courier New" pitchFamily="34" charset="-122"/>
                <a:cs typeface="Courier New" pitchFamily="34" charset="-120"/>
              </a:rPr>
              <a:t>30</a:t>
            </a:r>
            <a:endParaRPr lang="en-US" sz="950" dirty="0"/>
          </a:p>
        </p:txBody>
      </p:sp>
      <p:sp>
        <p:nvSpPr>
          <p:cNvPr id="24" name="Text 22"/>
          <p:cNvSpPr/>
          <p:nvPr/>
        </p:nvSpPr>
        <p:spPr>
          <a:xfrm>
            <a:off x="6291072" y="3099816"/>
            <a:ext cx="384048" cy="201168"/>
          </a:xfrm>
          <a:prstGeom prst="rect">
            <a:avLst/>
          </a:prstGeom>
          <a:noFill/>
          <a:ln/>
        </p:spPr>
        <p:txBody>
          <a:bodyPr wrap="square" lIns="0" tIns="0" rIns="0" bIns="0" rtlCol="0" anchor="ctr"/>
          <a:lstStyle/>
          <a:p>
            <a:pPr algn="ctr" indent="0" marL="0">
              <a:buNone/>
            </a:pPr>
            <a:r>
              <a:rPr lang="en-US" sz="950" b="1" dirty="0">
                <a:solidFill>
                  <a:srgbClr val="8A6D0B"/>
                </a:solidFill>
                <a:latin typeface="Courier New" pitchFamily="34" charset="0"/>
                <a:ea typeface="Courier New" pitchFamily="34" charset="-122"/>
                <a:cs typeface="Courier New" pitchFamily="34" charset="-120"/>
              </a:rPr>
              <a:t>20</a:t>
            </a:r>
            <a:endParaRPr lang="en-US" sz="950" dirty="0"/>
          </a:p>
        </p:txBody>
      </p:sp>
      <p:sp>
        <p:nvSpPr>
          <p:cNvPr id="25" name="Text 23"/>
          <p:cNvSpPr/>
          <p:nvPr/>
        </p:nvSpPr>
        <p:spPr>
          <a:xfrm>
            <a:off x="8339328" y="3099816"/>
            <a:ext cx="384048" cy="201168"/>
          </a:xfrm>
          <a:prstGeom prst="rect">
            <a:avLst/>
          </a:prstGeom>
          <a:noFill/>
          <a:ln/>
        </p:spPr>
        <p:txBody>
          <a:bodyPr wrap="square" lIns="0" tIns="0" rIns="0" bIns="0" rtlCol="0" anchor="ctr"/>
          <a:lstStyle/>
          <a:p>
            <a:pPr algn="ctr" indent="0" marL="0">
              <a:buNone/>
            </a:pPr>
            <a:r>
              <a:rPr lang="en-US" sz="950" b="1" dirty="0">
                <a:solidFill>
                  <a:srgbClr val="8A6D0B"/>
                </a:solidFill>
                <a:latin typeface="Courier New" pitchFamily="34" charset="0"/>
                <a:ea typeface="Courier New" pitchFamily="34" charset="-122"/>
                <a:cs typeface="Courier New" pitchFamily="34" charset="-120"/>
              </a:rPr>
              <a:t>20</a:t>
            </a:r>
            <a:endParaRPr lang="en-US" sz="950" dirty="0"/>
          </a:p>
        </p:txBody>
      </p:sp>
      <p:sp>
        <p:nvSpPr>
          <p:cNvPr id="26" name="Text 24"/>
          <p:cNvSpPr/>
          <p:nvPr/>
        </p:nvSpPr>
        <p:spPr>
          <a:xfrm>
            <a:off x="6272784" y="4169664"/>
            <a:ext cx="246888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ourier New" pitchFamily="34" charset="0"/>
                <a:ea typeface="Courier New" pitchFamily="34" charset="-122"/>
                <a:cs typeface="Courier New" pitchFamily="34" charset="-120"/>
              </a:rPr>
              <a:t>margin: 10px 20px 30px</a:t>
            </a:r>
            <a:endParaRPr lang="en-US" sz="1100" dirty="0"/>
          </a:p>
        </p:txBody>
      </p:sp>
      <p:sp>
        <p:nvSpPr>
          <p:cNvPr id="27" name="Shape 25"/>
          <p:cNvSpPr/>
          <p:nvPr/>
        </p:nvSpPr>
        <p:spPr>
          <a:xfrm>
            <a:off x="9089136" y="2286000"/>
            <a:ext cx="2468880" cy="1828800"/>
          </a:xfrm>
          <a:prstGeom prst="rect">
            <a:avLst/>
          </a:prstGeom>
          <a:solidFill>
            <a:srgbClr val="9CC5FF"/>
          </a:solidFill>
          <a:ln/>
        </p:spPr>
      </p:sp>
      <p:sp>
        <p:nvSpPr>
          <p:cNvPr id="28" name="Shape 26"/>
          <p:cNvSpPr/>
          <p:nvPr/>
        </p:nvSpPr>
        <p:spPr>
          <a:xfrm>
            <a:off x="9500616" y="2606040"/>
            <a:ext cx="1645920" cy="1188720"/>
          </a:xfrm>
          <a:prstGeom prst="rect">
            <a:avLst/>
          </a:prstGeom>
          <a:solidFill>
            <a:srgbClr val="FFFFFF"/>
          </a:solidFill>
          <a:ln w="12700">
            <a:solidFill>
              <a:srgbClr val="C7DBFF"/>
            </a:solidFill>
            <a:prstDash val="solid"/>
          </a:ln>
        </p:spPr>
      </p:sp>
      <p:sp>
        <p:nvSpPr>
          <p:cNvPr id="29" name="Text 27"/>
          <p:cNvSpPr/>
          <p:nvPr/>
        </p:nvSpPr>
        <p:spPr>
          <a:xfrm>
            <a:off x="9089136" y="2331720"/>
            <a:ext cx="2468880" cy="201168"/>
          </a:xfrm>
          <a:prstGeom prst="rect">
            <a:avLst/>
          </a:prstGeom>
          <a:noFill/>
          <a:ln/>
        </p:spPr>
        <p:txBody>
          <a:bodyPr wrap="square" lIns="0" tIns="0" rIns="0" bIns="0" rtlCol="0" anchor="ctr"/>
          <a:lstStyle/>
          <a:p>
            <a:pPr algn="ctr" indent="0" marL="0">
              <a:buNone/>
            </a:pPr>
            <a:r>
              <a:rPr lang="en-US" sz="950" b="1" dirty="0">
                <a:solidFill>
                  <a:srgbClr val="1E4F9C"/>
                </a:solidFill>
                <a:latin typeface="Courier New" pitchFamily="34" charset="0"/>
                <a:ea typeface="Courier New" pitchFamily="34" charset="-122"/>
                <a:cs typeface="Courier New" pitchFamily="34" charset="-120"/>
              </a:rPr>
              <a:t>10</a:t>
            </a:r>
            <a:endParaRPr lang="en-US" sz="950" dirty="0"/>
          </a:p>
        </p:txBody>
      </p:sp>
      <p:sp>
        <p:nvSpPr>
          <p:cNvPr id="30" name="Text 28"/>
          <p:cNvSpPr/>
          <p:nvPr/>
        </p:nvSpPr>
        <p:spPr>
          <a:xfrm>
            <a:off x="9089136" y="3867912"/>
            <a:ext cx="2468880" cy="201168"/>
          </a:xfrm>
          <a:prstGeom prst="rect">
            <a:avLst/>
          </a:prstGeom>
          <a:noFill/>
          <a:ln/>
        </p:spPr>
        <p:txBody>
          <a:bodyPr wrap="square" lIns="0" tIns="0" rIns="0" bIns="0" rtlCol="0" anchor="ctr"/>
          <a:lstStyle/>
          <a:p>
            <a:pPr algn="ctr" indent="0" marL="0">
              <a:buNone/>
            </a:pPr>
            <a:r>
              <a:rPr lang="en-US" sz="950" b="1" dirty="0">
                <a:solidFill>
                  <a:srgbClr val="1E4F9C"/>
                </a:solidFill>
                <a:latin typeface="Courier New" pitchFamily="34" charset="0"/>
                <a:ea typeface="Courier New" pitchFamily="34" charset="-122"/>
                <a:cs typeface="Courier New" pitchFamily="34" charset="-120"/>
              </a:rPr>
              <a:t>30</a:t>
            </a:r>
            <a:endParaRPr lang="en-US" sz="950" dirty="0"/>
          </a:p>
        </p:txBody>
      </p:sp>
      <p:sp>
        <p:nvSpPr>
          <p:cNvPr id="31" name="Text 29"/>
          <p:cNvSpPr/>
          <p:nvPr/>
        </p:nvSpPr>
        <p:spPr>
          <a:xfrm>
            <a:off x="9107424" y="3099816"/>
            <a:ext cx="384048" cy="201168"/>
          </a:xfrm>
          <a:prstGeom prst="rect">
            <a:avLst/>
          </a:prstGeom>
          <a:noFill/>
          <a:ln/>
        </p:spPr>
        <p:txBody>
          <a:bodyPr wrap="square" lIns="0" tIns="0" rIns="0" bIns="0" rtlCol="0" anchor="ctr"/>
          <a:lstStyle/>
          <a:p>
            <a:pPr algn="ctr" indent="0" marL="0">
              <a:buNone/>
            </a:pPr>
            <a:r>
              <a:rPr lang="en-US" sz="950" b="1" dirty="0">
                <a:solidFill>
                  <a:srgbClr val="1E4F9C"/>
                </a:solidFill>
                <a:latin typeface="Courier New" pitchFamily="34" charset="0"/>
                <a:ea typeface="Courier New" pitchFamily="34" charset="-122"/>
                <a:cs typeface="Courier New" pitchFamily="34" charset="-120"/>
              </a:rPr>
              <a:t>40</a:t>
            </a:r>
            <a:endParaRPr lang="en-US" sz="950" dirty="0"/>
          </a:p>
        </p:txBody>
      </p:sp>
      <p:sp>
        <p:nvSpPr>
          <p:cNvPr id="32" name="Text 30"/>
          <p:cNvSpPr/>
          <p:nvPr/>
        </p:nvSpPr>
        <p:spPr>
          <a:xfrm>
            <a:off x="11155680" y="3099816"/>
            <a:ext cx="384048" cy="201168"/>
          </a:xfrm>
          <a:prstGeom prst="rect">
            <a:avLst/>
          </a:prstGeom>
          <a:noFill/>
          <a:ln/>
        </p:spPr>
        <p:txBody>
          <a:bodyPr wrap="square" lIns="0" tIns="0" rIns="0" bIns="0" rtlCol="0" anchor="ctr"/>
          <a:lstStyle/>
          <a:p>
            <a:pPr algn="ctr" indent="0" marL="0">
              <a:buNone/>
            </a:pPr>
            <a:r>
              <a:rPr lang="en-US" sz="950" b="1" dirty="0">
                <a:solidFill>
                  <a:srgbClr val="1E4F9C"/>
                </a:solidFill>
                <a:latin typeface="Courier New" pitchFamily="34" charset="0"/>
                <a:ea typeface="Courier New" pitchFamily="34" charset="-122"/>
                <a:cs typeface="Courier New" pitchFamily="34" charset="-120"/>
              </a:rPr>
              <a:t>20</a:t>
            </a:r>
            <a:endParaRPr lang="en-US" sz="950" dirty="0"/>
          </a:p>
        </p:txBody>
      </p:sp>
      <p:sp>
        <p:nvSpPr>
          <p:cNvPr id="33" name="Text 31"/>
          <p:cNvSpPr/>
          <p:nvPr/>
        </p:nvSpPr>
        <p:spPr>
          <a:xfrm>
            <a:off x="9089136" y="4169664"/>
            <a:ext cx="246888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ourier New" pitchFamily="34" charset="0"/>
                <a:ea typeface="Courier New" pitchFamily="34" charset="-122"/>
                <a:cs typeface="Courier New" pitchFamily="34" charset="-120"/>
              </a:rPr>
              <a:t>margin: 10 20 30 40</a:t>
            </a:r>
            <a:endParaRPr lang="en-US" sz="1100" dirty="0"/>
          </a:p>
        </p:txBody>
      </p:sp>
      <p:sp>
        <p:nvSpPr>
          <p:cNvPr id="34" name="Shape 32"/>
          <p:cNvSpPr/>
          <p:nvPr/>
        </p:nvSpPr>
        <p:spPr>
          <a:xfrm>
            <a:off x="640080" y="4709160"/>
            <a:ext cx="10972800" cy="1234440"/>
          </a:xfrm>
          <a:prstGeom prst="roundRect">
            <a:avLst>
              <a:gd name="adj" fmla="val 8889"/>
            </a:avLst>
          </a:prstGeom>
          <a:solidFill>
            <a:srgbClr val="F8FA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35" name="Text 33"/>
          <p:cNvSpPr/>
          <p:nvPr/>
        </p:nvSpPr>
        <p:spPr>
          <a:xfrm>
            <a:off x="868680" y="4754880"/>
            <a:ext cx="10515600" cy="548640"/>
          </a:xfrm>
          <a:prstGeom prst="rect">
            <a:avLst/>
          </a:prstGeom>
          <a:noFill/>
          <a:ln/>
        </p:spPr>
        <p:txBody>
          <a:bodyPr wrap="square" lIns="0" tIns="0" rIns="0" bIns="0" rtlCol="0" anchor="ctr"/>
          <a:lstStyle/>
          <a:p>
            <a:pPr algn="l" indent="0" marL="0">
              <a:buNone/>
            </a:pPr>
            <a:r>
              <a:rPr lang="en-US" sz="1400" b="1" dirty="0">
                <a:solidFill>
                  <a:srgbClr val="2563EB"/>
                </a:solidFill>
                <a:latin typeface="Calibri" pitchFamily="34" charset="0"/>
                <a:ea typeface="Calibri" pitchFamily="34" charset="-122"/>
                <a:cs typeface="Calibri" pitchFamily="34" charset="-120"/>
              </a:rPr>
              <a:t>4 values </a:t>
            </a:r>
            <a:pPr algn="l" indent="0" marL="0">
              <a:buNone/>
            </a:pPr>
            <a:r>
              <a:rPr lang="en-US" sz="1400" dirty="0">
                <a:solidFill>
                  <a:srgbClr val="0F172A"/>
                </a:solidFill>
                <a:latin typeface="Calibri" pitchFamily="34" charset="0"/>
                <a:ea typeface="Calibri" pitchFamily="34" charset="-122"/>
                <a:cs typeface="Calibri" pitchFamily="34" charset="-120"/>
              </a:rPr>
              <a:t>top right bottom left      </a:t>
            </a:r>
            <a:pPr algn="l" indent="0" marL="0">
              <a:buNone/>
            </a:pPr>
            <a:r>
              <a:rPr lang="en-US" sz="1400" b="1" dirty="0">
                <a:solidFill>
                  <a:srgbClr val="8A6D0B"/>
                </a:solidFill>
                <a:latin typeface="Calibri" pitchFamily="34" charset="0"/>
                <a:ea typeface="Calibri" pitchFamily="34" charset="-122"/>
                <a:cs typeface="Calibri" pitchFamily="34" charset="-120"/>
              </a:rPr>
              <a:t>3 values </a:t>
            </a:r>
            <a:pPr algn="l" indent="0" marL="0">
              <a:buNone/>
            </a:pPr>
            <a:r>
              <a:rPr lang="en-US" sz="1400" dirty="0">
                <a:solidFill>
                  <a:srgbClr val="0F172A"/>
                </a:solidFill>
                <a:latin typeface="Calibri" pitchFamily="34" charset="0"/>
                <a:ea typeface="Calibri" pitchFamily="34" charset="-122"/>
                <a:cs typeface="Calibri" pitchFamily="34" charset="-120"/>
              </a:rPr>
              <a:t>top | left+right | bottom      </a:t>
            </a:r>
            <a:pPr algn="l" indent="0" marL="0">
              <a:buNone/>
            </a:pPr>
            <a:r>
              <a:rPr lang="en-US" sz="1400" b="1" dirty="0">
                <a:solidFill>
                  <a:srgbClr val="1B7A3B"/>
                </a:solidFill>
                <a:latin typeface="Calibri" pitchFamily="34" charset="0"/>
                <a:ea typeface="Calibri" pitchFamily="34" charset="-122"/>
                <a:cs typeface="Calibri" pitchFamily="34" charset="-120"/>
              </a:rPr>
              <a:t>2 values </a:t>
            </a:r>
            <a:pPr algn="l" indent="0" marL="0">
              <a:buNone/>
            </a:pPr>
            <a:r>
              <a:rPr lang="en-US" sz="1400" dirty="0">
                <a:solidFill>
                  <a:srgbClr val="0F172A"/>
                </a:solidFill>
                <a:latin typeface="Calibri" pitchFamily="34" charset="0"/>
                <a:ea typeface="Calibri" pitchFamily="34" charset="-122"/>
                <a:cs typeface="Calibri" pitchFamily="34" charset="-120"/>
              </a:rPr>
              <a:t>top+bottom | left+right      </a:t>
            </a:r>
            <a:pPr algn="l" indent="0" marL="0">
              <a:buNone/>
            </a:pPr>
            <a:r>
              <a:rPr lang="en-US" sz="1400" b="1" dirty="0">
                <a:solidFill>
                  <a:srgbClr val="8A5A24"/>
                </a:solidFill>
                <a:latin typeface="Calibri" pitchFamily="34" charset="0"/>
                <a:ea typeface="Calibri" pitchFamily="34" charset="-122"/>
                <a:cs typeface="Calibri" pitchFamily="34" charset="-120"/>
              </a:rPr>
              <a:t>1 value </a:t>
            </a:r>
            <a:pPr algn="l" indent="0" marL="0">
              <a:buNone/>
            </a:pPr>
            <a:r>
              <a:rPr lang="en-US" sz="1400" dirty="0">
                <a:solidFill>
                  <a:srgbClr val="0F172A"/>
                </a:solidFill>
                <a:latin typeface="Calibri" pitchFamily="34" charset="0"/>
                <a:ea typeface="Calibri" pitchFamily="34" charset="-122"/>
                <a:cs typeface="Calibri" pitchFamily="34" charset="-120"/>
              </a:rPr>
              <a:t>all four sides</a:t>
            </a:r>
            <a:endParaRPr lang="en-US" sz="1400" dirty="0"/>
          </a:p>
        </p:txBody>
      </p:sp>
      <p:sp>
        <p:nvSpPr>
          <p:cNvPr id="36" name="Text 34"/>
          <p:cNvSpPr/>
          <p:nvPr/>
        </p:nvSpPr>
        <p:spPr>
          <a:xfrm>
            <a:off x="868680" y="5349240"/>
            <a:ext cx="10424160" cy="457200"/>
          </a:xfrm>
          <a:prstGeom prst="rect">
            <a:avLst/>
          </a:prstGeom>
          <a:noFill/>
          <a:ln/>
        </p:spPr>
        <p:txBody>
          <a:bodyPr wrap="square" lIns="0" tIns="0" rIns="0" bIns="0" rtlCol="0" anchor="ctr"/>
          <a:lstStyle/>
          <a:p>
            <a:pPr algn="l" indent="0" marL="0">
              <a:buNone/>
            </a:pPr>
            <a:r>
              <a:rPr lang="en-US" sz="1300" i="1" dirty="0">
                <a:solidFill>
                  <a:srgbClr val="64748B"/>
                </a:solidFill>
                <a:latin typeface="Calibri" pitchFamily="34" charset="0"/>
                <a:ea typeface="Calibri" pitchFamily="34" charset="-122"/>
                <a:cs typeface="Calibri" pitchFamily="34" charset="-120"/>
              </a:rPr>
              <a:t>Same rules apply to padding. Swap the word, keep the logic. Think of it clockwise from 12 o'clock.</a:t>
            </a:r>
            <a:endParaRPr lang="en-US" sz="1300" dirty="0"/>
          </a:p>
        </p:txBody>
      </p:sp>
      <p:sp>
        <p:nvSpPr>
          <p:cNvPr id="37" name="Text 35"/>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38" name="Text 36"/>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548640" y="457200"/>
            <a:ext cx="3291840" cy="310896"/>
          </a:xfrm>
          <a:prstGeom prst="roundRect">
            <a:avLst>
              <a:gd name="adj" fmla="val 50000"/>
            </a:avLst>
          </a:prstGeom>
          <a:solidFill>
            <a:srgbClr val="FB7185"/>
          </a:solidFill>
          <a:ln/>
        </p:spPr>
      </p:sp>
      <p:sp>
        <p:nvSpPr>
          <p:cNvPr id="3" name="Text 1"/>
          <p:cNvSpPr/>
          <p:nvPr/>
        </p:nvSpPr>
        <p:spPr>
          <a:xfrm>
            <a:off x="548640" y="457200"/>
            <a:ext cx="32918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LIVE CODE  -  SWITCH TO VS CODE</a:t>
            </a:r>
            <a:endParaRPr lang="en-US" sz="1100" dirty="0"/>
          </a:p>
        </p:txBody>
      </p:sp>
      <p:sp>
        <p:nvSpPr>
          <p:cNvPr id="4" name="Text 2"/>
          <p:cNvSpPr/>
          <p:nvPr/>
        </p:nvSpPr>
        <p:spPr>
          <a:xfrm>
            <a:off x="548640" y="896112"/>
            <a:ext cx="10972800"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Live code: margin and padding</a:t>
            </a:r>
            <a:endParaRPr lang="en-US" sz="3000" dirty="0"/>
          </a:p>
        </p:txBody>
      </p:sp>
      <p:sp>
        <p:nvSpPr>
          <p:cNvPr id="5" name="Shape 3"/>
          <p:cNvSpPr/>
          <p:nvPr/>
        </p:nvSpPr>
        <p:spPr>
          <a:xfrm>
            <a:off x="548640" y="1691640"/>
            <a:ext cx="6766560" cy="4480560"/>
          </a:xfrm>
          <a:prstGeom prst="roundRect">
            <a:avLst>
              <a:gd name="adj" fmla="val 2449"/>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1911096"/>
            <a:ext cx="128016" cy="128016"/>
          </a:xfrm>
          <a:prstGeom prst="ellipse">
            <a:avLst/>
          </a:prstGeom>
          <a:solidFill>
            <a:srgbClr val="FF5F56"/>
          </a:solidFill>
          <a:ln/>
        </p:spPr>
      </p:sp>
      <p:sp>
        <p:nvSpPr>
          <p:cNvPr id="7" name="Shape 5"/>
          <p:cNvSpPr/>
          <p:nvPr/>
        </p:nvSpPr>
        <p:spPr>
          <a:xfrm>
            <a:off x="1042416" y="1911096"/>
            <a:ext cx="128016" cy="128016"/>
          </a:xfrm>
          <a:prstGeom prst="ellipse">
            <a:avLst/>
          </a:prstGeom>
          <a:solidFill>
            <a:srgbClr val="FFBD2E"/>
          </a:solidFill>
          <a:ln/>
        </p:spPr>
      </p:sp>
      <p:sp>
        <p:nvSpPr>
          <p:cNvPr id="8" name="Shape 6"/>
          <p:cNvSpPr/>
          <p:nvPr/>
        </p:nvSpPr>
        <p:spPr>
          <a:xfrm>
            <a:off x="1280160" y="1911096"/>
            <a:ext cx="128016" cy="128016"/>
          </a:xfrm>
          <a:prstGeom prst="ellipse">
            <a:avLst/>
          </a:prstGeom>
          <a:solidFill>
            <a:srgbClr val="27C93F"/>
          </a:solidFill>
          <a:ln/>
        </p:spPr>
      </p:sp>
      <p:sp>
        <p:nvSpPr>
          <p:cNvPr id="9" name="Text 7"/>
          <p:cNvSpPr/>
          <p:nvPr/>
        </p:nvSpPr>
        <p:spPr>
          <a:xfrm>
            <a:off x="1645920" y="1801368"/>
            <a:ext cx="5486400" cy="310896"/>
          </a:xfrm>
          <a:prstGeom prst="rect">
            <a:avLst/>
          </a:prstGeom>
          <a:noFill/>
          <a:ln/>
        </p:spPr>
        <p:txBody>
          <a:bodyPr wrap="square" lIns="0" tIns="0" rIns="0" bIns="0" rtlCol="0" anchor="ctr"/>
          <a:lstStyle/>
          <a:p>
            <a:pPr algn="l" indent="0" marL="0">
              <a:buNone/>
            </a:pPr>
            <a:r>
              <a:rPr lang="en-US" sz="1100" dirty="0">
                <a:solidFill>
                  <a:srgbClr val="94A3B8"/>
                </a:solidFill>
                <a:latin typeface="Courier New" pitchFamily="34" charset="0"/>
                <a:ea typeface="Courier New" pitchFamily="34" charset="-122"/>
                <a:cs typeface="Courier New" pitchFamily="34" charset="-120"/>
              </a:rPr>
              <a:t>style.css</a:t>
            </a:r>
            <a:endParaRPr lang="en-US" sz="1100" dirty="0"/>
          </a:p>
        </p:txBody>
      </p:sp>
      <p:sp>
        <p:nvSpPr>
          <p:cNvPr id="10" name="Text 8"/>
          <p:cNvSpPr/>
          <p:nvPr/>
        </p:nvSpPr>
        <p:spPr>
          <a:xfrm>
            <a:off x="804672" y="2221992"/>
            <a:ext cx="6254496" cy="3767328"/>
          </a:xfrm>
          <a:prstGeom prst="rect">
            <a:avLst/>
          </a:prstGeom>
          <a:noFill/>
          <a:ln/>
        </p:spPr>
        <p:txBody>
          <a:bodyPr wrap="square" lIns="0" tIns="0" rIns="0" bIns="0" rtlCol="0" anchor="t"/>
          <a:lstStyle/>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container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background-color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lightgreen</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one</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side</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time</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margin-top</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20px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or</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all</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sides</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once</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margin</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20px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30px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padding</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pushes</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content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inward</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padding</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10px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20px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30px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40px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7498080" y="1691640"/>
            <a:ext cx="4160520" cy="4480560"/>
          </a:xfrm>
          <a:prstGeom prst="roundRect">
            <a:avLst>
              <a:gd name="adj" fmla="val 2637"/>
            </a:avLst>
          </a:prstGeom>
          <a:solidFill>
            <a:srgbClr val="1B2A4A"/>
          </a:solidFill>
          <a:ln/>
        </p:spPr>
      </p:sp>
      <p:sp>
        <p:nvSpPr>
          <p:cNvPr id="12" name="Text 10"/>
          <p:cNvSpPr/>
          <p:nvPr/>
        </p:nvSpPr>
        <p:spPr>
          <a:xfrm>
            <a:off x="7726680" y="1874520"/>
            <a:ext cx="3749040" cy="320040"/>
          </a:xfrm>
          <a:prstGeom prst="rect">
            <a:avLst/>
          </a:prstGeom>
          <a:noFill/>
          <a:ln/>
        </p:spPr>
        <p:txBody>
          <a:bodyPr wrap="square" lIns="0" tIns="0" rIns="0" bIns="0" rtlCol="0" anchor="ctr"/>
          <a:lstStyle/>
          <a:p>
            <a:pPr algn="l" indent="0" marL="0">
              <a:buNone/>
            </a:pPr>
            <a:r>
              <a:rPr lang="en-US" sz="1200" b="1" spc="150" kern="0" dirty="0">
                <a:solidFill>
                  <a:srgbClr val="F59E0B"/>
                </a:solidFill>
                <a:latin typeface="Calibri" pitchFamily="34" charset="0"/>
                <a:ea typeface="Calibri" pitchFamily="34" charset="-122"/>
                <a:cs typeface="Calibri" pitchFamily="34" charset="-120"/>
              </a:rPr>
              <a:t>SAY THIS WHILE YOU TYPE</a:t>
            </a:r>
            <a:endParaRPr lang="en-US" sz="1200" dirty="0"/>
          </a:p>
        </p:txBody>
      </p:sp>
      <p:sp>
        <p:nvSpPr>
          <p:cNvPr id="13" name="Text 11"/>
          <p:cNvSpPr/>
          <p:nvPr/>
        </p:nvSpPr>
        <p:spPr>
          <a:xfrm>
            <a:off x="7726680" y="2286000"/>
            <a:ext cx="3794760" cy="3749040"/>
          </a:xfrm>
          <a:prstGeom prst="rect">
            <a:avLst/>
          </a:prstGeom>
          <a:noFill/>
          <a:ln/>
        </p:spPr>
        <p:txBody>
          <a:bodyPr wrap="square" lIns="0" tIns="0" rIns="0" bIns="0" rtlCol="0" anchor="t"/>
          <a:lstStyle/>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Give .container a lightgreen background so spacing is visible.</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margin-top pushes the box down from what is above it.</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You have margin-bottom, margin-left, margin-right too.</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Now the shorthand: two values means top-bottom, then left-right.</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Switch to padding. Watch the text move away from the edges.</a:t>
            </a:r>
            <a:endParaRPr lang="en-US" sz="1350" dirty="0"/>
          </a:p>
          <a:p>
            <a:pPr algn="l" marL="177800" indent="-177800">
              <a:spcAft>
                <a:spcPts val="1000"/>
              </a:spcAft>
              <a:buSzPct val="100000"/>
              <a:buChar char="•"/>
            </a:pPr>
            <a:r>
              <a:rPr lang="en-US" sz="1350" dirty="0">
                <a:solidFill>
                  <a:srgbClr val="C7DBFF"/>
                </a:solidFill>
                <a:latin typeface="Calibri" pitchFamily="34" charset="0"/>
                <a:ea typeface="Calibri" pitchFamily="34" charset="-122"/>
                <a:cs typeface="Calibri" pitchFamily="34" charset="-120"/>
              </a:rPr>
              <a:t>Open DevTools and hover the box. The colored layers light up.</a:t>
            </a:r>
            <a:endParaRPr lang="en-US" sz="1350" dirty="0"/>
          </a:p>
        </p:txBody>
      </p:sp>
      <p:sp>
        <p:nvSpPr>
          <p:cNvPr id="14" name="Text 1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CSS Box Model, Display and Units</a:t>
            </a:r>
            <a:endParaRPr lang="en-US" sz="1000" dirty="0"/>
          </a:p>
        </p:txBody>
      </p:sp>
      <p:sp>
        <p:nvSpPr>
          <p:cNvPr id="15" name="Text 1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832104" cy="310896"/>
          </a:xfrm>
          <a:prstGeom prst="roundRect">
            <a:avLst>
              <a:gd name="adj" fmla="val 50000"/>
            </a:avLst>
          </a:prstGeom>
          <a:solidFill>
            <a:srgbClr val="2563EB"/>
          </a:solidFill>
          <a:ln/>
        </p:spPr>
      </p:sp>
      <p:sp>
        <p:nvSpPr>
          <p:cNvPr id="3" name="Text 1"/>
          <p:cNvSpPr/>
          <p:nvPr/>
        </p:nvSpPr>
        <p:spPr>
          <a:xfrm>
            <a:off x="548640" y="457200"/>
            <a:ext cx="832104"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BORDER</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Borders and rounded corners</a:t>
            </a:r>
            <a:endParaRPr lang="en-US" sz="3400" dirty="0"/>
          </a:p>
        </p:txBody>
      </p:sp>
      <p:sp>
        <p:nvSpPr>
          <p:cNvPr id="5" name="Text 3"/>
          <p:cNvSpPr/>
          <p:nvPr/>
        </p:nvSpPr>
        <p:spPr>
          <a:xfrm>
            <a:off x="548640" y="1691640"/>
            <a:ext cx="5760720" cy="365760"/>
          </a:xfrm>
          <a:prstGeom prst="rect">
            <a:avLst/>
          </a:prstGeom>
          <a:noFill/>
          <a:ln/>
        </p:spPr>
        <p:txBody>
          <a:bodyPr wrap="square" lIns="0" tIns="0" rIns="0" bIns="0" rtlCol="0" anchor="ctr"/>
          <a:lstStyle/>
          <a:p>
            <a:pPr indent="0" marL="0">
              <a:buNone/>
            </a:pPr>
            <a:r>
              <a:rPr lang="en-US" sz="1500" dirty="0">
                <a:solidFill>
                  <a:srgbClr val="0F172A"/>
                </a:solidFill>
                <a:latin typeface="Calibri" pitchFamily="34" charset="0"/>
                <a:ea typeface="Calibri" pitchFamily="34" charset="-122"/>
                <a:cs typeface="Calibri" pitchFamily="34" charset="-120"/>
              </a:rPr>
              <a:t>Border needs three things: width, style, color.</a:t>
            </a:r>
            <a:endParaRPr lang="en-US" sz="1500" dirty="0"/>
          </a:p>
        </p:txBody>
      </p:sp>
      <p:sp>
        <p:nvSpPr>
          <p:cNvPr id="6" name="Shape 4"/>
          <p:cNvSpPr/>
          <p:nvPr/>
        </p:nvSpPr>
        <p:spPr>
          <a:xfrm>
            <a:off x="548640" y="2240280"/>
            <a:ext cx="2743200" cy="502920"/>
          </a:xfrm>
          <a:prstGeom prst="roundRect">
            <a:avLst>
              <a:gd name="adj" fmla="val 10909"/>
            </a:avLst>
          </a:prstGeom>
          <a:solidFill>
            <a:srgbClr val="FFFFFF"/>
          </a:solidFill>
          <a:ln w="31750">
            <a:solidFill>
              <a:srgbClr val="FB7185"/>
            </a:solidFill>
            <a:prstDash val="solid"/>
          </a:ln>
        </p:spPr>
      </p:sp>
      <p:sp>
        <p:nvSpPr>
          <p:cNvPr id="7" name="Text 5"/>
          <p:cNvSpPr/>
          <p:nvPr/>
        </p:nvSpPr>
        <p:spPr>
          <a:xfrm>
            <a:off x="548640" y="2240280"/>
            <a:ext cx="2743200" cy="502920"/>
          </a:xfrm>
          <a:prstGeom prst="rect">
            <a:avLst/>
          </a:prstGeom>
          <a:noFill/>
          <a:ln/>
        </p:spPr>
        <p:txBody>
          <a:bodyPr wrap="square" lIns="0" tIns="0" rIns="0" bIns="0" rtlCol="0" anchor="ctr"/>
          <a:lstStyle/>
          <a:p>
            <a:pPr algn="ctr" indent="0" marL="0">
              <a:buNone/>
            </a:pPr>
            <a:r>
              <a:rPr lang="en-US" sz="1400" b="1" dirty="0">
                <a:solidFill>
                  <a:srgbClr val="0F172A"/>
                </a:solidFill>
                <a:latin typeface="Courier New" pitchFamily="34" charset="0"/>
                <a:ea typeface="Courier New" pitchFamily="34" charset="-122"/>
                <a:cs typeface="Courier New" pitchFamily="34" charset="-120"/>
              </a:rPr>
              <a:t>solid</a:t>
            </a:r>
            <a:endParaRPr lang="en-US" sz="1400" dirty="0"/>
          </a:p>
        </p:txBody>
      </p:sp>
      <p:sp>
        <p:nvSpPr>
          <p:cNvPr id="8" name="Text 6"/>
          <p:cNvSpPr/>
          <p:nvPr/>
        </p:nvSpPr>
        <p:spPr>
          <a:xfrm>
            <a:off x="3474720" y="2240280"/>
            <a:ext cx="2834640" cy="502920"/>
          </a:xfrm>
          <a:prstGeom prst="rect">
            <a:avLst/>
          </a:prstGeom>
          <a:noFill/>
          <a:ln/>
        </p:spPr>
        <p:txBody>
          <a:bodyPr wrap="square" lIns="0" tIns="0" rIns="0" bIns="0" rtlCol="0" anchor="ctr"/>
          <a:lstStyle/>
          <a:p>
            <a:pPr algn="l" indent="0" marL="0">
              <a:buNone/>
            </a:pPr>
            <a:r>
              <a:rPr lang="en-US" sz="1150" dirty="0">
                <a:solidFill>
                  <a:srgbClr val="64748B"/>
                </a:solidFill>
                <a:latin typeface="Courier New" pitchFamily="34" charset="0"/>
                <a:ea typeface="Courier New" pitchFamily="34" charset="-122"/>
                <a:cs typeface="Courier New" pitchFamily="34" charset="-120"/>
              </a:rPr>
              <a:t>border: 2px solid red;</a:t>
            </a:r>
            <a:endParaRPr lang="en-US" sz="1150" dirty="0"/>
          </a:p>
        </p:txBody>
      </p:sp>
      <p:sp>
        <p:nvSpPr>
          <p:cNvPr id="9" name="Shape 7"/>
          <p:cNvSpPr/>
          <p:nvPr/>
        </p:nvSpPr>
        <p:spPr>
          <a:xfrm>
            <a:off x="548640" y="2898648"/>
            <a:ext cx="2743200" cy="502920"/>
          </a:xfrm>
          <a:prstGeom prst="roundRect">
            <a:avLst>
              <a:gd name="adj" fmla="val 10909"/>
            </a:avLst>
          </a:prstGeom>
          <a:solidFill>
            <a:srgbClr val="FFFFFF"/>
          </a:solidFill>
          <a:ln w="31750">
            <a:solidFill>
              <a:srgbClr val="FB7185"/>
            </a:solidFill>
            <a:prstDash val="dash"/>
          </a:ln>
        </p:spPr>
      </p:sp>
      <p:sp>
        <p:nvSpPr>
          <p:cNvPr id="10" name="Text 8"/>
          <p:cNvSpPr/>
          <p:nvPr/>
        </p:nvSpPr>
        <p:spPr>
          <a:xfrm>
            <a:off x="548640" y="2898648"/>
            <a:ext cx="2743200" cy="502920"/>
          </a:xfrm>
          <a:prstGeom prst="rect">
            <a:avLst/>
          </a:prstGeom>
          <a:noFill/>
          <a:ln/>
        </p:spPr>
        <p:txBody>
          <a:bodyPr wrap="square" lIns="0" tIns="0" rIns="0" bIns="0" rtlCol="0" anchor="ctr"/>
          <a:lstStyle/>
          <a:p>
            <a:pPr algn="ctr" indent="0" marL="0">
              <a:buNone/>
            </a:pPr>
            <a:r>
              <a:rPr lang="en-US" sz="1400" b="1" dirty="0">
                <a:solidFill>
                  <a:srgbClr val="0F172A"/>
                </a:solidFill>
                <a:latin typeface="Courier New" pitchFamily="34" charset="0"/>
                <a:ea typeface="Courier New" pitchFamily="34" charset="-122"/>
                <a:cs typeface="Courier New" pitchFamily="34" charset="-120"/>
              </a:rPr>
              <a:t>dashed</a:t>
            </a:r>
            <a:endParaRPr lang="en-US" sz="1400" dirty="0"/>
          </a:p>
        </p:txBody>
      </p:sp>
      <p:sp>
        <p:nvSpPr>
          <p:cNvPr id="11" name="Text 9"/>
          <p:cNvSpPr/>
          <p:nvPr/>
        </p:nvSpPr>
        <p:spPr>
          <a:xfrm>
            <a:off x="3474720" y="2898648"/>
            <a:ext cx="2834640" cy="502920"/>
          </a:xfrm>
          <a:prstGeom prst="rect">
            <a:avLst/>
          </a:prstGeom>
          <a:noFill/>
          <a:ln/>
        </p:spPr>
        <p:txBody>
          <a:bodyPr wrap="square" lIns="0" tIns="0" rIns="0" bIns="0" rtlCol="0" anchor="ctr"/>
          <a:lstStyle/>
          <a:p>
            <a:pPr algn="l" indent="0" marL="0">
              <a:buNone/>
            </a:pPr>
            <a:r>
              <a:rPr lang="en-US" sz="1150" dirty="0">
                <a:solidFill>
                  <a:srgbClr val="64748B"/>
                </a:solidFill>
                <a:latin typeface="Courier New" pitchFamily="34" charset="0"/>
                <a:ea typeface="Courier New" pitchFamily="34" charset="-122"/>
                <a:cs typeface="Courier New" pitchFamily="34" charset="-120"/>
              </a:rPr>
              <a:t>border: 2px dashed red;</a:t>
            </a:r>
            <a:endParaRPr lang="en-US" sz="1150" dirty="0"/>
          </a:p>
        </p:txBody>
      </p:sp>
      <p:sp>
        <p:nvSpPr>
          <p:cNvPr id="12" name="Shape 10"/>
          <p:cNvSpPr/>
          <p:nvPr/>
        </p:nvSpPr>
        <p:spPr>
          <a:xfrm>
            <a:off x="548640" y="3557016"/>
            <a:ext cx="2743200" cy="502920"/>
          </a:xfrm>
          <a:prstGeom prst="roundRect">
            <a:avLst>
              <a:gd name="adj" fmla="val 10909"/>
            </a:avLst>
          </a:prstGeom>
          <a:solidFill>
            <a:srgbClr val="FFFFFF"/>
          </a:solidFill>
          <a:ln w="31750">
            <a:solidFill>
              <a:srgbClr val="FB7185"/>
            </a:solidFill>
            <a:prstDash val="sysDot"/>
          </a:ln>
        </p:spPr>
      </p:sp>
      <p:sp>
        <p:nvSpPr>
          <p:cNvPr id="13" name="Text 11"/>
          <p:cNvSpPr/>
          <p:nvPr/>
        </p:nvSpPr>
        <p:spPr>
          <a:xfrm>
            <a:off x="548640" y="3557016"/>
            <a:ext cx="2743200" cy="502920"/>
          </a:xfrm>
          <a:prstGeom prst="rect">
            <a:avLst/>
          </a:prstGeom>
          <a:noFill/>
          <a:ln/>
        </p:spPr>
        <p:txBody>
          <a:bodyPr wrap="square" lIns="0" tIns="0" rIns="0" bIns="0" rtlCol="0" anchor="ctr"/>
          <a:lstStyle/>
          <a:p>
            <a:pPr algn="ctr" indent="0" marL="0">
              <a:buNone/>
            </a:pPr>
            <a:r>
              <a:rPr lang="en-US" sz="1400" b="1" dirty="0">
                <a:solidFill>
                  <a:srgbClr val="0F172A"/>
                </a:solidFill>
                <a:latin typeface="Courier New" pitchFamily="34" charset="0"/>
                <a:ea typeface="Courier New" pitchFamily="34" charset="-122"/>
                <a:cs typeface="Courier New" pitchFamily="34" charset="-120"/>
              </a:rPr>
              <a:t>dotted</a:t>
            </a:r>
            <a:endParaRPr lang="en-US" sz="1400" dirty="0"/>
          </a:p>
        </p:txBody>
      </p:sp>
      <p:sp>
        <p:nvSpPr>
          <p:cNvPr id="14" name="Text 12"/>
          <p:cNvSpPr/>
          <p:nvPr/>
        </p:nvSpPr>
        <p:spPr>
          <a:xfrm>
            <a:off x="3474720" y="3557016"/>
            <a:ext cx="2834640" cy="502920"/>
          </a:xfrm>
          <a:prstGeom prst="rect">
            <a:avLst/>
          </a:prstGeom>
          <a:noFill/>
          <a:ln/>
        </p:spPr>
        <p:txBody>
          <a:bodyPr wrap="square" lIns="0" tIns="0" rIns="0" bIns="0" rtlCol="0" anchor="ctr"/>
          <a:lstStyle/>
          <a:p>
            <a:pPr algn="l" indent="0" marL="0">
              <a:buNone/>
            </a:pPr>
            <a:r>
              <a:rPr lang="en-US" sz="1150" dirty="0">
                <a:solidFill>
                  <a:srgbClr val="64748B"/>
                </a:solidFill>
                <a:latin typeface="Courier New" pitchFamily="34" charset="0"/>
                <a:ea typeface="Courier New" pitchFamily="34" charset="-122"/>
                <a:cs typeface="Courier New" pitchFamily="34" charset="-120"/>
              </a:rPr>
              <a:t>border: 2px dotted red;</a:t>
            </a:r>
            <a:endParaRPr lang="en-US" sz="1150" dirty="0"/>
          </a:p>
        </p:txBody>
      </p:sp>
      <p:sp>
        <p:nvSpPr>
          <p:cNvPr id="15" name="Shape 13"/>
          <p:cNvSpPr/>
          <p:nvPr/>
        </p:nvSpPr>
        <p:spPr>
          <a:xfrm>
            <a:off x="548640" y="4343400"/>
            <a:ext cx="5760720" cy="1600200"/>
          </a:xfrm>
          <a:prstGeom prst="roundRect">
            <a:avLst>
              <a:gd name="adj" fmla="val 6857"/>
            </a:avLst>
          </a:prstGeom>
          <a:solidFill>
            <a:srgbClr val="F8FA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6" name="Text 14"/>
          <p:cNvSpPr/>
          <p:nvPr/>
        </p:nvSpPr>
        <p:spPr>
          <a:xfrm>
            <a:off x="731520" y="4462272"/>
            <a:ext cx="54864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Per-side control</a:t>
            </a:r>
            <a:endParaRPr lang="en-US" sz="1400" dirty="0"/>
          </a:p>
        </p:txBody>
      </p:sp>
      <p:sp>
        <p:nvSpPr>
          <p:cNvPr id="17" name="Text 15"/>
          <p:cNvSpPr/>
          <p:nvPr/>
        </p:nvSpPr>
        <p:spPr>
          <a:xfrm>
            <a:off x="731520" y="4800600"/>
            <a:ext cx="5486400" cy="1051560"/>
          </a:xfrm>
          <a:prstGeom prst="rect">
            <a:avLst/>
          </a:prstGeom>
          <a:noFill/>
          <a:ln/>
        </p:spPr>
        <p:txBody>
          <a:bodyPr wrap="square" lIns="0" tIns="0" rIns="0" bIns="0" rtlCol="0" anchor="t"/>
          <a:lstStyle/>
          <a:p>
            <a:pPr algn="l" indent="0" marL="0">
              <a:spcAft>
                <a:spcPts val="300"/>
              </a:spcAft>
              <a:buNone/>
            </a:pPr>
            <a:r>
              <a:rPr lang="en-US" sz="1200" dirty="0">
                <a:solidFill>
                  <a:srgbClr val="0F172A"/>
                </a:solidFill>
                <a:latin typeface="Courier New" pitchFamily="34" charset="0"/>
                <a:ea typeface="Courier New" pitchFamily="34" charset="-122"/>
                <a:cs typeface="Courier New" pitchFamily="34" charset="-120"/>
              </a:rPr>
              <a:t>border-top: 5px solid blue;</a:t>
            </a:r>
            <a:endParaRPr lang="en-US" sz="1200" dirty="0"/>
          </a:p>
          <a:p>
            <a:pPr algn="l" indent="0" marL="0">
              <a:spcAft>
                <a:spcPts val="300"/>
              </a:spcAft>
              <a:buNone/>
            </a:pPr>
            <a:r>
              <a:rPr lang="en-US" sz="1200" dirty="0">
                <a:solidFill>
                  <a:srgbClr val="0F172A"/>
                </a:solidFill>
                <a:latin typeface="Courier New" pitchFamily="34" charset="0"/>
                <a:ea typeface="Courier New" pitchFamily="34" charset="-122"/>
                <a:cs typeface="Courier New" pitchFamily="34" charset="-120"/>
              </a:rPr>
              <a:t>border-left: 2px solid tomato;</a:t>
            </a:r>
            <a:endParaRPr lang="en-US" sz="1200" dirty="0"/>
          </a:p>
          <a:p>
            <a:pPr algn="l" indent="0" marL="0">
              <a:spcAft>
                <a:spcPts val="300"/>
              </a:spcAft>
              <a:buNone/>
            </a:pPr>
            <a:r>
              <a:rPr lang="en-US" sz="1200" dirty="0">
                <a:solidFill>
                  <a:srgbClr val="0F172A"/>
                </a:solidFill>
                <a:latin typeface="Courier New" pitchFamily="34" charset="0"/>
                <a:ea typeface="Courier New" pitchFamily="34" charset="-122"/>
                <a:cs typeface="Courier New" pitchFamily="34" charset="-120"/>
              </a:rPr>
              <a:t>border-right: 6px dashed green;</a:t>
            </a:r>
            <a:endParaRPr lang="en-US" sz="1200" dirty="0"/>
          </a:p>
          <a:p>
            <a:pPr algn="l" indent="0" marL="0">
              <a:spcAft>
                <a:spcPts val="300"/>
              </a:spcAft>
              <a:buNone/>
            </a:pPr>
            <a:r>
              <a:rPr lang="en-US" sz="1200" dirty="0">
                <a:solidFill>
                  <a:srgbClr val="0F172A"/>
                </a:solidFill>
                <a:latin typeface="Courier New" pitchFamily="34" charset="0"/>
                <a:ea typeface="Courier New" pitchFamily="34" charset="-122"/>
                <a:cs typeface="Courier New" pitchFamily="34" charset="-120"/>
              </a:rPr>
              <a:t>border-bottom: 5px solid red;</a:t>
            </a:r>
            <a:endParaRPr lang="en-US" sz="1200" dirty="0"/>
          </a:p>
        </p:txBody>
      </p:sp>
      <p:sp>
        <p:nvSpPr>
          <p:cNvPr id="18" name="Text 16"/>
          <p:cNvSpPr/>
          <p:nvPr/>
        </p:nvSpPr>
        <p:spPr>
          <a:xfrm>
            <a:off x="6675120" y="1691640"/>
            <a:ext cx="493776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border-radius rounds the corners</a:t>
            </a:r>
            <a:endParaRPr lang="en-US" sz="1500" dirty="0"/>
          </a:p>
        </p:txBody>
      </p:sp>
      <p:sp>
        <p:nvSpPr>
          <p:cNvPr id="19" name="Shape 17"/>
          <p:cNvSpPr/>
          <p:nvPr/>
        </p:nvSpPr>
        <p:spPr>
          <a:xfrm>
            <a:off x="6720840" y="2286000"/>
            <a:ext cx="1371600" cy="1371600"/>
          </a:xfrm>
          <a:prstGeom prst="roundRect">
            <a:avLst/>
          </a:prstGeom>
          <a:solidFill>
            <a:srgbClr val="9CC5FF"/>
          </a:solidFill>
          <a:ln w="25400">
            <a:solidFill>
              <a:srgbClr val="2563EB"/>
            </a:solidFill>
            <a:prstDash val="solid"/>
          </a:ln>
        </p:spPr>
      </p:sp>
      <p:sp>
        <p:nvSpPr>
          <p:cNvPr id="20" name="Text 18"/>
          <p:cNvSpPr/>
          <p:nvPr/>
        </p:nvSpPr>
        <p:spPr>
          <a:xfrm>
            <a:off x="6720840" y="3703320"/>
            <a:ext cx="137160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Courier New" pitchFamily="34" charset="0"/>
                <a:ea typeface="Courier New" pitchFamily="34" charset="-122"/>
                <a:cs typeface="Courier New" pitchFamily="34" charset="-120"/>
              </a:rPr>
              <a:t>0px</a:t>
            </a:r>
            <a:endParaRPr lang="en-US" sz="1200" dirty="0"/>
          </a:p>
        </p:txBody>
      </p:sp>
      <p:sp>
        <p:nvSpPr>
          <p:cNvPr id="21" name="Shape 19"/>
          <p:cNvSpPr/>
          <p:nvPr/>
        </p:nvSpPr>
        <p:spPr>
          <a:xfrm>
            <a:off x="8412480" y="2286000"/>
            <a:ext cx="1371600" cy="1371600"/>
          </a:xfrm>
          <a:prstGeom prst="roundRect">
            <a:avLst>
              <a:gd name="adj" fmla="val 12000"/>
            </a:avLst>
          </a:prstGeom>
          <a:solidFill>
            <a:srgbClr val="9CC5FF"/>
          </a:solidFill>
          <a:ln w="25400">
            <a:solidFill>
              <a:srgbClr val="2563EB"/>
            </a:solidFill>
            <a:prstDash val="solid"/>
          </a:ln>
        </p:spPr>
      </p:sp>
      <p:sp>
        <p:nvSpPr>
          <p:cNvPr id="22" name="Text 20"/>
          <p:cNvSpPr/>
          <p:nvPr/>
        </p:nvSpPr>
        <p:spPr>
          <a:xfrm>
            <a:off x="8412480" y="3703320"/>
            <a:ext cx="137160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Courier New" pitchFamily="34" charset="0"/>
                <a:ea typeface="Courier New" pitchFamily="34" charset="-122"/>
                <a:cs typeface="Courier New" pitchFamily="34" charset="-120"/>
              </a:rPr>
              <a:t>20px</a:t>
            </a:r>
            <a:endParaRPr lang="en-US" sz="1200" dirty="0"/>
          </a:p>
        </p:txBody>
      </p:sp>
      <p:sp>
        <p:nvSpPr>
          <p:cNvPr id="23" name="Shape 21"/>
          <p:cNvSpPr/>
          <p:nvPr/>
        </p:nvSpPr>
        <p:spPr>
          <a:xfrm>
            <a:off x="10104120" y="2286000"/>
            <a:ext cx="1371600" cy="1371600"/>
          </a:xfrm>
          <a:prstGeom prst="roundRect">
            <a:avLst>
              <a:gd name="adj" fmla="val 40000"/>
            </a:avLst>
          </a:prstGeom>
          <a:solidFill>
            <a:srgbClr val="9CC5FF"/>
          </a:solidFill>
          <a:ln w="25400">
            <a:solidFill>
              <a:srgbClr val="2563EB"/>
            </a:solidFill>
            <a:prstDash val="solid"/>
          </a:ln>
        </p:spPr>
      </p:sp>
      <p:sp>
        <p:nvSpPr>
          <p:cNvPr id="24" name="Text 22"/>
          <p:cNvSpPr/>
          <p:nvPr/>
        </p:nvSpPr>
        <p:spPr>
          <a:xfrm>
            <a:off x="10104120" y="3703320"/>
            <a:ext cx="1371600" cy="274320"/>
          </a:xfrm>
          <a:prstGeom prst="rect">
            <a:avLst/>
          </a:prstGeom>
          <a:noFill/>
          <a:ln/>
        </p:spPr>
        <p:txBody>
          <a:bodyPr wrap="square" lIns="0" tIns="0" rIns="0" bIns="0" rtlCol="0" anchor="ctr"/>
          <a:lstStyle/>
          <a:p>
            <a:pPr algn="ctr" indent="0" marL="0">
              <a:buNone/>
            </a:pPr>
            <a:r>
              <a:rPr lang="en-US" sz="1200" b="1" dirty="0">
                <a:solidFill>
                  <a:srgbClr val="0F172A"/>
                </a:solidFill>
                <a:latin typeface="Courier New" pitchFamily="34" charset="0"/>
                <a:ea typeface="Courier New" pitchFamily="34" charset="-122"/>
                <a:cs typeface="Courier New" pitchFamily="34" charset="-120"/>
              </a:rPr>
              <a:t>50%</a:t>
            </a:r>
            <a:endParaRPr lang="en-US" sz="1200" dirty="0"/>
          </a:p>
        </p:txBody>
      </p:sp>
      <p:sp>
        <p:nvSpPr>
          <p:cNvPr id="25" name="Shape 23"/>
          <p:cNvSpPr/>
          <p:nvPr/>
        </p:nvSpPr>
        <p:spPr>
          <a:xfrm>
            <a:off x="6675120" y="4343400"/>
            <a:ext cx="4937760" cy="822960"/>
          </a:xfrm>
          <a:prstGeom prst="roundRect">
            <a:avLst>
              <a:gd name="adj" fmla="val 13333"/>
            </a:avLst>
          </a:prstGeom>
          <a:solidFill>
            <a:srgbClr val="E5EEFF"/>
          </a:solidFill>
          <a:ln/>
        </p:spPr>
      </p:sp>
      <p:sp>
        <p:nvSpPr>
          <p:cNvPr id="26" name="Shape 24"/>
          <p:cNvSpPr/>
          <p:nvPr/>
        </p:nvSpPr>
        <p:spPr>
          <a:xfrm>
            <a:off x="6876288" y="4626864"/>
            <a:ext cx="256032" cy="256032"/>
          </a:xfrm>
          <a:prstGeom prst="ellipse">
            <a:avLst/>
          </a:prstGeom>
          <a:solidFill>
            <a:srgbClr val="2563EB"/>
          </a:solidFill>
          <a:ln/>
        </p:spPr>
      </p:sp>
      <p:sp>
        <p:nvSpPr>
          <p:cNvPr id="27" name="Text 25"/>
          <p:cNvSpPr/>
          <p:nvPr/>
        </p:nvSpPr>
        <p:spPr>
          <a:xfrm>
            <a:off x="7333488" y="4343400"/>
            <a:ext cx="4069080" cy="822960"/>
          </a:xfrm>
          <a:prstGeom prst="rect">
            <a:avLst/>
          </a:prstGeom>
          <a:noFill/>
          <a:ln/>
        </p:spPr>
        <p:txBody>
          <a:bodyPr wrap="square" lIns="0" tIns="0" rIns="0" bIns="0" rtlCol="0" anchor="ctr"/>
          <a:lstStyle/>
          <a:p>
            <a:pPr algn="l" indent="0" marL="0">
              <a:buNone/>
            </a:pPr>
            <a:r>
              <a:rPr lang="en-US" sz="1400" dirty="0">
                <a:solidFill>
                  <a:srgbClr val="0F172A"/>
                </a:solidFill>
                <a:latin typeface="Calibri" pitchFamily="34" charset="0"/>
                <a:ea typeface="Calibri" pitchFamily="34" charset="-122"/>
                <a:cs typeface="Calibri" pitchFamily="34" charset="-120"/>
              </a:rPr>
              <a:t>One corner at a time too: border-top-right-radius: 20px;</a:t>
            </a:r>
            <a:endParaRPr lang="en-US" sz="1400" dirty="0"/>
          </a:p>
        </p:txBody>
      </p:sp>
      <p:sp>
        <p:nvSpPr>
          <p:cNvPr id="28" name="Text 26"/>
          <p:cNvSpPr/>
          <p:nvPr/>
        </p:nvSpPr>
        <p:spPr>
          <a:xfrm>
            <a:off x="6675120" y="5349240"/>
            <a:ext cx="4937760" cy="594360"/>
          </a:xfrm>
          <a:prstGeom prst="rect">
            <a:avLst/>
          </a:prstGeom>
          <a:noFill/>
          <a:ln/>
        </p:spPr>
        <p:txBody>
          <a:bodyPr wrap="square" lIns="0" tIns="0" rIns="0" bIns="0" rtlCol="0" anchor="ctr"/>
          <a:lstStyle/>
          <a:p>
            <a:pPr algn="l" indent="0" marL="0">
              <a:buNone/>
            </a:pPr>
            <a:r>
              <a:rPr lang="en-US" sz="1300" i="1" dirty="0">
                <a:solidFill>
                  <a:srgbClr val="2563EB"/>
                </a:solidFill>
                <a:latin typeface="Calibri" pitchFamily="34" charset="0"/>
                <a:ea typeface="Calibri" pitchFamily="34" charset="-122"/>
                <a:cs typeface="Calibri" pitchFamily="34" charset="-120"/>
              </a:rPr>
              <a:t>Margins, Padding and Borders together are the Box Model.</a:t>
            </a:r>
            <a:endParaRPr lang="en-US" sz="1300" dirty="0"/>
          </a:p>
        </p:txBody>
      </p:sp>
      <p:sp>
        <p:nvSpPr>
          <p:cNvPr id="29" name="Text 27"/>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30" name="Text 28"/>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DRY RUN</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Putting it together: the code</a:t>
            </a:r>
            <a:endParaRPr lang="en-US" sz="3400" dirty="0"/>
          </a:p>
        </p:txBody>
      </p:sp>
      <p:sp>
        <p:nvSpPr>
          <p:cNvPr id="5" name="Shape 3"/>
          <p:cNvSpPr/>
          <p:nvPr/>
        </p:nvSpPr>
        <p:spPr>
          <a:xfrm>
            <a:off x="548640" y="1645920"/>
            <a:ext cx="6675120" cy="4480560"/>
          </a:xfrm>
          <a:prstGeom prst="roundRect">
            <a:avLst>
              <a:gd name="adj" fmla="val 2449"/>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1865376"/>
            <a:ext cx="128016" cy="128016"/>
          </a:xfrm>
          <a:prstGeom prst="ellipse">
            <a:avLst/>
          </a:prstGeom>
          <a:solidFill>
            <a:srgbClr val="FF5F56"/>
          </a:solidFill>
          <a:ln/>
        </p:spPr>
      </p:sp>
      <p:sp>
        <p:nvSpPr>
          <p:cNvPr id="7" name="Shape 5"/>
          <p:cNvSpPr/>
          <p:nvPr/>
        </p:nvSpPr>
        <p:spPr>
          <a:xfrm>
            <a:off x="1042416" y="1865376"/>
            <a:ext cx="128016" cy="128016"/>
          </a:xfrm>
          <a:prstGeom prst="ellipse">
            <a:avLst/>
          </a:prstGeom>
          <a:solidFill>
            <a:srgbClr val="FFBD2E"/>
          </a:solidFill>
          <a:ln/>
        </p:spPr>
      </p:sp>
      <p:sp>
        <p:nvSpPr>
          <p:cNvPr id="8" name="Shape 6"/>
          <p:cNvSpPr/>
          <p:nvPr/>
        </p:nvSpPr>
        <p:spPr>
          <a:xfrm>
            <a:off x="1280160" y="1865376"/>
            <a:ext cx="128016" cy="128016"/>
          </a:xfrm>
          <a:prstGeom prst="ellipse">
            <a:avLst/>
          </a:prstGeom>
          <a:solidFill>
            <a:srgbClr val="27C93F"/>
          </a:solidFill>
          <a:ln/>
        </p:spPr>
      </p:sp>
      <p:sp>
        <p:nvSpPr>
          <p:cNvPr id="9" name="Text 7"/>
          <p:cNvSpPr/>
          <p:nvPr/>
        </p:nvSpPr>
        <p:spPr>
          <a:xfrm>
            <a:off x="804672" y="2176272"/>
            <a:ext cx="6163056" cy="3767328"/>
          </a:xfrm>
          <a:prstGeom prst="rect">
            <a:avLst/>
          </a:prstGeom>
          <a:noFill/>
          <a:ln/>
        </p:spPr>
        <p:txBody>
          <a:bodyPr wrap="square" lIns="0" tIns="0" rIns="0" bIns="0" rtlCol="0" anchor="t"/>
          <a:lstStyle/>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container</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background-color</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lightgreen</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margin</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20px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30px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border-top</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5px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solid</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blue</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border-left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2px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solid</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tomato</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border-right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6px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dashed</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black</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border-bottom</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5px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solid</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yellow</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border-top-left-radius</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20px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border-bottom-left-radius</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30px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padding</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10px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20px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30px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40px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0" name="Text 8"/>
          <p:cNvSpPr/>
          <p:nvPr/>
        </p:nvSpPr>
        <p:spPr>
          <a:xfrm>
            <a:off x="7498080" y="1737360"/>
            <a:ext cx="411480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Trace it, top to bottom</a:t>
            </a:r>
            <a:endParaRPr lang="en-US" sz="1500" dirty="0"/>
          </a:p>
        </p:txBody>
      </p:sp>
      <p:sp>
        <p:nvSpPr>
          <p:cNvPr id="11" name="Shape 9"/>
          <p:cNvSpPr/>
          <p:nvPr/>
        </p:nvSpPr>
        <p:spPr>
          <a:xfrm>
            <a:off x="7543800" y="2194560"/>
            <a:ext cx="402336" cy="402336"/>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12" name="Text 10"/>
          <p:cNvSpPr/>
          <p:nvPr/>
        </p:nvSpPr>
        <p:spPr>
          <a:xfrm>
            <a:off x="7543800" y="2194560"/>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3" name="Text 11"/>
          <p:cNvSpPr/>
          <p:nvPr/>
        </p:nvSpPr>
        <p:spPr>
          <a:xfrm>
            <a:off x="8092440" y="2148840"/>
            <a:ext cx="3566160" cy="502920"/>
          </a:xfrm>
          <a:prstGeom prst="rect">
            <a:avLst/>
          </a:prstGeom>
          <a:noFill/>
          <a:ln/>
        </p:spPr>
        <p:txBody>
          <a:bodyPr wrap="square" lIns="0" tIns="0" rIns="0" bIns="0" rtlCol="0" anchor="ctr"/>
          <a:lstStyle/>
          <a:p>
            <a:pPr algn="l" indent="0" marL="0">
              <a:buNone/>
            </a:pPr>
            <a:r>
              <a:rPr lang="en-US" sz="1350" b="1" dirty="0">
                <a:solidFill>
                  <a:srgbClr val="2563EB"/>
                </a:solidFill>
                <a:latin typeface="Calibri" pitchFamily="34" charset="0"/>
                <a:ea typeface="Calibri" pitchFamily="34" charset="-122"/>
                <a:cs typeface="Calibri" pitchFamily="34" charset="-120"/>
              </a:rPr>
              <a:t>fill  </a:t>
            </a:r>
            <a:pPr algn="l" indent="0" marL="0">
              <a:buNone/>
            </a:pPr>
            <a:r>
              <a:rPr lang="en-US" sz="1350" dirty="0">
                <a:solidFill>
                  <a:srgbClr val="0F172A"/>
                </a:solidFill>
                <a:latin typeface="Calibri" pitchFamily="34" charset="0"/>
                <a:ea typeface="Calibri" pitchFamily="34" charset="-122"/>
                <a:cs typeface="Calibri" pitchFamily="34" charset="-120"/>
              </a:rPr>
              <a:t>lightgreen background</a:t>
            </a:r>
            <a:endParaRPr lang="en-US" sz="1350" dirty="0"/>
          </a:p>
        </p:txBody>
      </p:sp>
      <p:sp>
        <p:nvSpPr>
          <p:cNvPr id="14" name="Shape 12"/>
          <p:cNvSpPr/>
          <p:nvPr/>
        </p:nvSpPr>
        <p:spPr>
          <a:xfrm>
            <a:off x="7543800" y="2944368"/>
            <a:ext cx="402336" cy="402336"/>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15" name="Text 13"/>
          <p:cNvSpPr/>
          <p:nvPr/>
        </p:nvSpPr>
        <p:spPr>
          <a:xfrm>
            <a:off x="7543800" y="2944368"/>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8092440" y="2898648"/>
            <a:ext cx="3566160" cy="502920"/>
          </a:xfrm>
          <a:prstGeom prst="rect">
            <a:avLst/>
          </a:prstGeom>
          <a:noFill/>
          <a:ln/>
        </p:spPr>
        <p:txBody>
          <a:bodyPr wrap="square" lIns="0" tIns="0" rIns="0" bIns="0" rtlCol="0" anchor="ctr"/>
          <a:lstStyle/>
          <a:p>
            <a:pPr algn="l" indent="0" marL="0">
              <a:buNone/>
            </a:pPr>
            <a:r>
              <a:rPr lang="en-US" sz="1350" b="1" dirty="0">
                <a:solidFill>
                  <a:srgbClr val="2563EB"/>
                </a:solidFill>
                <a:latin typeface="Calibri" pitchFamily="34" charset="0"/>
                <a:ea typeface="Calibri" pitchFamily="34" charset="-122"/>
                <a:cs typeface="Calibri" pitchFamily="34" charset="-120"/>
              </a:rPr>
              <a:t>push out  </a:t>
            </a:r>
            <a:pPr algn="l" indent="0" marL="0">
              <a:buNone/>
            </a:pPr>
            <a:r>
              <a:rPr lang="en-US" sz="1350" dirty="0">
                <a:solidFill>
                  <a:srgbClr val="0F172A"/>
                </a:solidFill>
                <a:latin typeface="Calibri" pitchFamily="34" charset="0"/>
                <a:ea typeface="Calibri" pitchFamily="34" charset="-122"/>
                <a:cs typeface="Calibri" pitchFamily="34" charset="-120"/>
              </a:rPr>
              <a:t>20px top-bottom, 30px sides</a:t>
            </a:r>
            <a:endParaRPr lang="en-US" sz="1350" dirty="0"/>
          </a:p>
        </p:txBody>
      </p:sp>
      <p:sp>
        <p:nvSpPr>
          <p:cNvPr id="17" name="Shape 15"/>
          <p:cNvSpPr/>
          <p:nvPr/>
        </p:nvSpPr>
        <p:spPr>
          <a:xfrm>
            <a:off x="7543800" y="3694176"/>
            <a:ext cx="402336" cy="402336"/>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18" name="Text 16"/>
          <p:cNvSpPr/>
          <p:nvPr/>
        </p:nvSpPr>
        <p:spPr>
          <a:xfrm>
            <a:off x="7543800" y="3694176"/>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8092440" y="3648456"/>
            <a:ext cx="3566160" cy="502920"/>
          </a:xfrm>
          <a:prstGeom prst="rect">
            <a:avLst/>
          </a:prstGeom>
          <a:noFill/>
          <a:ln/>
        </p:spPr>
        <p:txBody>
          <a:bodyPr wrap="square" lIns="0" tIns="0" rIns="0" bIns="0" rtlCol="0" anchor="ctr"/>
          <a:lstStyle/>
          <a:p>
            <a:pPr algn="l" indent="0" marL="0">
              <a:buNone/>
            </a:pPr>
            <a:r>
              <a:rPr lang="en-US" sz="1350" b="1" dirty="0">
                <a:solidFill>
                  <a:srgbClr val="2563EB"/>
                </a:solidFill>
                <a:latin typeface="Calibri" pitchFamily="34" charset="0"/>
                <a:ea typeface="Calibri" pitchFamily="34" charset="-122"/>
                <a:cs typeface="Calibri" pitchFamily="34" charset="-120"/>
              </a:rPr>
              <a:t>edges  </a:t>
            </a:r>
            <a:pPr algn="l" indent="0" marL="0">
              <a:buNone/>
            </a:pPr>
            <a:r>
              <a:rPr lang="en-US" sz="1350" dirty="0">
                <a:solidFill>
                  <a:srgbClr val="0F172A"/>
                </a:solidFill>
                <a:latin typeface="Calibri" pitchFamily="34" charset="0"/>
                <a:ea typeface="Calibri" pitchFamily="34" charset="-122"/>
                <a:cs typeface="Calibri" pitchFamily="34" charset="-120"/>
              </a:rPr>
              <a:t>4 different border colors</a:t>
            </a:r>
            <a:endParaRPr lang="en-US" sz="1350" dirty="0"/>
          </a:p>
        </p:txBody>
      </p:sp>
      <p:sp>
        <p:nvSpPr>
          <p:cNvPr id="20" name="Shape 18"/>
          <p:cNvSpPr/>
          <p:nvPr/>
        </p:nvSpPr>
        <p:spPr>
          <a:xfrm>
            <a:off x="7543800" y="4443984"/>
            <a:ext cx="402336" cy="402336"/>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21" name="Text 19"/>
          <p:cNvSpPr/>
          <p:nvPr/>
        </p:nvSpPr>
        <p:spPr>
          <a:xfrm>
            <a:off x="7543800" y="4443984"/>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8092440" y="4398264"/>
            <a:ext cx="3566160" cy="502920"/>
          </a:xfrm>
          <a:prstGeom prst="rect">
            <a:avLst/>
          </a:prstGeom>
          <a:noFill/>
          <a:ln/>
        </p:spPr>
        <p:txBody>
          <a:bodyPr wrap="square" lIns="0" tIns="0" rIns="0" bIns="0" rtlCol="0" anchor="ctr"/>
          <a:lstStyle/>
          <a:p>
            <a:pPr algn="l" indent="0" marL="0">
              <a:buNone/>
            </a:pPr>
            <a:r>
              <a:rPr lang="en-US" sz="1350" b="1" dirty="0">
                <a:solidFill>
                  <a:srgbClr val="2563EB"/>
                </a:solidFill>
                <a:latin typeface="Calibri" pitchFamily="34" charset="0"/>
                <a:ea typeface="Calibri" pitchFamily="34" charset="-122"/>
                <a:cs typeface="Calibri" pitchFamily="34" charset="-120"/>
              </a:rPr>
              <a:t>curve  </a:t>
            </a:r>
            <a:pPr algn="l" indent="0" marL="0">
              <a:buNone/>
            </a:pPr>
            <a:r>
              <a:rPr lang="en-US" sz="1350" dirty="0">
                <a:solidFill>
                  <a:srgbClr val="0F172A"/>
                </a:solidFill>
                <a:latin typeface="Calibri" pitchFamily="34" charset="0"/>
                <a:ea typeface="Calibri" pitchFamily="34" charset="-122"/>
                <a:cs typeface="Calibri" pitchFamily="34" charset="-120"/>
              </a:rPr>
              <a:t>two left corners rounded</a:t>
            </a:r>
            <a:endParaRPr lang="en-US" sz="1350" dirty="0"/>
          </a:p>
        </p:txBody>
      </p:sp>
      <p:sp>
        <p:nvSpPr>
          <p:cNvPr id="23" name="Shape 21"/>
          <p:cNvSpPr/>
          <p:nvPr/>
        </p:nvSpPr>
        <p:spPr>
          <a:xfrm>
            <a:off x="7543800" y="5193792"/>
            <a:ext cx="402336" cy="402336"/>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24" name="Text 22"/>
          <p:cNvSpPr/>
          <p:nvPr/>
        </p:nvSpPr>
        <p:spPr>
          <a:xfrm>
            <a:off x="7543800" y="5193792"/>
            <a:ext cx="402336" cy="40233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5" name="Text 23"/>
          <p:cNvSpPr/>
          <p:nvPr/>
        </p:nvSpPr>
        <p:spPr>
          <a:xfrm>
            <a:off x="8092440" y="5148072"/>
            <a:ext cx="3566160" cy="502920"/>
          </a:xfrm>
          <a:prstGeom prst="rect">
            <a:avLst/>
          </a:prstGeom>
          <a:noFill/>
          <a:ln/>
        </p:spPr>
        <p:txBody>
          <a:bodyPr wrap="square" lIns="0" tIns="0" rIns="0" bIns="0" rtlCol="0" anchor="ctr"/>
          <a:lstStyle/>
          <a:p>
            <a:pPr algn="l" indent="0" marL="0">
              <a:buNone/>
            </a:pPr>
            <a:r>
              <a:rPr lang="en-US" sz="1350" b="1" dirty="0">
                <a:solidFill>
                  <a:srgbClr val="2563EB"/>
                </a:solidFill>
                <a:latin typeface="Calibri" pitchFamily="34" charset="0"/>
                <a:ea typeface="Calibri" pitchFamily="34" charset="-122"/>
                <a:cs typeface="Calibri" pitchFamily="34" charset="-120"/>
              </a:rPr>
              <a:t>cushion  </a:t>
            </a:r>
            <a:pPr algn="l" indent="0" marL="0">
              <a:buNone/>
            </a:pPr>
            <a:r>
              <a:rPr lang="en-US" sz="1350" dirty="0">
                <a:solidFill>
                  <a:srgbClr val="0F172A"/>
                </a:solidFill>
                <a:latin typeface="Calibri" pitchFamily="34" charset="0"/>
                <a:ea typeface="Calibri" pitchFamily="34" charset="-122"/>
                <a:cs typeface="Calibri" pitchFamily="34" charset="-120"/>
              </a:rPr>
              <a:t>padding 10 / 20 / 30 / 40</a:t>
            </a:r>
            <a:endParaRPr lang="en-US" sz="1350" dirty="0"/>
          </a:p>
        </p:txBody>
      </p:sp>
      <p:sp>
        <p:nvSpPr>
          <p:cNvPr id="26" name="Shape 24"/>
          <p:cNvSpPr/>
          <p:nvPr/>
        </p:nvSpPr>
        <p:spPr>
          <a:xfrm>
            <a:off x="7498080" y="5943600"/>
            <a:ext cx="4160520" cy="502920"/>
          </a:xfrm>
          <a:prstGeom prst="roundRect">
            <a:avLst>
              <a:gd name="adj" fmla="val 21818"/>
            </a:avLst>
          </a:prstGeom>
          <a:solidFill>
            <a:srgbClr val="E5EEFF"/>
          </a:solidFill>
          <a:ln/>
        </p:spPr>
      </p:sp>
      <p:sp>
        <p:nvSpPr>
          <p:cNvPr id="27" name="Shape 25"/>
          <p:cNvSpPr/>
          <p:nvPr/>
        </p:nvSpPr>
        <p:spPr>
          <a:xfrm>
            <a:off x="7699248" y="6067044"/>
            <a:ext cx="256032" cy="256032"/>
          </a:xfrm>
          <a:prstGeom prst="ellipse">
            <a:avLst/>
          </a:prstGeom>
          <a:solidFill>
            <a:srgbClr val="2563EB"/>
          </a:solidFill>
          <a:ln/>
        </p:spPr>
      </p:sp>
      <p:sp>
        <p:nvSpPr>
          <p:cNvPr id="28" name="Text 26"/>
          <p:cNvSpPr/>
          <p:nvPr/>
        </p:nvSpPr>
        <p:spPr>
          <a:xfrm>
            <a:off x="8156448" y="5943600"/>
            <a:ext cx="3291840" cy="502920"/>
          </a:xfrm>
          <a:prstGeom prst="rect">
            <a:avLst/>
          </a:prstGeom>
          <a:noFill/>
          <a:ln/>
        </p:spPr>
        <p:txBody>
          <a:bodyPr wrap="square" lIns="0" tIns="0" rIns="0" bIns="0" rtlCol="0" anchor="ctr"/>
          <a:lstStyle/>
          <a:p>
            <a:pPr algn="l" indent="0" marL="0">
              <a:buNone/>
            </a:pPr>
            <a:r>
              <a:rPr lang="en-US" sz="1400" dirty="0">
                <a:solidFill>
                  <a:srgbClr val="0F172A"/>
                </a:solidFill>
                <a:latin typeface="Calibri" pitchFamily="34" charset="0"/>
                <a:ea typeface="Calibri" pitchFamily="34" charset="-122"/>
                <a:cs typeface="Calibri" pitchFamily="34" charset="-120"/>
              </a:rPr>
              <a:t>Three containers, same class = same styling.</a:t>
            </a:r>
            <a:endParaRPr lang="en-US" sz="1400" dirty="0"/>
          </a:p>
        </p:txBody>
      </p:sp>
      <p:sp>
        <p:nvSpPr>
          <p:cNvPr id="29" name="Text 27"/>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30" name="Text 28"/>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832104" cy="310896"/>
          </a:xfrm>
          <a:prstGeom prst="roundRect">
            <a:avLst>
              <a:gd name="adj" fmla="val 50000"/>
            </a:avLst>
          </a:prstGeom>
          <a:solidFill>
            <a:srgbClr val="2563EB"/>
          </a:solidFill>
          <a:ln/>
        </p:spPr>
      </p:sp>
      <p:sp>
        <p:nvSpPr>
          <p:cNvPr id="3" name="Text 1"/>
          <p:cNvSpPr/>
          <p:nvPr/>
        </p:nvSpPr>
        <p:spPr>
          <a:xfrm>
            <a:off x="548640" y="457200"/>
            <a:ext cx="832104"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OUTPUT</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...and the output</a:t>
            </a:r>
            <a:endParaRPr lang="en-US" sz="3400" dirty="0"/>
          </a:p>
        </p:txBody>
      </p:sp>
      <p:sp>
        <p:nvSpPr>
          <p:cNvPr id="5" name="Shape 3"/>
          <p:cNvSpPr/>
          <p:nvPr/>
        </p:nvSpPr>
        <p:spPr>
          <a:xfrm>
            <a:off x="822960" y="1828800"/>
            <a:ext cx="10515600" cy="1234440"/>
          </a:xfrm>
          <a:prstGeom prst="rect">
            <a:avLst/>
          </a:prstGeom>
          <a:solidFill>
            <a:srgbClr val="D6F5D6"/>
          </a:solidFill>
          <a:ln w="12700">
            <a:solidFill>
              <a:srgbClr val="000000"/>
            </a:solidFill>
            <a:prstDash val="solid"/>
          </a:ln>
        </p:spPr>
      </p:sp>
      <p:sp>
        <p:nvSpPr>
          <p:cNvPr id="6" name="Shape 4"/>
          <p:cNvSpPr/>
          <p:nvPr/>
        </p:nvSpPr>
        <p:spPr>
          <a:xfrm>
            <a:off x="822960" y="1828800"/>
            <a:ext cx="10515600" cy="0"/>
          </a:xfrm>
          <a:prstGeom prst="line">
            <a:avLst/>
          </a:prstGeom>
          <a:noFill/>
          <a:ln w="50800">
            <a:solidFill>
              <a:srgbClr val="2563EB"/>
            </a:solidFill>
            <a:prstDash val="solid"/>
          </a:ln>
        </p:spPr>
      </p:sp>
      <p:sp>
        <p:nvSpPr>
          <p:cNvPr id="7" name="Shape 5"/>
          <p:cNvSpPr/>
          <p:nvPr/>
        </p:nvSpPr>
        <p:spPr>
          <a:xfrm>
            <a:off x="822960" y="1828800"/>
            <a:ext cx="0" cy="1234440"/>
          </a:xfrm>
          <a:prstGeom prst="line">
            <a:avLst/>
          </a:prstGeom>
          <a:noFill/>
          <a:ln w="25400">
            <a:solidFill>
              <a:srgbClr val="FB7185"/>
            </a:solidFill>
            <a:prstDash val="solid"/>
          </a:ln>
        </p:spPr>
      </p:sp>
      <p:sp>
        <p:nvSpPr>
          <p:cNvPr id="8" name="Shape 6"/>
          <p:cNvSpPr/>
          <p:nvPr/>
        </p:nvSpPr>
        <p:spPr>
          <a:xfrm>
            <a:off x="11338560" y="1828800"/>
            <a:ext cx="0" cy="1234440"/>
          </a:xfrm>
          <a:prstGeom prst="line">
            <a:avLst/>
          </a:prstGeom>
          <a:noFill/>
          <a:ln w="38100">
            <a:solidFill>
              <a:srgbClr val="111111"/>
            </a:solidFill>
            <a:prstDash val="dash"/>
          </a:ln>
        </p:spPr>
      </p:sp>
      <p:sp>
        <p:nvSpPr>
          <p:cNvPr id="9" name="Shape 7"/>
          <p:cNvSpPr/>
          <p:nvPr/>
        </p:nvSpPr>
        <p:spPr>
          <a:xfrm>
            <a:off x="822960" y="3063240"/>
            <a:ext cx="10515600" cy="0"/>
          </a:xfrm>
          <a:prstGeom prst="line">
            <a:avLst/>
          </a:prstGeom>
          <a:noFill/>
          <a:ln w="50800">
            <a:solidFill>
              <a:srgbClr val="FBD34D"/>
            </a:solidFill>
            <a:prstDash val="solid"/>
          </a:ln>
        </p:spPr>
      </p:sp>
      <p:sp>
        <p:nvSpPr>
          <p:cNvPr id="10" name="Text 8"/>
          <p:cNvSpPr/>
          <p:nvPr/>
        </p:nvSpPr>
        <p:spPr>
          <a:xfrm>
            <a:off x="1234440" y="1938528"/>
            <a:ext cx="91440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This is Heading 1</a:t>
            </a:r>
            <a:endParaRPr lang="en-US" sz="1600" dirty="0"/>
          </a:p>
        </p:txBody>
      </p:sp>
      <p:sp>
        <p:nvSpPr>
          <p:cNvPr id="11" name="Text 9"/>
          <p:cNvSpPr/>
          <p:nvPr/>
        </p:nvSpPr>
        <p:spPr>
          <a:xfrm>
            <a:off x="1234440" y="2286000"/>
            <a:ext cx="969264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Lorem ipsum dolor sit amet consectetur adipisicing elit. Laborum deserunt quisquam repellat aliquam est delectus animi laboriosam dicta enim recusandae nostrum.</a:t>
            </a:r>
            <a:endParaRPr lang="en-US" sz="1100" dirty="0"/>
          </a:p>
        </p:txBody>
      </p:sp>
      <p:sp>
        <p:nvSpPr>
          <p:cNvPr id="12" name="Shape 10"/>
          <p:cNvSpPr/>
          <p:nvPr/>
        </p:nvSpPr>
        <p:spPr>
          <a:xfrm>
            <a:off x="822960" y="3429000"/>
            <a:ext cx="10515600" cy="1234440"/>
          </a:xfrm>
          <a:prstGeom prst="rect">
            <a:avLst/>
          </a:prstGeom>
          <a:solidFill>
            <a:srgbClr val="D6F5D6"/>
          </a:solidFill>
          <a:ln w="12700">
            <a:solidFill>
              <a:srgbClr val="000000"/>
            </a:solidFill>
            <a:prstDash val="solid"/>
          </a:ln>
        </p:spPr>
      </p:sp>
      <p:sp>
        <p:nvSpPr>
          <p:cNvPr id="13" name="Shape 11"/>
          <p:cNvSpPr/>
          <p:nvPr/>
        </p:nvSpPr>
        <p:spPr>
          <a:xfrm>
            <a:off x="822960" y="3429000"/>
            <a:ext cx="10515600" cy="0"/>
          </a:xfrm>
          <a:prstGeom prst="line">
            <a:avLst/>
          </a:prstGeom>
          <a:noFill/>
          <a:ln w="50800">
            <a:solidFill>
              <a:srgbClr val="2563EB"/>
            </a:solidFill>
            <a:prstDash val="solid"/>
          </a:ln>
        </p:spPr>
      </p:sp>
      <p:sp>
        <p:nvSpPr>
          <p:cNvPr id="14" name="Shape 12"/>
          <p:cNvSpPr/>
          <p:nvPr/>
        </p:nvSpPr>
        <p:spPr>
          <a:xfrm>
            <a:off x="822960" y="3429000"/>
            <a:ext cx="0" cy="1234440"/>
          </a:xfrm>
          <a:prstGeom prst="line">
            <a:avLst/>
          </a:prstGeom>
          <a:noFill/>
          <a:ln w="25400">
            <a:solidFill>
              <a:srgbClr val="FB7185"/>
            </a:solidFill>
            <a:prstDash val="solid"/>
          </a:ln>
        </p:spPr>
      </p:sp>
      <p:sp>
        <p:nvSpPr>
          <p:cNvPr id="15" name="Shape 13"/>
          <p:cNvSpPr/>
          <p:nvPr/>
        </p:nvSpPr>
        <p:spPr>
          <a:xfrm>
            <a:off x="11338560" y="3429000"/>
            <a:ext cx="0" cy="1234440"/>
          </a:xfrm>
          <a:prstGeom prst="line">
            <a:avLst/>
          </a:prstGeom>
          <a:noFill/>
          <a:ln w="38100">
            <a:solidFill>
              <a:srgbClr val="111111"/>
            </a:solidFill>
            <a:prstDash val="dash"/>
          </a:ln>
        </p:spPr>
      </p:sp>
      <p:sp>
        <p:nvSpPr>
          <p:cNvPr id="16" name="Shape 14"/>
          <p:cNvSpPr/>
          <p:nvPr/>
        </p:nvSpPr>
        <p:spPr>
          <a:xfrm>
            <a:off x="822960" y="4663440"/>
            <a:ext cx="10515600" cy="0"/>
          </a:xfrm>
          <a:prstGeom prst="line">
            <a:avLst/>
          </a:prstGeom>
          <a:noFill/>
          <a:ln w="50800">
            <a:solidFill>
              <a:srgbClr val="FBD34D"/>
            </a:solidFill>
            <a:prstDash val="solid"/>
          </a:ln>
        </p:spPr>
      </p:sp>
      <p:sp>
        <p:nvSpPr>
          <p:cNvPr id="17" name="Text 15"/>
          <p:cNvSpPr/>
          <p:nvPr/>
        </p:nvSpPr>
        <p:spPr>
          <a:xfrm>
            <a:off x="1234440" y="3538728"/>
            <a:ext cx="91440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This is Heading 2</a:t>
            </a:r>
            <a:endParaRPr lang="en-US" sz="1600" dirty="0"/>
          </a:p>
        </p:txBody>
      </p:sp>
      <p:sp>
        <p:nvSpPr>
          <p:cNvPr id="18" name="Text 16"/>
          <p:cNvSpPr/>
          <p:nvPr/>
        </p:nvSpPr>
        <p:spPr>
          <a:xfrm>
            <a:off x="1234440" y="3886200"/>
            <a:ext cx="969264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Lorem ipsum dolor sit amet consectetur adipisicing elit. Laborum deserunt quisquam repellat aliquam est delectus animi laboriosam dicta enim recusandae nostrum.</a:t>
            </a:r>
            <a:endParaRPr lang="en-US" sz="1100" dirty="0"/>
          </a:p>
        </p:txBody>
      </p:sp>
      <p:sp>
        <p:nvSpPr>
          <p:cNvPr id="19" name="Shape 17"/>
          <p:cNvSpPr/>
          <p:nvPr/>
        </p:nvSpPr>
        <p:spPr>
          <a:xfrm>
            <a:off x="822960" y="5029200"/>
            <a:ext cx="10515600" cy="1234440"/>
          </a:xfrm>
          <a:prstGeom prst="rect">
            <a:avLst/>
          </a:prstGeom>
          <a:solidFill>
            <a:srgbClr val="D6F5D6"/>
          </a:solidFill>
          <a:ln w="12700">
            <a:solidFill>
              <a:srgbClr val="000000"/>
            </a:solidFill>
            <a:prstDash val="solid"/>
          </a:ln>
        </p:spPr>
      </p:sp>
      <p:sp>
        <p:nvSpPr>
          <p:cNvPr id="20" name="Shape 18"/>
          <p:cNvSpPr/>
          <p:nvPr/>
        </p:nvSpPr>
        <p:spPr>
          <a:xfrm>
            <a:off x="822960" y="5029200"/>
            <a:ext cx="10515600" cy="0"/>
          </a:xfrm>
          <a:prstGeom prst="line">
            <a:avLst/>
          </a:prstGeom>
          <a:noFill/>
          <a:ln w="50800">
            <a:solidFill>
              <a:srgbClr val="2563EB"/>
            </a:solidFill>
            <a:prstDash val="solid"/>
          </a:ln>
        </p:spPr>
      </p:sp>
      <p:sp>
        <p:nvSpPr>
          <p:cNvPr id="21" name="Shape 19"/>
          <p:cNvSpPr/>
          <p:nvPr/>
        </p:nvSpPr>
        <p:spPr>
          <a:xfrm>
            <a:off x="822960" y="5029200"/>
            <a:ext cx="0" cy="1234440"/>
          </a:xfrm>
          <a:prstGeom prst="line">
            <a:avLst/>
          </a:prstGeom>
          <a:noFill/>
          <a:ln w="25400">
            <a:solidFill>
              <a:srgbClr val="FB7185"/>
            </a:solidFill>
            <a:prstDash val="solid"/>
          </a:ln>
        </p:spPr>
      </p:sp>
      <p:sp>
        <p:nvSpPr>
          <p:cNvPr id="22" name="Shape 20"/>
          <p:cNvSpPr/>
          <p:nvPr/>
        </p:nvSpPr>
        <p:spPr>
          <a:xfrm>
            <a:off x="11338560" y="5029200"/>
            <a:ext cx="0" cy="1234440"/>
          </a:xfrm>
          <a:prstGeom prst="line">
            <a:avLst/>
          </a:prstGeom>
          <a:noFill/>
          <a:ln w="38100">
            <a:solidFill>
              <a:srgbClr val="111111"/>
            </a:solidFill>
            <a:prstDash val="dash"/>
          </a:ln>
        </p:spPr>
      </p:sp>
      <p:sp>
        <p:nvSpPr>
          <p:cNvPr id="23" name="Shape 21"/>
          <p:cNvSpPr/>
          <p:nvPr/>
        </p:nvSpPr>
        <p:spPr>
          <a:xfrm>
            <a:off x="822960" y="6263640"/>
            <a:ext cx="10515600" cy="0"/>
          </a:xfrm>
          <a:prstGeom prst="line">
            <a:avLst/>
          </a:prstGeom>
          <a:noFill/>
          <a:ln w="50800">
            <a:solidFill>
              <a:srgbClr val="FBD34D"/>
            </a:solidFill>
            <a:prstDash val="solid"/>
          </a:ln>
        </p:spPr>
      </p:sp>
      <p:sp>
        <p:nvSpPr>
          <p:cNvPr id="24" name="Text 22"/>
          <p:cNvSpPr/>
          <p:nvPr/>
        </p:nvSpPr>
        <p:spPr>
          <a:xfrm>
            <a:off x="1234440" y="5138928"/>
            <a:ext cx="91440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This is Heading 3</a:t>
            </a:r>
            <a:endParaRPr lang="en-US" sz="1600" dirty="0"/>
          </a:p>
        </p:txBody>
      </p:sp>
      <p:sp>
        <p:nvSpPr>
          <p:cNvPr id="25" name="Text 23"/>
          <p:cNvSpPr/>
          <p:nvPr/>
        </p:nvSpPr>
        <p:spPr>
          <a:xfrm>
            <a:off x="1234440" y="5486400"/>
            <a:ext cx="969264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Lorem ipsum dolor sit amet consectetur adipisicing elit. Laborum deserunt quisquam repellat aliquam est delectus animi laboriosam dicta enim recusandae nostrum.</a:t>
            </a:r>
            <a:endParaRPr lang="en-US" sz="1100" dirty="0"/>
          </a:p>
        </p:txBody>
      </p:sp>
      <p:sp>
        <p:nvSpPr>
          <p:cNvPr id="26" name="Text 24"/>
          <p:cNvSpPr/>
          <p:nvPr/>
        </p:nvSpPr>
        <p:spPr>
          <a:xfrm>
            <a:off x="822960" y="6355080"/>
            <a:ext cx="10515600" cy="32004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Notice the four different border colors and the even gap between each of the three cards.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502920"/>
            <a:ext cx="1371600" cy="310896"/>
          </a:xfrm>
          <a:prstGeom prst="roundRect">
            <a:avLst>
              <a:gd name="adj" fmla="val 50000"/>
            </a:avLst>
          </a:prstGeom>
          <a:solidFill>
            <a:srgbClr val="8B5CF6"/>
          </a:solidFill>
          <a:ln/>
        </p:spPr>
      </p:sp>
      <p:sp>
        <p:nvSpPr>
          <p:cNvPr id="3" name="Text 1"/>
          <p:cNvSpPr/>
          <p:nvPr/>
        </p:nvSpPr>
        <p:spPr>
          <a:xfrm>
            <a:off x="548640" y="502920"/>
            <a:ext cx="13716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QUIZ 2</a:t>
            </a:r>
            <a:endParaRPr lang="en-US" sz="1100" dirty="0"/>
          </a:p>
        </p:txBody>
      </p:sp>
      <p:sp>
        <p:nvSpPr>
          <p:cNvPr id="4" name="Text 2"/>
          <p:cNvSpPr/>
          <p:nvPr/>
        </p:nvSpPr>
        <p:spPr>
          <a:xfrm>
            <a:off x="548640" y="1005840"/>
            <a:ext cx="11064240" cy="1005840"/>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What is the order when passing all four values to margin?</a:t>
            </a:r>
            <a:endParaRPr lang="en-US" sz="3000" dirty="0"/>
          </a:p>
        </p:txBody>
      </p:sp>
      <p:sp>
        <p:nvSpPr>
          <p:cNvPr id="5" name="Shape 3"/>
          <p:cNvSpPr/>
          <p:nvPr/>
        </p:nvSpPr>
        <p:spPr>
          <a:xfrm>
            <a:off x="54864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822960" y="2715768"/>
            <a:ext cx="457200" cy="457200"/>
          </a:xfrm>
          <a:prstGeom prst="roundRect">
            <a:avLst>
              <a:gd name="adj" fmla="val 20000"/>
            </a:avLst>
          </a:prstGeom>
          <a:solidFill>
            <a:srgbClr val="2563EB"/>
          </a:solidFill>
          <a:ln/>
        </p:spPr>
      </p:sp>
      <p:sp>
        <p:nvSpPr>
          <p:cNvPr id="7" name="Text 5"/>
          <p:cNvSpPr/>
          <p:nvPr/>
        </p:nvSpPr>
        <p:spPr>
          <a:xfrm>
            <a:off x="82296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8" name="Text 6"/>
          <p:cNvSpPr/>
          <p:nvPr/>
        </p:nvSpPr>
        <p:spPr>
          <a:xfrm>
            <a:off x="150876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top right left bottom</a:t>
            </a:r>
            <a:endParaRPr lang="en-US" sz="1500" dirty="0"/>
          </a:p>
        </p:txBody>
      </p:sp>
      <p:sp>
        <p:nvSpPr>
          <p:cNvPr id="9" name="Shape 7"/>
          <p:cNvSpPr/>
          <p:nvPr/>
        </p:nvSpPr>
        <p:spPr>
          <a:xfrm>
            <a:off x="6286500" y="23317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0" name="Shape 8"/>
          <p:cNvSpPr/>
          <p:nvPr/>
        </p:nvSpPr>
        <p:spPr>
          <a:xfrm>
            <a:off x="6560820" y="2715768"/>
            <a:ext cx="457200" cy="457200"/>
          </a:xfrm>
          <a:prstGeom prst="roundRect">
            <a:avLst>
              <a:gd name="adj" fmla="val 20000"/>
            </a:avLst>
          </a:prstGeom>
          <a:solidFill>
            <a:srgbClr val="2563EB"/>
          </a:solidFill>
          <a:ln/>
        </p:spPr>
      </p:sp>
      <p:sp>
        <p:nvSpPr>
          <p:cNvPr id="11" name="Text 9"/>
          <p:cNvSpPr/>
          <p:nvPr/>
        </p:nvSpPr>
        <p:spPr>
          <a:xfrm>
            <a:off x="6560820" y="27157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2" name="Text 10"/>
          <p:cNvSpPr/>
          <p:nvPr/>
        </p:nvSpPr>
        <p:spPr>
          <a:xfrm>
            <a:off x="7246620" y="23317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right left top bottom</a:t>
            </a:r>
            <a:endParaRPr lang="en-US" sz="1500" dirty="0"/>
          </a:p>
        </p:txBody>
      </p:sp>
      <p:sp>
        <p:nvSpPr>
          <p:cNvPr id="13" name="Shape 11"/>
          <p:cNvSpPr/>
          <p:nvPr/>
        </p:nvSpPr>
        <p:spPr>
          <a:xfrm>
            <a:off x="548640" y="3931920"/>
            <a:ext cx="5372100" cy="1234440"/>
          </a:xfrm>
          <a:prstGeom prst="roundRect">
            <a:avLst>
              <a:gd name="adj" fmla="val 8889"/>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4" name="Shape 12"/>
          <p:cNvSpPr/>
          <p:nvPr/>
        </p:nvSpPr>
        <p:spPr>
          <a:xfrm>
            <a:off x="822960" y="4315968"/>
            <a:ext cx="457200" cy="457200"/>
          </a:xfrm>
          <a:prstGeom prst="roundRect">
            <a:avLst>
              <a:gd name="adj" fmla="val 20000"/>
            </a:avLst>
          </a:prstGeom>
          <a:solidFill>
            <a:srgbClr val="2563EB"/>
          </a:solidFill>
          <a:ln/>
        </p:spPr>
      </p:sp>
      <p:sp>
        <p:nvSpPr>
          <p:cNvPr id="15" name="Text 13"/>
          <p:cNvSpPr/>
          <p:nvPr/>
        </p:nvSpPr>
        <p:spPr>
          <a:xfrm>
            <a:off x="82296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6" name="Text 14"/>
          <p:cNvSpPr/>
          <p:nvPr/>
        </p:nvSpPr>
        <p:spPr>
          <a:xfrm>
            <a:off x="1508760" y="3931920"/>
            <a:ext cx="4229100" cy="1234440"/>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top bottom left right</a:t>
            </a:r>
            <a:endParaRPr lang="en-US" sz="1500" dirty="0"/>
          </a:p>
        </p:txBody>
      </p:sp>
      <p:sp>
        <p:nvSpPr>
          <p:cNvPr id="17" name="Shape 15"/>
          <p:cNvSpPr/>
          <p:nvPr/>
        </p:nvSpPr>
        <p:spPr>
          <a:xfrm>
            <a:off x="6286500" y="3931920"/>
            <a:ext cx="5372100" cy="1234440"/>
          </a:xfrm>
          <a:prstGeom prst="roundRect">
            <a:avLst>
              <a:gd name="adj" fmla="val 8889"/>
            </a:avLst>
          </a:prstGeom>
          <a:solidFill>
            <a:srgbClr val="E7FBEF"/>
          </a:solidFill>
          <a:ln w="12700">
            <a:solidFill>
              <a:srgbClr val="22C55E"/>
            </a:solidFill>
            <a:prstDash val="solid"/>
          </a:ln>
          <a:effectLst>
            <a:outerShdw sx="100000" sy="100000" kx="0" ky="0" algn="bl" rotWithShape="0" blurRad="101600" dist="38100" dir="5400000">
              <a:srgbClr val="0B1220">
                <a:alpha val="18000"/>
              </a:srgbClr>
            </a:outerShdw>
          </a:effectLst>
        </p:spPr>
      </p:sp>
      <p:sp>
        <p:nvSpPr>
          <p:cNvPr id="18" name="Shape 16"/>
          <p:cNvSpPr/>
          <p:nvPr/>
        </p:nvSpPr>
        <p:spPr>
          <a:xfrm>
            <a:off x="6560820" y="4315968"/>
            <a:ext cx="457200" cy="457200"/>
          </a:xfrm>
          <a:prstGeom prst="roundRect">
            <a:avLst>
              <a:gd name="adj" fmla="val 20000"/>
            </a:avLst>
          </a:prstGeom>
          <a:solidFill>
            <a:srgbClr val="22C55E"/>
          </a:solidFill>
          <a:ln/>
        </p:spPr>
      </p:sp>
      <p:sp>
        <p:nvSpPr>
          <p:cNvPr id="19" name="Text 17"/>
          <p:cNvSpPr/>
          <p:nvPr/>
        </p:nvSpPr>
        <p:spPr>
          <a:xfrm>
            <a:off x="6560820" y="43159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0" name="Text 18"/>
          <p:cNvSpPr/>
          <p:nvPr/>
        </p:nvSpPr>
        <p:spPr>
          <a:xfrm>
            <a:off x="7246620" y="3931920"/>
            <a:ext cx="4229100" cy="1234440"/>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top right bottom left</a:t>
            </a:r>
            <a:endParaRPr lang="en-US" sz="1500" dirty="0"/>
          </a:p>
        </p:txBody>
      </p:sp>
      <p:pic>
        <p:nvPicPr>
          <p:cNvPr id="21" name="Image 0" descr="preencoded.png">    </p:cNvPr>
          <p:cNvPicPr>
            <a:picLocks noChangeAspect="1"/>
          </p:cNvPicPr>
          <p:nvPr/>
        </p:nvPicPr>
        <p:blipFill>
          <a:blip r:embed="rId1"/>
          <a:stretch>
            <a:fillRect/>
          </a:stretch>
        </p:blipFill>
        <p:spPr>
          <a:xfrm>
            <a:off x="11155680" y="4384548"/>
            <a:ext cx="329184" cy="329184"/>
          </a:xfrm>
          <a:prstGeom prst="rect">
            <a:avLst/>
          </a:prstGeom>
        </p:spPr>
      </p:pic>
      <p:sp>
        <p:nvSpPr>
          <p:cNvPr id="22" name="Shape 19"/>
          <p:cNvSpPr/>
          <p:nvPr/>
        </p:nvSpPr>
        <p:spPr>
          <a:xfrm>
            <a:off x="548640" y="5532120"/>
            <a:ext cx="11109960" cy="777240"/>
          </a:xfrm>
          <a:prstGeom prst="roundRect">
            <a:avLst>
              <a:gd name="adj" fmla="val 14118"/>
            </a:avLst>
          </a:prstGeom>
          <a:solidFill>
            <a:srgbClr val="E7FBEF"/>
          </a:solidFill>
          <a:ln/>
        </p:spPr>
      </p:sp>
      <p:sp>
        <p:nvSpPr>
          <p:cNvPr id="23" name="Shape 20"/>
          <p:cNvSpPr/>
          <p:nvPr/>
        </p:nvSpPr>
        <p:spPr>
          <a:xfrm>
            <a:off x="749808" y="5792724"/>
            <a:ext cx="256032" cy="256032"/>
          </a:xfrm>
          <a:prstGeom prst="ellipse">
            <a:avLst/>
          </a:prstGeom>
          <a:solidFill>
            <a:srgbClr val="22C55E"/>
          </a:solidFill>
          <a:ln/>
        </p:spPr>
      </p:sp>
      <p:sp>
        <p:nvSpPr>
          <p:cNvPr id="24" name="Text 21"/>
          <p:cNvSpPr/>
          <p:nvPr/>
        </p:nvSpPr>
        <p:spPr>
          <a:xfrm>
            <a:off x="1207008" y="5532120"/>
            <a:ext cx="10241280" cy="777240"/>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Everything in HTML is a Box: two dimensions (height, width) and three spacing properties (margin, padding, border).</a:t>
            </a:r>
            <a:endParaRPr lang="en-US" sz="1400" dirty="0"/>
          </a:p>
        </p:txBody>
      </p:sp>
      <p:sp>
        <p:nvSpPr>
          <p:cNvPr id="25" name="Text 2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26" name="Text 2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4480560" y="1371600"/>
            <a:ext cx="3200400" cy="3200400"/>
          </a:xfrm>
          <a:prstGeom prst="ellipse">
            <a:avLst/>
          </a:prstGeom>
          <a:solidFill>
            <a:srgbClr val="2563EB"/>
          </a:solidFill>
          <a:ln/>
          <a:effectLst>
            <a:outerShdw sx="100000" sy="100000" kx="0" ky="0" algn="bl" rotWithShape="0" blurRad="254000" dist="38100" dir="5400000">
              <a:srgbClr val="0B1220">
                <a:alpha val="40000"/>
              </a:srgbClr>
            </a:outerShdw>
          </a:effectLst>
        </p:spPr>
      </p:sp>
      <p:sp>
        <p:nvSpPr>
          <p:cNvPr id="3" name="Shape 1"/>
          <p:cNvSpPr/>
          <p:nvPr/>
        </p:nvSpPr>
        <p:spPr>
          <a:xfrm>
            <a:off x="5394960" y="2286000"/>
            <a:ext cx="1371600" cy="1371600"/>
          </a:xfrm>
          <a:prstGeom prst="ellipse">
            <a:avLst/>
          </a:prstGeom>
          <a:solidFill>
            <a:srgbClr val="2563EB"/>
          </a:solidFill>
          <a:ln/>
        </p:spPr>
      </p:sp>
      <p:pic>
        <p:nvPicPr>
          <p:cNvPr id="4" name="Image 0" descr="preencoded.png">    </p:cNvPr>
          <p:cNvPicPr>
            <a:picLocks noChangeAspect="1"/>
          </p:cNvPicPr>
          <p:nvPr/>
        </p:nvPicPr>
        <p:blipFill>
          <a:blip r:embed="rId1"/>
          <a:stretch>
            <a:fillRect/>
          </a:stretch>
        </p:blipFill>
        <p:spPr>
          <a:xfrm>
            <a:off x="5751576" y="2642616"/>
            <a:ext cx="658368" cy="658368"/>
          </a:xfrm>
          <a:prstGeom prst="rect">
            <a:avLst/>
          </a:prstGeom>
        </p:spPr>
      </p:pic>
      <p:sp>
        <p:nvSpPr>
          <p:cNvPr id="5" name="Text 2"/>
          <p:cNvSpPr/>
          <p:nvPr/>
        </p:nvSpPr>
        <p:spPr>
          <a:xfrm>
            <a:off x="914400" y="4709160"/>
            <a:ext cx="10360152"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5 minute break</a:t>
            </a:r>
            <a:endParaRPr lang="en-US" sz="4000" dirty="0"/>
          </a:p>
        </p:txBody>
      </p:sp>
      <p:sp>
        <p:nvSpPr>
          <p:cNvPr id="6" name="Text 3"/>
          <p:cNvSpPr/>
          <p:nvPr/>
        </p:nvSpPr>
        <p:spPr>
          <a:xfrm>
            <a:off x="914400" y="5440680"/>
            <a:ext cx="10360152" cy="457200"/>
          </a:xfrm>
          <a:prstGeom prst="rect">
            <a:avLst/>
          </a:prstGeom>
          <a:noFill/>
          <a:ln/>
        </p:spPr>
        <p:txBody>
          <a:bodyPr wrap="square" lIns="0" tIns="0" rIns="0" bIns="0" rtlCol="0" anchor="ctr"/>
          <a:lstStyle/>
          <a:p>
            <a:pPr algn="ctr" indent="0" marL="0">
              <a:buNone/>
            </a:pPr>
            <a:r>
              <a:rPr lang="en-US" sz="1600" dirty="0">
                <a:solidFill>
                  <a:srgbClr val="C7DBFF"/>
                </a:solidFill>
                <a:latin typeface="Calibri" pitchFamily="34" charset="0"/>
                <a:ea typeface="Calibri" pitchFamily="34" charset="-122"/>
                <a:cs typeface="Calibri" pitchFamily="34" charset="-120"/>
              </a:rPr>
              <a:t>Stand up. Water. Rest your eyes. We resume on the dot.</a:t>
            </a:r>
            <a:endParaRPr lang="en-US" sz="1600" dirty="0"/>
          </a:p>
        </p:txBody>
      </p:sp>
      <p:sp>
        <p:nvSpPr>
          <p:cNvPr id="7" name="Shape 4"/>
          <p:cNvSpPr/>
          <p:nvPr/>
        </p:nvSpPr>
        <p:spPr>
          <a:xfrm>
            <a:off x="822960" y="640080"/>
            <a:ext cx="1280160" cy="310896"/>
          </a:xfrm>
          <a:prstGeom prst="roundRect">
            <a:avLst>
              <a:gd name="adj" fmla="val 50000"/>
            </a:avLst>
          </a:prstGeom>
          <a:solidFill>
            <a:srgbClr val="1B2A4A"/>
          </a:solidFill>
          <a:ln/>
        </p:spPr>
      </p:sp>
      <p:sp>
        <p:nvSpPr>
          <p:cNvPr id="8" name="Text 5"/>
          <p:cNvSpPr/>
          <p:nvPr/>
        </p:nvSpPr>
        <p:spPr>
          <a:xfrm>
            <a:off x="822960" y="640080"/>
            <a:ext cx="128016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80 MIN DONE</a:t>
            </a:r>
            <a:endParaRPr lang="en-US" sz="1100" dirty="0"/>
          </a:p>
        </p:txBody>
      </p:sp>
      <p:sp>
        <p:nvSpPr>
          <p:cNvPr id="9" name="Text 6"/>
          <p:cNvSpPr/>
          <p:nvPr/>
        </p:nvSpPr>
        <p:spPr>
          <a:xfrm>
            <a:off x="914400" y="5943600"/>
            <a:ext cx="10360152" cy="365760"/>
          </a:xfrm>
          <a:prstGeom prst="rect">
            <a:avLst/>
          </a:prstGeom>
          <a:noFill/>
          <a:ln/>
        </p:spPr>
        <p:txBody>
          <a:bodyPr wrap="square" lIns="0" tIns="0" rIns="0" bIns="0" rtlCol="0" anchor="ctr"/>
          <a:lstStyle/>
          <a:p>
            <a:pPr algn="ctr" indent="0" marL="0">
              <a:buNone/>
            </a:pPr>
            <a:r>
              <a:rPr lang="en-US" sz="1300" i="1" dirty="0">
                <a:solidFill>
                  <a:srgbClr val="94A3B8"/>
                </a:solidFill>
                <a:latin typeface="Calibri" pitchFamily="34" charset="0"/>
                <a:ea typeface="Calibri" pitchFamily="34" charset="-122"/>
                <a:cs typeface="Calibri" pitchFamily="34" charset="-120"/>
              </a:rPr>
              <a:t>Next up: Box Sizing and Overflow</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03</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3</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Box Sizing</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content-box versus border-box: who pays for padding and border?</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216152" cy="310896"/>
          </a:xfrm>
          <a:prstGeom prst="roundRect">
            <a:avLst>
              <a:gd name="adj" fmla="val 50000"/>
            </a:avLst>
          </a:prstGeom>
          <a:solidFill>
            <a:srgbClr val="2563EB"/>
          </a:solidFill>
          <a:ln/>
        </p:spPr>
      </p:sp>
      <p:sp>
        <p:nvSpPr>
          <p:cNvPr id="3" name="Text 1"/>
          <p:cNvSpPr/>
          <p:nvPr/>
        </p:nvSpPr>
        <p:spPr>
          <a:xfrm>
            <a:off x="548640" y="457200"/>
            <a:ext cx="1216152"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BOX SIZING</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content-box vs border-box</a:t>
            </a:r>
            <a:endParaRPr lang="en-US" sz="3400" dirty="0"/>
          </a:p>
        </p:txBody>
      </p:sp>
      <p:sp>
        <p:nvSpPr>
          <p:cNvPr id="5" name="Text 3"/>
          <p:cNvSpPr/>
          <p:nvPr/>
        </p:nvSpPr>
        <p:spPr>
          <a:xfrm>
            <a:off x="548640" y="1645920"/>
            <a:ext cx="11064240" cy="457200"/>
          </a:xfrm>
          <a:prstGeom prst="rect">
            <a:avLst/>
          </a:prstGeom>
          <a:noFill/>
          <a:ln/>
        </p:spPr>
        <p:txBody>
          <a:bodyPr wrap="square" lIns="0" tIns="0" rIns="0" bIns="0" rtlCol="0" anchor="ctr"/>
          <a:lstStyle/>
          <a:p>
            <a:pPr indent="0" marL="0">
              <a:buNone/>
            </a:pPr>
            <a:r>
              <a:rPr lang="en-US" sz="1450" b="1" dirty="0">
                <a:solidFill>
                  <a:srgbClr val="2563EB"/>
                </a:solidFill>
                <a:latin typeface="Calibri" pitchFamily="34" charset="0"/>
                <a:ea typeface="Calibri" pitchFamily="34" charset="-122"/>
                <a:cs typeface="Calibri" pitchFamily="34" charset="-120"/>
              </a:rPr>
              <a:t>Like an MRP tag. </a:t>
            </a:r>
            <a:pPr indent="0" marL="0">
              <a:buNone/>
            </a:pPr>
            <a:r>
              <a:rPr lang="en-US" sz="1450" dirty="0">
                <a:solidFill>
                  <a:srgbClr val="0F172A"/>
                </a:solidFill>
                <a:latin typeface="Calibri" pitchFamily="34" charset="0"/>
                <a:ea typeface="Calibri" pitchFamily="34" charset="-122"/>
                <a:cs typeface="Calibri" pitchFamily="34" charset="-120"/>
              </a:rPr>
              <a:t>border-box is all-inclusive (padding and border fit inside your width). content-box adds them on top, like taxes extra.</a:t>
            </a:r>
            <a:endParaRPr lang="en-US" sz="1450" dirty="0"/>
          </a:p>
        </p:txBody>
      </p:sp>
      <p:sp>
        <p:nvSpPr>
          <p:cNvPr id="6" name="Shape 4"/>
          <p:cNvSpPr/>
          <p:nvPr/>
        </p:nvSpPr>
        <p:spPr>
          <a:xfrm>
            <a:off x="548640" y="2286000"/>
            <a:ext cx="5394960" cy="3657600"/>
          </a:xfrm>
          <a:prstGeom prst="roundRect">
            <a:avLst>
              <a:gd name="adj" fmla="val 3000"/>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7" name="Text 5"/>
          <p:cNvSpPr/>
          <p:nvPr/>
        </p:nvSpPr>
        <p:spPr>
          <a:xfrm>
            <a:off x="731520" y="2423160"/>
            <a:ext cx="5029200" cy="36576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content-box  (default)</a:t>
            </a:r>
            <a:endParaRPr lang="en-US" sz="1700" dirty="0"/>
          </a:p>
        </p:txBody>
      </p:sp>
      <p:sp>
        <p:nvSpPr>
          <p:cNvPr id="8" name="Shape 6"/>
          <p:cNvSpPr/>
          <p:nvPr/>
        </p:nvSpPr>
        <p:spPr>
          <a:xfrm>
            <a:off x="1188720" y="3017520"/>
            <a:ext cx="4023360" cy="1737360"/>
          </a:xfrm>
          <a:prstGeom prst="rect">
            <a:avLst/>
          </a:prstGeom>
          <a:solidFill>
            <a:srgbClr val="FBD34D"/>
          </a:solidFill>
          <a:ln/>
        </p:spPr>
      </p:sp>
      <p:sp>
        <p:nvSpPr>
          <p:cNvPr id="9" name="Shape 7"/>
          <p:cNvSpPr/>
          <p:nvPr/>
        </p:nvSpPr>
        <p:spPr>
          <a:xfrm>
            <a:off x="1417320" y="3200400"/>
            <a:ext cx="3566160" cy="1371600"/>
          </a:xfrm>
          <a:prstGeom prst="rect">
            <a:avLst/>
          </a:prstGeom>
          <a:solidFill>
            <a:srgbClr val="A7E8B7"/>
          </a:solidFill>
          <a:ln/>
        </p:spPr>
      </p:sp>
      <p:sp>
        <p:nvSpPr>
          <p:cNvPr id="10" name="Shape 8"/>
          <p:cNvSpPr/>
          <p:nvPr/>
        </p:nvSpPr>
        <p:spPr>
          <a:xfrm>
            <a:off x="1783080" y="3429000"/>
            <a:ext cx="2834640" cy="914400"/>
          </a:xfrm>
          <a:prstGeom prst="rect">
            <a:avLst/>
          </a:prstGeom>
          <a:solidFill>
            <a:srgbClr val="9CC5FF"/>
          </a:solidFill>
          <a:ln/>
        </p:spPr>
      </p:sp>
      <p:sp>
        <p:nvSpPr>
          <p:cNvPr id="11" name="Text 9"/>
          <p:cNvSpPr/>
          <p:nvPr/>
        </p:nvSpPr>
        <p:spPr>
          <a:xfrm>
            <a:off x="1783080" y="3429000"/>
            <a:ext cx="2834640" cy="914400"/>
          </a:xfrm>
          <a:prstGeom prst="rect">
            <a:avLst/>
          </a:prstGeom>
          <a:noFill/>
          <a:ln/>
        </p:spPr>
        <p:txBody>
          <a:bodyPr wrap="square" lIns="0" tIns="0" rIns="0" bIns="0" rtlCol="0" anchor="ctr"/>
          <a:lstStyle/>
          <a:p>
            <a:pPr algn="ctr" indent="0" marL="0">
              <a:buNone/>
            </a:pPr>
            <a:r>
              <a:rPr lang="en-US" sz="1200" b="1" dirty="0">
                <a:solidFill>
                  <a:srgbClr val="1E4F9C"/>
                </a:solidFill>
                <a:latin typeface="Courier New" pitchFamily="34" charset="0"/>
                <a:ea typeface="Courier New" pitchFamily="34" charset="-122"/>
                <a:cs typeface="Courier New" pitchFamily="34" charset="-120"/>
              </a:rPr>
              <a:t>content 200</a:t>
            </a:r>
            <a:endParaRPr lang="en-US" sz="1200" dirty="0"/>
          </a:p>
        </p:txBody>
      </p:sp>
      <p:sp>
        <p:nvSpPr>
          <p:cNvPr id="12" name="Text 10"/>
          <p:cNvSpPr/>
          <p:nvPr/>
        </p:nvSpPr>
        <p:spPr>
          <a:xfrm>
            <a:off x="731520" y="4937760"/>
            <a:ext cx="5029200" cy="457200"/>
          </a:xfrm>
          <a:prstGeom prst="rect">
            <a:avLst/>
          </a:prstGeom>
          <a:noFill/>
          <a:ln/>
        </p:spPr>
        <p:txBody>
          <a:bodyPr wrap="square" lIns="0" tIns="0" rIns="0" bIns="0" rtlCol="0" anchor="ctr"/>
          <a:lstStyle/>
          <a:p>
            <a:pPr algn="ctr" indent="0" marL="0">
              <a:buNone/>
            </a:pPr>
            <a:r>
              <a:rPr lang="en-US" sz="1350" b="1" dirty="0">
                <a:solidFill>
                  <a:srgbClr val="1E4F9C"/>
                </a:solidFill>
                <a:latin typeface="Calibri" pitchFamily="34" charset="0"/>
                <a:ea typeface="Calibri" pitchFamily="34" charset="-122"/>
                <a:cs typeface="Calibri" pitchFamily="34" charset="-120"/>
              </a:rPr>
              <a:t>200 </a:t>
            </a:r>
            <a:pPr algn="ctr" indent="0" marL="0">
              <a:buNone/>
            </a:pPr>
            <a:r>
              <a:rPr lang="en-US" sz="1350" dirty="0">
                <a:solidFill>
                  <a:srgbClr val="0F172A"/>
                </a:solidFill>
                <a:latin typeface="Calibri" pitchFamily="34" charset="0"/>
                <a:ea typeface="Calibri" pitchFamily="34" charset="-122"/>
                <a:cs typeface="Calibri" pitchFamily="34" charset="-120"/>
              </a:rPr>
              <a:t>+ padding 40 + border 10 = </a:t>
            </a:r>
            <a:pPr algn="ctr" indent="0" marL="0">
              <a:buNone/>
            </a:pPr>
            <a:r>
              <a:rPr lang="en-US" sz="1350" b="1" dirty="0">
                <a:solidFill>
                  <a:srgbClr val="FB7185"/>
                </a:solidFill>
                <a:latin typeface="Calibri" pitchFamily="34" charset="0"/>
                <a:ea typeface="Calibri" pitchFamily="34" charset="-122"/>
                <a:cs typeface="Calibri" pitchFamily="34" charset="-120"/>
              </a:rPr>
              <a:t>250px wide</a:t>
            </a:r>
            <a:endParaRPr lang="en-US" sz="1350" dirty="0"/>
          </a:p>
        </p:txBody>
      </p:sp>
      <p:sp>
        <p:nvSpPr>
          <p:cNvPr id="13" name="Text 11"/>
          <p:cNvSpPr/>
          <p:nvPr/>
        </p:nvSpPr>
        <p:spPr>
          <a:xfrm>
            <a:off x="731520" y="5440680"/>
            <a:ext cx="5029200" cy="36576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Padding and border grow the box.</a:t>
            </a:r>
            <a:endParaRPr lang="en-US" sz="1200" dirty="0"/>
          </a:p>
        </p:txBody>
      </p:sp>
      <p:sp>
        <p:nvSpPr>
          <p:cNvPr id="14" name="Shape 12"/>
          <p:cNvSpPr/>
          <p:nvPr/>
        </p:nvSpPr>
        <p:spPr>
          <a:xfrm>
            <a:off x="6263640" y="2286000"/>
            <a:ext cx="5394960" cy="3657600"/>
          </a:xfrm>
          <a:prstGeom prst="roundRect">
            <a:avLst>
              <a:gd name="adj" fmla="val 3000"/>
            </a:avLst>
          </a:prstGeom>
          <a:solidFill>
            <a:srgbClr val="F1FBF4"/>
          </a:solidFill>
          <a:ln w="12700">
            <a:solidFill>
              <a:srgbClr val="22C55E"/>
            </a:solidFill>
            <a:prstDash val="solid"/>
          </a:ln>
          <a:effectLst>
            <a:outerShdw sx="100000" sy="100000" kx="0" ky="0" algn="bl" rotWithShape="0" blurRad="101600" dist="38100" dir="5400000">
              <a:srgbClr val="0B1220">
                <a:alpha val="18000"/>
              </a:srgbClr>
            </a:outerShdw>
          </a:effectLst>
        </p:spPr>
      </p:sp>
      <p:sp>
        <p:nvSpPr>
          <p:cNvPr id="15" name="Text 13"/>
          <p:cNvSpPr/>
          <p:nvPr/>
        </p:nvSpPr>
        <p:spPr>
          <a:xfrm>
            <a:off x="6446520" y="2423160"/>
            <a:ext cx="5029200" cy="365760"/>
          </a:xfrm>
          <a:prstGeom prst="rect">
            <a:avLst/>
          </a:prstGeom>
          <a:noFill/>
          <a:ln/>
        </p:spPr>
        <p:txBody>
          <a:bodyPr wrap="square" lIns="0" tIns="0" rIns="0" bIns="0" rtlCol="0" anchor="ctr"/>
          <a:lstStyle/>
          <a:p>
            <a:pPr indent="0" marL="0">
              <a:buNone/>
            </a:pPr>
            <a:r>
              <a:rPr lang="en-US" sz="1700" b="1" dirty="0">
                <a:solidFill>
                  <a:srgbClr val="14532D"/>
                </a:solidFill>
                <a:latin typeface="Calibri" pitchFamily="34" charset="0"/>
                <a:ea typeface="Calibri" pitchFamily="34" charset="-122"/>
                <a:cs typeface="Calibri" pitchFamily="34" charset="-120"/>
              </a:rPr>
              <a:t>border-box  (recommended)</a:t>
            </a:r>
            <a:endParaRPr lang="en-US" sz="1700" dirty="0"/>
          </a:p>
        </p:txBody>
      </p:sp>
      <p:sp>
        <p:nvSpPr>
          <p:cNvPr id="16" name="Shape 14"/>
          <p:cNvSpPr/>
          <p:nvPr/>
        </p:nvSpPr>
        <p:spPr>
          <a:xfrm>
            <a:off x="6903720" y="3017520"/>
            <a:ext cx="4023360" cy="1737360"/>
          </a:xfrm>
          <a:prstGeom prst="rect">
            <a:avLst/>
          </a:prstGeom>
          <a:solidFill>
            <a:srgbClr val="FBD34D"/>
          </a:solidFill>
          <a:ln/>
        </p:spPr>
      </p:sp>
      <p:sp>
        <p:nvSpPr>
          <p:cNvPr id="17" name="Shape 15"/>
          <p:cNvSpPr/>
          <p:nvPr/>
        </p:nvSpPr>
        <p:spPr>
          <a:xfrm>
            <a:off x="7132320" y="3200400"/>
            <a:ext cx="3566160" cy="1371600"/>
          </a:xfrm>
          <a:prstGeom prst="rect">
            <a:avLst/>
          </a:prstGeom>
          <a:solidFill>
            <a:srgbClr val="A7E8B7"/>
          </a:solidFill>
          <a:ln/>
        </p:spPr>
      </p:sp>
      <p:sp>
        <p:nvSpPr>
          <p:cNvPr id="18" name="Shape 16"/>
          <p:cNvSpPr/>
          <p:nvPr/>
        </p:nvSpPr>
        <p:spPr>
          <a:xfrm>
            <a:off x="7772400" y="3429000"/>
            <a:ext cx="2286000" cy="914400"/>
          </a:xfrm>
          <a:prstGeom prst="rect">
            <a:avLst/>
          </a:prstGeom>
          <a:solidFill>
            <a:srgbClr val="9CC5FF"/>
          </a:solidFill>
          <a:ln/>
        </p:spPr>
      </p:sp>
      <p:sp>
        <p:nvSpPr>
          <p:cNvPr id="19" name="Text 17"/>
          <p:cNvSpPr/>
          <p:nvPr/>
        </p:nvSpPr>
        <p:spPr>
          <a:xfrm>
            <a:off x="7772400" y="3429000"/>
            <a:ext cx="2286000" cy="914400"/>
          </a:xfrm>
          <a:prstGeom prst="rect">
            <a:avLst/>
          </a:prstGeom>
          <a:noFill/>
          <a:ln/>
        </p:spPr>
        <p:txBody>
          <a:bodyPr wrap="square" lIns="0" tIns="0" rIns="0" bIns="0" rtlCol="0" anchor="ctr"/>
          <a:lstStyle/>
          <a:p>
            <a:pPr algn="ctr" indent="0" marL="0">
              <a:buNone/>
            </a:pPr>
            <a:r>
              <a:rPr lang="en-US" sz="1200" b="1" dirty="0">
                <a:solidFill>
                  <a:srgbClr val="1E4F9C"/>
                </a:solidFill>
                <a:latin typeface="Courier New" pitchFamily="34" charset="0"/>
                <a:ea typeface="Courier New" pitchFamily="34" charset="-122"/>
                <a:cs typeface="Courier New" pitchFamily="34" charset="-120"/>
              </a:rPr>
              <a:t>content 150</a:t>
            </a:r>
            <a:endParaRPr lang="en-US" sz="1200" dirty="0"/>
          </a:p>
        </p:txBody>
      </p:sp>
      <p:sp>
        <p:nvSpPr>
          <p:cNvPr id="20" name="Shape 18"/>
          <p:cNvSpPr/>
          <p:nvPr/>
        </p:nvSpPr>
        <p:spPr>
          <a:xfrm>
            <a:off x="6903720" y="4800600"/>
            <a:ext cx="4023360" cy="0"/>
          </a:xfrm>
          <a:prstGeom prst="line">
            <a:avLst/>
          </a:prstGeom>
          <a:noFill/>
          <a:ln w="19050">
            <a:solidFill>
              <a:srgbClr val="22C55E"/>
            </a:solidFill>
            <a:prstDash val="solid"/>
            <a:headEnd type="triangle"/>
            <a:tailEnd type="triangle"/>
          </a:ln>
        </p:spPr>
      </p:sp>
      <p:sp>
        <p:nvSpPr>
          <p:cNvPr id="21" name="Text 19"/>
          <p:cNvSpPr/>
          <p:nvPr/>
        </p:nvSpPr>
        <p:spPr>
          <a:xfrm>
            <a:off x="6903720" y="4489704"/>
            <a:ext cx="4023360" cy="274320"/>
          </a:xfrm>
          <a:prstGeom prst="rect">
            <a:avLst/>
          </a:prstGeom>
          <a:noFill/>
          <a:ln/>
        </p:spPr>
        <p:txBody>
          <a:bodyPr wrap="square" lIns="0" tIns="0" rIns="0" bIns="0" rtlCol="0" anchor="ctr"/>
          <a:lstStyle/>
          <a:p>
            <a:pPr algn="ctr" indent="0" marL="0">
              <a:buNone/>
            </a:pPr>
            <a:r>
              <a:rPr lang="en-US" sz="1100" b="1" dirty="0">
                <a:solidFill>
                  <a:srgbClr val="22C55E"/>
                </a:solidFill>
                <a:latin typeface="Calibri" pitchFamily="34" charset="0"/>
                <a:ea typeface="Calibri" pitchFamily="34" charset="-122"/>
                <a:cs typeface="Calibri" pitchFamily="34" charset="-120"/>
              </a:rPr>
              <a:t>total 200px (fixed)</a:t>
            </a:r>
            <a:endParaRPr lang="en-US" sz="1100" dirty="0"/>
          </a:p>
        </p:txBody>
      </p:sp>
      <p:sp>
        <p:nvSpPr>
          <p:cNvPr id="22" name="Text 20"/>
          <p:cNvSpPr/>
          <p:nvPr/>
        </p:nvSpPr>
        <p:spPr>
          <a:xfrm>
            <a:off x="6446520" y="5074920"/>
            <a:ext cx="5029200" cy="457200"/>
          </a:xfrm>
          <a:prstGeom prst="rect">
            <a:avLst/>
          </a:prstGeom>
          <a:noFill/>
          <a:ln/>
        </p:spPr>
        <p:txBody>
          <a:bodyPr wrap="square" lIns="0" tIns="0" rIns="0" bIns="0" rtlCol="0" anchor="ctr"/>
          <a:lstStyle/>
          <a:p>
            <a:pPr algn="ctr" indent="0" marL="0">
              <a:buNone/>
            </a:pPr>
            <a:r>
              <a:rPr lang="en-US" sz="1350" b="1" dirty="0">
                <a:solidFill>
                  <a:srgbClr val="14532D"/>
                </a:solidFill>
                <a:latin typeface="Calibri" pitchFamily="34" charset="0"/>
                <a:ea typeface="Calibri" pitchFamily="34" charset="-122"/>
                <a:cs typeface="Calibri" pitchFamily="34" charset="-120"/>
              </a:rPr>
              <a:t>200 total </a:t>
            </a:r>
            <a:pPr algn="ctr" indent="0" marL="0">
              <a:buNone/>
            </a:pPr>
            <a:r>
              <a:rPr lang="en-US" sz="1350" dirty="0">
                <a:solidFill>
                  <a:srgbClr val="0F172A"/>
                </a:solidFill>
                <a:latin typeface="Calibri" pitchFamily="34" charset="0"/>
                <a:ea typeface="Calibri" pitchFamily="34" charset="-122"/>
                <a:cs typeface="Calibri" pitchFamily="34" charset="-120"/>
              </a:rPr>
              <a:t>= content 150 + padding 40 + border 10</a:t>
            </a:r>
            <a:endParaRPr lang="en-US" sz="1350" dirty="0"/>
          </a:p>
        </p:txBody>
      </p:sp>
      <p:sp>
        <p:nvSpPr>
          <p:cNvPr id="23" name="Text 21"/>
          <p:cNvSpPr/>
          <p:nvPr/>
        </p:nvSpPr>
        <p:spPr>
          <a:xfrm>
            <a:off x="6446520" y="5532120"/>
            <a:ext cx="5029200" cy="36576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Content shrinks so the total stays 200.</a:t>
            </a:r>
            <a:endParaRPr lang="en-US" sz="1200" dirty="0"/>
          </a:p>
        </p:txBody>
      </p:sp>
      <p:sp>
        <p:nvSpPr>
          <p:cNvPr id="24" name="Text 2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25" name="Text 2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04</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4</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Overflow</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When content spills out of a fixed box, you decide what happens.</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024128" cy="310896"/>
          </a:xfrm>
          <a:prstGeom prst="roundRect">
            <a:avLst>
              <a:gd name="adj" fmla="val 50000"/>
            </a:avLst>
          </a:prstGeom>
          <a:solidFill>
            <a:srgbClr val="2563EB"/>
          </a:solidFill>
          <a:ln/>
        </p:spPr>
      </p:sp>
      <p:sp>
        <p:nvSpPr>
          <p:cNvPr id="3" name="Text 1"/>
          <p:cNvSpPr/>
          <p:nvPr/>
        </p:nvSpPr>
        <p:spPr>
          <a:xfrm>
            <a:off x="548640" y="457200"/>
            <a:ext cx="1024128"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OVERFLOW</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When content does not fit</a:t>
            </a:r>
            <a:endParaRPr lang="en-US" sz="3400" dirty="0"/>
          </a:p>
        </p:txBody>
      </p:sp>
      <p:sp>
        <p:nvSpPr>
          <p:cNvPr id="5" name="Text 3"/>
          <p:cNvSpPr/>
          <p:nvPr/>
        </p:nvSpPr>
        <p:spPr>
          <a:xfrm>
            <a:off x="548640" y="1691640"/>
            <a:ext cx="6400800" cy="822960"/>
          </a:xfrm>
          <a:prstGeom prst="rect">
            <a:avLst/>
          </a:prstGeom>
          <a:noFill/>
          <a:ln/>
        </p:spPr>
        <p:txBody>
          <a:bodyPr wrap="square" lIns="0" tIns="0" rIns="0" bIns="0" rtlCol="0" anchor="ctr"/>
          <a:lstStyle/>
          <a:p>
            <a:pPr indent="0" marL="0">
              <a:buNone/>
            </a:pPr>
            <a:r>
              <a:rPr lang="en-US" sz="1500" b="1" dirty="0">
                <a:solidFill>
                  <a:srgbClr val="2563EB"/>
                </a:solidFill>
                <a:latin typeface="Calibri" pitchFamily="34" charset="0"/>
                <a:ea typeface="Calibri" pitchFamily="34" charset="-122"/>
                <a:cs typeface="Calibri" pitchFamily="34" charset="-120"/>
              </a:rPr>
              <a:t>Picture a Mumbai local at rush hour. </a:t>
            </a:r>
            <a:pPr indent="0" marL="0">
              <a:buNone/>
            </a:pPr>
            <a:r>
              <a:rPr lang="en-US" sz="1500" dirty="0">
                <a:solidFill>
                  <a:srgbClr val="0F172A"/>
                </a:solidFill>
                <a:latin typeface="Calibri" pitchFamily="34" charset="0"/>
                <a:ea typeface="Calibri" pitchFamily="34" charset="-122"/>
                <a:cs typeface="Calibri" pitchFamily="34" charset="-120"/>
              </a:rPr>
              <a:t>The coach is a fixed size but the crowd keeps coming. Overflow is your rule for what happens to everyone who does not fit.</a:t>
            </a:r>
            <a:endParaRPr lang="en-US" sz="1500" dirty="0"/>
          </a:p>
        </p:txBody>
      </p:sp>
      <p:sp>
        <p:nvSpPr>
          <p:cNvPr id="6" name="Shape 4"/>
          <p:cNvSpPr/>
          <p:nvPr/>
        </p:nvSpPr>
        <p:spPr>
          <a:xfrm>
            <a:off x="548640" y="2697480"/>
            <a:ext cx="6400800" cy="3200400"/>
          </a:xfrm>
          <a:prstGeom prst="roundRect">
            <a:avLst>
              <a:gd name="adj" fmla="val 3429"/>
            </a:avLst>
          </a:prstGeom>
          <a:solidFill>
            <a:srgbClr val="0C1526"/>
          </a:solidFill>
          <a:ln/>
          <a:effectLst>
            <a:outerShdw sx="100000" sy="100000" kx="0" ky="0" algn="bl" rotWithShape="0" blurRad="101600" dist="38100" dir="5400000">
              <a:srgbClr val="0B1220">
                <a:alpha val="18000"/>
              </a:srgbClr>
            </a:outerShdw>
          </a:effectLst>
        </p:spPr>
      </p:sp>
      <p:sp>
        <p:nvSpPr>
          <p:cNvPr id="7" name="Shape 5"/>
          <p:cNvSpPr/>
          <p:nvPr/>
        </p:nvSpPr>
        <p:spPr>
          <a:xfrm>
            <a:off x="804672" y="2916936"/>
            <a:ext cx="128016" cy="128016"/>
          </a:xfrm>
          <a:prstGeom prst="ellipse">
            <a:avLst/>
          </a:prstGeom>
          <a:solidFill>
            <a:srgbClr val="FF5F56"/>
          </a:solidFill>
          <a:ln/>
        </p:spPr>
      </p:sp>
      <p:sp>
        <p:nvSpPr>
          <p:cNvPr id="8" name="Shape 6"/>
          <p:cNvSpPr/>
          <p:nvPr/>
        </p:nvSpPr>
        <p:spPr>
          <a:xfrm>
            <a:off x="1042416" y="2916936"/>
            <a:ext cx="128016" cy="128016"/>
          </a:xfrm>
          <a:prstGeom prst="ellipse">
            <a:avLst/>
          </a:prstGeom>
          <a:solidFill>
            <a:srgbClr val="FFBD2E"/>
          </a:solidFill>
          <a:ln/>
        </p:spPr>
      </p:sp>
      <p:sp>
        <p:nvSpPr>
          <p:cNvPr id="9" name="Shape 7"/>
          <p:cNvSpPr/>
          <p:nvPr/>
        </p:nvSpPr>
        <p:spPr>
          <a:xfrm>
            <a:off x="1280160" y="2916936"/>
            <a:ext cx="128016" cy="128016"/>
          </a:xfrm>
          <a:prstGeom prst="ellipse">
            <a:avLst/>
          </a:prstGeom>
          <a:solidFill>
            <a:srgbClr val="27C93F"/>
          </a:solidFill>
          <a:ln/>
        </p:spPr>
      </p:sp>
      <p:sp>
        <p:nvSpPr>
          <p:cNvPr id="10" name="Text 8"/>
          <p:cNvSpPr/>
          <p:nvPr/>
        </p:nvSpPr>
        <p:spPr>
          <a:xfrm>
            <a:off x="804672" y="3227832"/>
            <a:ext cx="5888736" cy="2487168"/>
          </a:xfrm>
          <a:prstGeom prst="rect">
            <a:avLst/>
          </a:prstGeom>
          <a:noFill/>
          <a:ln/>
        </p:spPr>
        <p:txBody>
          <a:bodyPr wrap="square" lIns="0" tIns="0" rIns="0" bIns="0" rtlCol="0" anchor="t"/>
          <a:lstStyle/>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container</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9CC5FF"/>
                </a:solidFill>
                <a:latin typeface="Courier New" pitchFamily="34" charset="0"/>
                <a:ea typeface="Courier New" pitchFamily="34" charset="-122"/>
                <a:cs typeface="Courier New" pitchFamily="34" charset="-120"/>
              </a:rPr>
              <a:t>border</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2px</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86EFAC"/>
                </a:solidFill>
                <a:latin typeface="Courier New" pitchFamily="34" charset="0"/>
                <a:ea typeface="Courier New" pitchFamily="34" charset="-122"/>
                <a:cs typeface="Courier New" pitchFamily="34" charset="-120"/>
              </a:rPr>
              <a:t>solid</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tomato</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9CC5FF"/>
                </a:solidFill>
                <a:latin typeface="Courier New" pitchFamily="34" charset="0"/>
                <a:ea typeface="Courier New" pitchFamily="34" charset="-122"/>
                <a:cs typeface="Courier New" pitchFamily="34" charset="-120"/>
              </a:rPr>
              <a:t>width</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200px</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9CC5FF"/>
                </a:solidFill>
                <a:latin typeface="Courier New" pitchFamily="34" charset="0"/>
                <a:ea typeface="Courier New" pitchFamily="34" charset="-122"/>
                <a:cs typeface="Courier New" pitchFamily="34" charset="-120"/>
              </a:rPr>
              <a:t>height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FBD34D"/>
                </a:solidFill>
                <a:latin typeface="Courier New" pitchFamily="34" charset="0"/>
                <a:ea typeface="Courier New" pitchFamily="34" charset="-122"/>
                <a:cs typeface="Courier New" pitchFamily="34" charset="-120"/>
              </a:rPr>
              <a:t>200px</a:t>
            </a:r>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100</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words</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inside</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a</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tiny</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box</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00" dirty="0">
                <a:solidFill>
                  <a:srgbClr val="6B8299"/>
                </a:solidFill>
                <a:latin typeface="Courier New" pitchFamily="34" charset="0"/>
                <a:ea typeface="Courier New" pitchFamily="34" charset="-122"/>
                <a:cs typeface="Courier New" pitchFamily="34" charset="-120"/>
              </a:rPr>
              <a:t>*/</a:t>
            </a:r>
            <a:endParaRPr lang="en-US" sz="1200" dirty="0"/>
          </a:p>
          <a:p>
            <a:pPr algn="l" indent="0" marL="0">
              <a:lnSpc>
                <a:spcPct val="108000"/>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1" name="Shape 9"/>
          <p:cNvSpPr/>
          <p:nvPr/>
        </p:nvSpPr>
        <p:spPr>
          <a:xfrm>
            <a:off x="548640" y="5989320"/>
            <a:ext cx="6400800" cy="548640"/>
          </a:xfrm>
          <a:prstGeom prst="roundRect">
            <a:avLst>
              <a:gd name="adj" fmla="val 20000"/>
            </a:avLst>
          </a:prstGeom>
          <a:solidFill>
            <a:srgbClr val="FFF3E0"/>
          </a:solidFill>
          <a:ln/>
        </p:spPr>
      </p:sp>
      <p:sp>
        <p:nvSpPr>
          <p:cNvPr id="12" name="Shape 10"/>
          <p:cNvSpPr/>
          <p:nvPr/>
        </p:nvSpPr>
        <p:spPr>
          <a:xfrm>
            <a:off x="749808" y="6135624"/>
            <a:ext cx="256032" cy="256032"/>
          </a:xfrm>
          <a:prstGeom prst="ellipse">
            <a:avLst/>
          </a:prstGeom>
          <a:solidFill>
            <a:srgbClr val="F59E0B"/>
          </a:solidFill>
          <a:ln/>
        </p:spPr>
      </p:sp>
      <p:sp>
        <p:nvSpPr>
          <p:cNvPr id="13" name="Text 11"/>
          <p:cNvSpPr/>
          <p:nvPr/>
        </p:nvSpPr>
        <p:spPr>
          <a:xfrm>
            <a:off x="1207008" y="5989320"/>
            <a:ext cx="5532120" cy="548640"/>
          </a:xfrm>
          <a:prstGeom prst="rect">
            <a:avLst/>
          </a:prstGeom>
          <a:noFill/>
          <a:ln/>
        </p:spPr>
        <p:txBody>
          <a:bodyPr wrap="square" lIns="0" tIns="0" rIns="0" bIns="0" rtlCol="0" anchor="ctr"/>
          <a:lstStyle/>
          <a:p>
            <a:pPr algn="l" indent="0" marL="0">
              <a:buNone/>
            </a:pPr>
            <a:r>
              <a:rPr lang="en-US" sz="1400" dirty="0">
                <a:solidFill>
                  <a:srgbClr val="7A4A05"/>
                </a:solidFill>
                <a:latin typeface="Calibri" pitchFamily="34" charset="0"/>
                <a:ea typeface="Calibri" pitchFamily="34" charset="-122"/>
                <a:cs typeface="Calibri" pitchFamily="34" charset="-120"/>
              </a:rPr>
              <a:t>By default the text spills past the edges and overlaps whatever comes next.</a:t>
            </a:r>
            <a:endParaRPr lang="en-US" sz="1400" dirty="0"/>
          </a:p>
        </p:txBody>
      </p:sp>
      <p:sp>
        <p:nvSpPr>
          <p:cNvPr id="14" name="Shape 12"/>
          <p:cNvSpPr/>
          <p:nvPr/>
        </p:nvSpPr>
        <p:spPr>
          <a:xfrm>
            <a:off x="7680960" y="2011680"/>
            <a:ext cx="2743200" cy="2743200"/>
          </a:xfrm>
          <a:prstGeom prst="rect">
            <a:avLst/>
          </a:prstGeom>
          <a:solidFill>
            <a:srgbClr val="FFFFFF"/>
          </a:solidFill>
          <a:ln w="31750">
            <a:solidFill>
              <a:srgbClr val="FB7185"/>
            </a:solidFill>
            <a:prstDash val="solid"/>
          </a:ln>
        </p:spPr>
      </p:sp>
      <p:sp>
        <p:nvSpPr>
          <p:cNvPr id="15" name="Text 13"/>
          <p:cNvSpPr/>
          <p:nvPr/>
        </p:nvSpPr>
        <p:spPr>
          <a:xfrm>
            <a:off x="7818120" y="2121408"/>
            <a:ext cx="3108960" cy="3657600"/>
          </a:xfrm>
          <a:prstGeom prst="rect">
            <a:avLst/>
          </a:prstGeom>
          <a:noFill/>
          <a:ln/>
        </p:spPr>
        <p:txBody>
          <a:bodyPr wrap="square" lIns="0" tIns="0" rIns="0" bIns="0" rtlCol="0" anchor="t"/>
          <a:lstStyle/>
          <a:p>
            <a:pPr algn="l" indent="0" marL="0">
              <a:buNone/>
            </a:pPr>
            <a:r>
              <a:rPr lang="en-US" sz="1100" dirty="0">
                <a:solidFill>
                  <a:srgbClr val="0F172A"/>
                </a:solidFill>
                <a:latin typeface="Calibri" pitchFamily="34" charset="0"/>
                <a:ea typeface="Calibri" pitchFamily="34" charset="-122"/>
                <a:cs typeface="Calibri" pitchFamily="34" charset="-120"/>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 Donec pede justo fringilla vel aliquet nec.</a:t>
            </a:r>
            <a:endParaRPr lang="en-US" sz="1100" dirty="0"/>
          </a:p>
        </p:txBody>
      </p:sp>
      <p:sp>
        <p:nvSpPr>
          <p:cNvPr id="16" name="Text 14"/>
          <p:cNvSpPr/>
          <p:nvPr/>
        </p:nvSpPr>
        <p:spPr>
          <a:xfrm>
            <a:off x="7680960" y="5715000"/>
            <a:ext cx="3840480" cy="274320"/>
          </a:xfrm>
          <a:prstGeom prst="rect">
            <a:avLst/>
          </a:prstGeom>
          <a:noFill/>
          <a:ln/>
        </p:spPr>
        <p:txBody>
          <a:bodyPr wrap="square" lIns="0" tIns="0" rIns="0" bIns="0" rtlCol="0" anchor="ctr"/>
          <a:lstStyle/>
          <a:p>
            <a:pPr indent="0" marL="0">
              <a:buNone/>
            </a:pPr>
            <a:r>
              <a:rPr lang="en-US" sz="1100" i="1" dirty="0">
                <a:solidFill>
                  <a:srgbClr val="FB7185"/>
                </a:solidFill>
                <a:latin typeface="Calibri" pitchFamily="34" charset="0"/>
                <a:ea typeface="Calibri" pitchFamily="34" charset="-122"/>
                <a:cs typeface="Calibri" pitchFamily="34" charset="-120"/>
              </a:rPr>
              <a:t>content spilling out</a:t>
            </a:r>
            <a:endParaRPr lang="en-US" sz="1100" dirty="0"/>
          </a:p>
        </p:txBody>
      </p:sp>
      <p:sp>
        <p:nvSpPr>
          <p:cNvPr id="17" name="Text 15"/>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18" name="Text 16"/>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1024128" cy="310896"/>
          </a:xfrm>
          <a:prstGeom prst="roundRect">
            <a:avLst>
              <a:gd name="adj" fmla="val 50000"/>
            </a:avLst>
          </a:prstGeom>
          <a:solidFill>
            <a:srgbClr val="2563EB"/>
          </a:solidFill>
          <a:ln/>
        </p:spPr>
      </p:sp>
      <p:sp>
        <p:nvSpPr>
          <p:cNvPr id="3" name="Text 1"/>
          <p:cNvSpPr/>
          <p:nvPr/>
        </p:nvSpPr>
        <p:spPr>
          <a:xfrm>
            <a:off x="548640" y="457200"/>
            <a:ext cx="1024128"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OVERFLOW</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Four overflow values</a:t>
            </a:r>
            <a:endParaRPr lang="en-US" sz="3400" dirty="0"/>
          </a:p>
        </p:txBody>
      </p:sp>
      <p:sp>
        <p:nvSpPr>
          <p:cNvPr id="5" name="Shape 3"/>
          <p:cNvSpPr/>
          <p:nvPr/>
        </p:nvSpPr>
        <p:spPr>
          <a:xfrm>
            <a:off x="548640" y="1920240"/>
            <a:ext cx="2697480" cy="3108960"/>
          </a:xfrm>
          <a:prstGeom prst="roundRect">
            <a:avLst>
              <a:gd name="adj" fmla="val 406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1513332" y="2240280"/>
            <a:ext cx="768096" cy="768096"/>
          </a:xfrm>
          <a:prstGeom prst="ellipse">
            <a:avLst/>
          </a:prstGeom>
          <a:solidFill>
            <a:srgbClr val="E5EEFF"/>
          </a:solidFill>
          <a:ln/>
        </p:spPr>
      </p:sp>
      <p:pic>
        <p:nvPicPr>
          <p:cNvPr id="7" name="Image 0" descr="preencoded.png">    </p:cNvPr>
          <p:cNvPicPr>
            <a:picLocks noChangeAspect="1"/>
          </p:cNvPicPr>
          <p:nvPr/>
        </p:nvPicPr>
        <p:blipFill>
          <a:blip r:embed="rId1"/>
          <a:stretch>
            <a:fillRect/>
          </a:stretch>
        </p:blipFill>
        <p:spPr>
          <a:xfrm>
            <a:off x="1713037" y="2439985"/>
            <a:ext cx="368686" cy="368686"/>
          </a:xfrm>
          <a:prstGeom prst="rect">
            <a:avLst/>
          </a:prstGeom>
        </p:spPr>
      </p:pic>
      <p:sp>
        <p:nvSpPr>
          <p:cNvPr id="8" name="Text 5"/>
          <p:cNvSpPr/>
          <p:nvPr/>
        </p:nvSpPr>
        <p:spPr>
          <a:xfrm>
            <a:off x="548640" y="3154680"/>
            <a:ext cx="2697480" cy="411480"/>
          </a:xfrm>
          <a:prstGeom prst="rect">
            <a:avLst/>
          </a:prstGeom>
          <a:noFill/>
          <a:ln/>
        </p:spPr>
        <p:txBody>
          <a:bodyPr wrap="square" lIns="0" tIns="0" rIns="0" bIns="0" rtlCol="0" anchor="ctr"/>
          <a:lstStyle/>
          <a:p>
            <a:pPr algn="ctr" indent="0" marL="0">
              <a:buNone/>
            </a:pPr>
            <a:r>
              <a:rPr lang="en-US" sz="1800" b="1" dirty="0">
                <a:solidFill>
                  <a:srgbClr val="FB7185"/>
                </a:solidFill>
                <a:latin typeface="Courier New" pitchFamily="34" charset="0"/>
                <a:ea typeface="Courier New" pitchFamily="34" charset="-122"/>
                <a:cs typeface="Courier New" pitchFamily="34" charset="-120"/>
              </a:rPr>
              <a:t>visible</a:t>
            </a:r>
            <a:endParaRPr lang="en-US" sz="1800" dirty="0"/>
          </a:p>
        </p:txBody>
      </p:sp>
      <p:sp>
        <p:nvSpPr>
          <p:cNvPr id="9" name="Text 6"/>
          <p:cNvSpPr/>
          <p:nvPr/>
        </p:nvSpPr>
        <p:spPr>
          <a:xfrm>
            <a:off x="731520" y="3657600"/>
            <a:ext cx="2331720" cy="1280160"/>
          </a:xfrm>
          <a:prstGeom prst="rect">
            <a:avLst/>
          </a:prstGeom>
          <a:noFill/>
          <a:ln/>
        </p:spPr>
        <p:txBody>
          <a:bodyPr wrap="square" lIns="0" tIns="0" rIns="0" bIns="0" rtlCol="0" anchor="t"/>
          <a:lstStyle/>
          <a:p>
            <a:pPr algn="ctr" indent="0" marL="0">
              <a:buNone/>
            </a:pPr>
            <a:r>
              <a:rPr lang="en-US" sz="1250" dirty="0">
                <a:solidFill>
                  <a:srgbClr val="0F172A"/>
                </a:solidFill>
                <a:latin typeface="Calibri" pitchFamily="34" charset="0"/>
                <a:ea typeface="Calibri" pitchFamily="34" charset="-122"/>
                <a:cs typeface="Calibri" pitchFamily="34" charset="-120"/>
              </a:rPr>
              <a:t>Default. Content spills out and overlaps neighbours. No change.</a:t>
            </a:r>
            <a:endParaRPr lang="en-US" sz="1250" dirty="0"/>
          </a:p>
        </p:txBody>
      </p:sp>
      <p:sp>
        <p:nvSpPr>
          <p:cNvPr id="10" name="Shape 7"/>
          <p:cNvSpPr/>
          <p:nvPr/>
        </p:nvSpPr>
        <p:spPr>
          <a:xfrm>
            <a:off x="3447288" y="1920240"/>
            <a:ext cx="2697480" cy="3108960"/>
          </a:xfrm>
          <a:prstGeom prst="roundRect">
            <a:avLst>
              <a:gd name="adj" fmla="val 406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1" name="Shape 8"/>
          <p:cNvSpPr/>
          <p:nvPr/>
        </p:nvSpPr>
        <p:spPr>
          <a:xfrm>
            <a:off x="4411980" y="2240280"/>
            <a:ext cx="768096" cy="768096"/>
          </a:xfrm>
          <a:prstGeom prst="ellipse">
            <a:avLst/>
          </a:prstGeom>
          <a:solidFill>
            <a:srgbClr val="E5EEFF"/>
          </a:solidFill>
          <a:ln/>
        </p:spPr>
      </p:sp>
      <p:pic>
        <p:nvPicPr>
          <p:cNvPr id="12" name="Image 1" descr="preencoded.png">    </p:cNvPr>
          <p:cNvPicPr>
            <a:picLocks noChangeAspect="1"/>
          </p:cNvPicPr>
          <p:nvPr/>
        </p:nvPicPr>
        <p:blipFill>
          <a:blip r:embed="rId2"/>
          <a:stretch>
            <a:fillRect/>
          </a:stretch>
        </p:blipFill>
        <p:spPr>
          <a:xfrm>
            <a:off x="4611685" y="2439985"/>
            <a:ext cx="368686" cy="368686"/>
          </a:xfrm>
          <a:prstGeom prst="rect">
            <a:avLst/>
          </a:prstGeom>
        </p:spPr>
      </p:pic>
      <p:sp>
        <p:nvSpPr>
          <p:cNvPr id="13" name="Text 9"/>
          <p:cNvSpPr/>
          <p:nvPr/>
        </p:nvSpPr>
        <p:spPr>
          <a:xfrm>
            <a:off x="3447288" y="3154680"/>
            <a:ext cx="2697480" cy="411480"/>
          </a:xfrm>
          <a:prstGeom prst="rect">
            <a:avLst/>
          </a:prstGeom>
          <a:noFill/>
          <a:ln/>
        </p:spPr>
        <p:txBody>
          <a:bodyPr wrap="square" lIns="0" tIns="0" rIns="0" bIns="0" rtlCol="0" anchor="ctr"/>
          <a:lstStyle/>
          <a:p>
            <a:pPr algn="ctr" indent="0" marL="0">
              <a:buNone/>
            </a:pPr>
            <a:r>
              <a:rPr lang="en-US" sz="1800" b="1" dirty="0">
                <a:solidFill>
                  <a:srgbClr val="8B5CF6"/>
                </a:solidFill>
                <a:latin typeface="Courier New" pitchFamily="34" charset="0"/>
                <a:ea typeface="Courier New" pitchFamily="34" charset="-122"/>
                <a:cs typeface="Courier New" pitchFamily="34" charset="-120"/>
              </a:rPr>
              <a:t>hidden</a:t>
            </a:r>
            <a:endParaRPr lang="en-US" sz="1800" dirty="0"/>
          </a:p>
        </p:txBody>
      </p:sp>
      <p:sp>
        <p:nvSpPr>
          <p:cNvPr id="14" name="Text 10"/>
          <p:cNvSpPr/>
          <p:nvPr/>
        </p:nvSpPr>
        <p:spPr>
          <a:xfrm>
            <a:off x="3630168" y="3657600"/>
            <a:ext cx="2331720" cy="1280160"/>
          </a:xfrm>
          <a:prstGeom prst="rect">
            <a:avLst/>
          </a:prstGeom>
          <a:noFill/>
          <a:ln/>
        </p:spPr>
        <p:txBody>
          <a:bodyPr wrap="square" lIns="0" tIns="0" rIns="0" bIns="0" rtlCol="0" anchor="t"/>
          <a:lstStyle/>
          <a:p>
            <a:pPr algn="ctr" indent="0" marL="0">
              <a:buNone/>
            </a:pPr>
            <a:r>
              <a:rPr lang="en-US" sz="1250" dirty="0">
                <a:solidFill>
                  <a:srgbClr val="0F172A"/>
                </a:solidFill>
                <a:latin typeface="Calibri" pitchFamily="34" charset="0"/>
                <a:ea typeface="Calibri" pitchFamily="34" charset="-122"/>
                <a:cs typeface="Calibri" pitchFamily="34" charset="-120"/>
              </a:rPr>
              <a:t>Extra content is clipped and simply not shown. No scroll bar.</a:t>
            </a:r>
            <a:endParaRPr lang="en-US" sz="1250" dirty="0"/>
          </a:p>
        </p:txBody>
      </p:sp>
      <p:sp>
        <p:nvSpPr>
          <p:cNvPr id="15" name="Shape 11"/>
          <p:cNvSpPr/>
          <p:nvPr/>
        </p:nvSpPr>
        <p:spPr>
          <a:xfrm>
            <a:off x="6345936" y="1920240"/>
            <a:ext cx="2697480" cy="3108960"/>
          </a:xfrm>
          <a:prstGeom prst="roundRect">
            <a:avLst>
              <a:gd name="adj" fmla="val 406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6" name="Shape 12"/>
          <p:cNvSpPr/>
          <p:nvPr/>
        </p:nvSpPr>
        <p:spPr>
          <a:xfrm>
            <a:off x="7310628" y="2240280"/>
            <a:ext cx="768096" cy="768096"/>
          </a:xfrm>
          <a:prstGeom prst="ellipse">
            <a:avLst/>
          </a:prstGeom>
          <a:solidFill>
            <a:srgbClr val="E5EEFF"/>
          </a:solidFill>
          <a:ln/>
        </p:spPr>
      </p:sp>
      <p:pic>
        <p:nvPicPr>
          <p:cNvPr id="17" name="Image 2" descr="preencoded.png">    </p:cNvPr>
          <p:cNvPicPr>
            <a:picLocks noChangeAspect="1"/>
          </p:cNvPicPr>
          <p:nvPr/>
        </p:nvPicPr>
        <p:blipFill>
          <a:blip r:embed="rId3"/>
          <a:stretch>
            <a:fillRect/>
          </a:stretch>
        </p:blipFill>
        <p:spPr>
          <a:xfrm>
            <a:off x="7510333" y="2439985"/>
            <a:ext cx="368686" cy="368686"/>
          </a:xfrm>
          <a:prstGeom prst="rect">
            <a:avLst/>
          </a:prstGeom>
        </p:spPr>
      </p:pic>
      <p:sp>
        <p:nvSpPr>
          <p:cNvPr id="18" name="Text 13"/>
          <p:cNvSpPr/>
          <p:nvPr/>
        </p:nvSpPr>
        <p:spPr>
          <a:xfrm>
            <a:off x="6345936" y="3154680"/>
            <a:ext cx="2697480" cy="411480"/>
          </a:xfrm>
          <a:prstGeom prst="rect">
            <a:avLst/>
          </a:prstGeom>
          <a:noFill/>
          <a:ln/>
        </p:spPr>
        <p:txBody>
          <a:bodyPr wrap="square" lIns="0" tIns="0" rIns="0" bIns="0" rtlCol="0" anchor="ctr"/>
          <a:lstStyle/>
          <a:p>
            <a:pPr algn="ctr" indent="0" marL="0">
              <a:buNone/>
            </a:pPr>
            <a:r>
              <a:rPr lang="en-US" sz="1800" b="1" dirty="0">
                <a:solidFill>
                  <a:srgbClr val="2563EB"/>
                </a:solidFill>
                <a:latin typeface="Courier New" pitchFamily="34" charset="0"/>
                <a:ea typeface="Courier New" pitchFamily="34" charset="-122"/>
                <a:cs typeface="Courier New" pitchFamily="34" charset="-120"/>
              </a:rPr>
              <a:t>scroll</a:t>
            </a:r>
            <a:endParaRPr lang="en-US" sz="1800" dirty="0"/>
          </a:p>
        </p:txBody>
      </p:sp>
      <p:sp>
        <p:nvSpPr>
          <p:cNvPr id="19" name="Text 14"/>
          <p:cNvSpPr/>
          <p:nvPr/>
        </p:nvSpPr>
        <p:spPr>
          <a:xfrm>
            <a:off x="6528816" y="3657600"/>
            <a:ext cx="2331720" cy="1280160"/>
          </a:xfrm>
          <a:prstGeom prst="rect">
            <a:avLst/>
          </a:prstGeom>
          <a:noFill/>
          <a:ln/>
        </p:spPr>
        <p:txBody>
          <a:bodyPr wrap="square" lIns="0" tIns="0" rIns="0" bIns="0" rtlCol="0" anchor="t"/>
          <a:lstStyle/>
          <a:p>
            <a:pPr algn="ctr" indent="0" marL="0">
              <a:buNone/>
            </a:pPr>
            <a:r>
              <a:rPr lang="en-US" sz="1250" dirty="0">
                <a:solidFill>
                  <a:srgbClr val="0F172A"/>
                </a:solidFill>
                <a:latin typeface="Calibri" pitchFamily="34" charset="0"/>
                <a:ea typeface="Calibri" pitchFamily="34" charset="-122"/>
                <a:cs typeface="Calibri" pitchFamily="34" charset="-120"/>
              </a:rPr>
              <a:t>A scroll bar is always present so you can reach all the content.</a:t>
            </a:r>
            <a:endParaRPr lang="en-US" sz="1250" dirty="0"/>
          </a:p>
        </p:txBody>
      </p:sp>
      <p:sp>
        <p:nvSpPr>
          <p:cNvPr id="20" name="Shape 15"/>
          <p:cNvSpPr/>
          <p:nvPr/>
        </p:nvSpPr>
        <p:spPr>
          <a:xfrm>
            <a:off x="9244584" y="1920240"/>
            <a:ext cx="2697480" cy="3108960"/>
          </a:xfrm>
          <a:prstGeom prst="roundRect">
            <a:avLst>
              <a:gd name="adj" fmla="val 406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1" name="Shape 16"/>
          <p:cNvSpPr/>
          <p:nvPr/>
        </p:nvSpPr>
        <p:spPr>
          <a:xfrm>
            <a:off x="10209276" y="2240280"/>
            <a:ext cx="768096" cy="768096"/>
          </a:xfrm>
          <a:prstGeom prst="ellipse">
            <a:avLst/>
          </a:prstGeom>
          <a:solidFill>
            <a:srgbClr val="E5EEFF"/>
          </a:solidFill>
          <a:ln/>
        </p:spPr>
      </p:sp>
      <p:pic>
        <p:nvPicPr>
          <p:cNvPr id="22" name="Image 3" descr="preencoded.png">    </p:cNvPr>
          <p:cNvPicPr>
            <a:picLocks noChangeAspect="1"/>
          </p:cNvPicPr>
          <p:nvPr/>
        </p:nvPicPr>
        <p:blipFill>
          <a:blip r:embed="rId4"/>
          <a:stretch>
            <a:fillRect/>
          </a:stretch>
        </p:blipFill>
        <p:spPr>
          <a:xfrm>
            <a:off x="10408981" y="2439985"/>
            <a:ext cx="368686" cy="368686"/>
          </a:xfrm>
          <a:prstGeom prst="rect">
            <a:avLst/>
          </a:prstGeom>
        </p:spPr>
      </p:pic>
      <p:sp>
        <p:nvSpPr>
          <p:cNvPr id="23" name="Text 17"/>
          <p:cNvSpPr/>
          <p:nvPr/>
        </p:nvSpPr>
        <p:spPr>
          <a:xfrm>
            <a:off x="9244584" y="3154680"/>
            <a:ext cx="2697480" cy="411480"/>
          </a:xfrm>
          <a:prstGeom prst="rect">
            <a:avLst/>
          </a:prstGeom>
          <a:noFill/>
          <a:ln/>
        </p:spPr>
        <p:txBody>
          <a:bodyPr wrap="square" lIns="0" tIns="0" rIns="0" bIns="0" rtlCol="0" anchor="ctr"/>
          <a:lstStyle/>
          <a:p>
            <a:pPr algn="ctr" indent="0" marL="0">
              <a:buNone/>
            </a:pPr>
            <a:r>
              <a:rPr lang="en-US" sz="1800" b="1" dirty="0">
                <a:solidFill>
                  <a:srgbClr val="22C55E"/>
                </a:solidFill>
                <a:latin typeface="Courier New" pitchFamily="34" charset="0"/>
                <a:ea typeface="Courier New" pitchFamily="34" charset="-122"/>
                <a:cs typeface="Courier New" pitchFamily="34" charset="-120"/>
              </a:rPr>
              <a:t>auto</a:t>
            </a:r>
            <a:endParaRPr lang="en-US" sz="1800" dirty="0"/>
          </a:p>
        </p:txBody>
      </p:sp>
      <p:sp>
        <p:nvSpPr>
          <p:cNvPr id="24" name="Text 18"/>
          <p:cNvSpPr/>
          <p:nvPr/>
        </p:nvSpPr>
        <p:spPr>
          <a:xfrm>
            <a:off x="9427464" y="3657600"/>
            <a:ext cx="2331720" cy="1280160"/>
          </a:xfrm>
          <a:prstGeom prst="rect">
            <a:avLst/>
          </a:prstGeom>
          <a:noFill/>
          <a:ln/>
        </p:spPr>
        <p:txBody>
          <a:bodyPr wrap="square" lIns="0" tIns="0" rIns="0" bIns="0" rtlCol="0" anchor="t"/>
          <a:lstStyle/>
          <a:p>
            <a:pPr algn="ctr" indent="0" marL="0">
              <a:buNone/>
            </a:pPr>
            <a:r>
              <a:rPr lang="en-US" sz="1250" dirty="0">
                <a:solidFill>
                  <a:srgbClr val="0F172A"/>
                </a:solidFill>
                <a:latin typeface="Calibri" pitchFamily="34" charset="0"/>
                <a:ea typeface="Calibri" pitchFamily="34" charset="-122"/>
                <a:cs typeface="Calibri" pitchFamily="34" charset="-120"/>
              </a:rPr>
              <a:t>Like scroll, but the bar appears only when it is actually needed.</a:t>
            </a:r>
            <a:endParaRPr lang="en-US" sz="1250" dirty="0"/>
          </a:p>
        </p:txBody>
      </p:sp>
      <p:sp>
        <p:nvSpPr>
          <p:cNvPr id="25" name="Shape 19"/>
          <p:cNvSpPr/>
          <p:nvPr/>
        </p:nvSpPr>
        <p:spPr>
          <a:xfrm>
            <a:off x="548640" y="5257800"/>
            <a:ext cx="11109960" cy="685800"/>
          </a:xfrm>
          <a:prstGeom prst="roundRect">
            <a:avLst>
              <a:gd name="adj" fmla="val 16000"/>
            </a:avLst>
          </a:prstGeom>
          <a:solidFill>
            <a:srgbClr val="E7FBEF"/>
          </a:solidFill>
          <a:ln/>
        </p:spPr>
      </p:sp>
      <p:sp>
        <p:nvSpPr>
          <p:cNvPr id="26" name="Shape 20"/>
          <p:cNvSpPr/>
          <p:nvPr/>
        </p:nvSpPr>
        <p:spPr>
          <a:xfrm>
            <a:off x="749808" y="5472684"/>
            <a:ext cx="256032" cy="256032"/>
          </a:xfrm>
          <a:prstGeom prst="ellipse">
            <a:avLst/>
          </a:prstGeom>
          <a:solidFill>
            <a:srgbClr val="22C55E"/>
          </a:solidFill>
          <a:ln/>
        </p:spPr>
      </p:sp>
      <p:sp>
        <p:nvSpPr>
          <p:cNvPr id="27" name="Text 21"/>
          <p:cNvSpPr/>
          <p:nvPr/>
        </p:nvSpPr>
        <p:spPr>
          <a:xfrm>
            <a:off x="1207008" y="5257800"/>
            <a:ext cx="10241280" cy="685800"/>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Hide just one direction with overflow-x: hidden; or overflow-y: hidden;</a:t>
            </a:r>
            <a:endParaRPr lang="en-US" sz="1400" dirty="0"/>
          </a:p>
        </p:txBody>
      </p:sp>
      <p:sp>
        <p:nvSpPr>
          <p:cNvPr id="28" name="Text 2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29" name="Text 2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7ED"/>
        </a:solidFill>
      </p:bgPr>
    </p:bg>
    <p:spTree>
      <p:nvGrpSpPr>
        <p:cNvPr id="1" name=""/>
        <p:cNvGrpSpPr/>
        <p:nvPr/>
      </p:nvGrpSpPr>
      <p:grpSpPr>
        <a:xfrm>
          <a:off x="0" y="0"/>
          <a:ext cx="0" cy="0"/>
          <a:chOff x="0" y="0"/>
          <a:chExt cx="0" cy="0"/>
        </a:xfrm>
      </p:grpSpPr>
      <p:sp>
        <p:nvSpPr>
          <p:cNvPr id="2" name="Shape 0"/>
          <p:cNvSpPr/>
          <p:nvPr/>
        </p:nvSpPr>
        <p:spPr>
          <a:xfrm>
            <a:off x="548640" y="502920"/>
            <a:ext cx="1920240" cy="310896"/>
          </a:xfrm>
          <a:prstGeom prst="roundRect">
            <a:avLst>
              <a:gd name="adj" fmla="val 50000"/>
            </a:avLst>
          </a:prstGeom>
          <a:solidFill>
            <a:srgbClr val="2563EB"/>
          </a:solidFill>
          <a:ln/>
        </p:spPr>
      </p:sp>
      <p:sp>
        <p:nvSpPr>
          <p:cNvPr id="3" name="Text 1"/>
          <p:cNvSpPr/>
          <p:nvPr/>
        </p:nvSpPr>
        <p:spPr>
          <a:xfrm>
            <a:off x="548640" y="502920"/>
            <a:ext cx="19202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CLASS ACTIVITY</a:t>
            </a:r>
            <a:endParaRPr lang="en-US" sz="1100" dirty="0"/>
          </a:p>
        </p:txBody>
      </p:sp>
      <p:sp>
        <p:nvSpPr>
          <p:cNvPr id="4" name="Text 2"/>
          <p:cNvSpPr/>
          <p:nvPr/>
        </p:nvSpPr>
        <p:spPr>
          <a:xfrm>
            <a:off x="548640" y="960120"/>
            <a:ext cx="8686800" cy="731520"/>
          </a:xfrm>
          <a:prstGeom prst="rect">
            <a:avLst/>
          </a:prstGeom>
          <a:noFill/>
          <a:ln/>
        </p:spPr>
        <p:txBody>
          <a:bodyPr wrap="square" lIns="0" tIns="0" rIns="0" bIns="0" rtlCol="0" anchor="ctr"/>
          <a:lstStyle/>
          <a:p>
            <a:pPr algn="l" indent="0" marL="0">
              <a:buNone/>
            </a:pPr>
            <a:r>
              <a:rPr lang="en-US" sz="3200" b="1" dirty="0">
                <a:solidFill>
                  <a:srgbClr val="0F172A"/>
                </a:solidFill>
                <a:latin typeface="Calibri" pitchFamily="34" charset="0"/>
                <a:ea typeface="Calibri" pitchFamily="34" charset="-122"/>
                <a:cs typeface="Calibri" pitchFamily="34" charset="-120"/>
              </a:rPr>
              <a:t>Ask the learners: go horizontal</a:t>
            </a:r>
            <a:endParaRPr lang="en-US" sz="3200" dirty="0"/>
          </a:p>
        </p:txBody>
      </p:sp>
      <p:sp>
        <p:nvSpPr>
          <p:cNvPr id="5" name="Shape 3"/>
          <p:cNvSpPr/>
          <p:nvPr/>
        </p:nvSpPr>
        <p:spPr>
          <a:xfrm>
            <a:off x="9235440" y="502920"/>
            <a:ext cx="2423160" cy="1051560"/>
          </a:xfrm>
          <a:prstGeom prst="roundRect">
            <a:avLst>
              <a:gd name="adj" fmla="val 10435"/>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9372600" y="658368"/>
            <a:ext cx="457200" cy="457200"/>
          </a:xfrm>
          <a:prstGeom prst="ellipse">
            <a:avLst/>
          </a:prstGeom>
          <a:solidFill>
            <a:srgbClr val="FFF1E0"/>
          </a:solidFill>
          <a:ln/>
        </p:spPr>
      </p:sp>
      <p:pic>
        <p:nvPicPr>
          <p:cNvPr id="7" name="Image 0" descr="preencoded.png">    </p:cNvPr>
          <p:cNvPicPr>
            <a:picLocks noChangeAspect="1"/>
          </p:cNvPicPr>
          <p:nvPr/>
        </p:nvPicPr>
        <p:blipFill>
          <a:blip r:embed="rId1"/>
          <a:stretch>
            <a:fillRect/>
          </a:stretch>
        </p:blipFill>
        <p:spPr>
          <a:xfrm>
            <a:off x="9491472" y="777240"/>
            <a:ext cx="219456" cy="219456"/>
          </a:xfrm>
          <a:prstGeom prst="rect">
            <a:avLst/>
          </a:prstGeom>
        </p:spPr>
      </p:pic>
      <p:sp>
        <p:nvSpPr>
          <p:cNvPr id="8" name="Text 5"/>
          <p:cNvSpPr/>
          <p:nvPr/>
        </p:nvSpPr>
        <p:spPr>
          <a:xfrm>
            <a:off x="9921240" y="658368"/>
            <a:ext cx="1783080" cy="457200"/>
          </a:xfrm>
          <a:prstGeom prst="rect">
            <a:avLst/>
          </a:prstGeom>
          <a:noFill/>
          <a:ln/>
        </p:spPr>
        <p:txBody>
          <a:bodyPr wrap="square" lIns="0" tIns="0" rIns="0" bIns="0" rtlCol="0" anchor="ctr"/>
          <a:lstStyle/>
          <a:p>
            <a:pPr algn="l" indent="0" marL="0">
              <a:buNone/>
            </a:pPr>
            <a:r>
              <a:rPr lang="en-US" sz="1250" b="1" dirty="0">
                <a:solidFill>
                  <a:srgbClr val="0F172A"/>
                </a:solidFill>
                <a:latin typeface="Calibri" pitchFamily="34" charset="0"/>
                <a:ea typeface="Calibri" pitchFamily="34" charset="-122"/>
                <a:cs typeface="Calibri" pitchFamily="34" charset="-120"/>
              </a:rPr>
              <a:t>Rows of four, one scribe</a:t>
            </a:r>
            <a:endParaRPr lang="en-US" sz="1250" dirty="0"/>
          </a:p>
        </p:txBody>
      </p:sp>
      <p:sp>
        <p:nvSpPr>
          <p:cNvPr id="9" name="Text 6"/>
          <p:cNvSpPr/>
          <p:nvPr/>
        </p:nvSpPr>
        <p:spPr>
          <a:xfrm>
            <a:off x="9372600" y="1170432"/>
            <a:ext cx="2194560" cy="274320"/>
          </a:xfrm>
          <a:prstGeom prst="rect">
            <a:avLst/>
          </a:prstGeom>
          <a:noFill/>
          <a:ln/>
        </p:spPr>
        <p:txBody>
          <a:bodyPr wrap="square" lIns="0" tIns="0" rIns="0" bIns="0" rtlCol="0" anchor="ctr"/>
          <a:lstStyle/>
          <a:p>
            <a:pPr algn="l" indent="0" marL="0">
              <a:buNone/>
            </a:pPr>
            <a:r>
              <a:rPr lang="en-US" sz="1200" b="1" dirty="0">
                <a:solidFill>
                  <a:srgbClr val="64748B"/>
                </a:solidFill>
                <a:latin typeface="Calibri" pitchFamily="34" charset="0"/>
                <a:ea typeface="Calibri" pitchFamily="34" charset="-122"/>
                <a:cs typeface="Calibri" pitchFamily="34" charset="-120"/>
              </a:rPr>
              <a:t>Time: 4 min</a:t>
            </a:r>
            <a:endParaRPr lang="en-US" sz="1200" dirty="0"/>
          </a:p>
        </p:txBody>
      </p:sp>
      <p:sp>
        <p:nvSpPr>
          <p:cNvPr id="10" name="Shape 7"/>
          <p:cNvSpPr/>
          <p:nvPr/>
        </p:nvSpPr>
        <p:spPr>
          <a:xfrm>
            <a:off x="548640" y="1920240"/>
            <a:ext cx="11109960" cy="1371600"/>
          </a:xfrm>
          <a:prstGeom prst="roundRect">
            <a:avLst>
              <a:gd name="adj" fmla="val 8000"/>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1" name="Text 8"/>
          <p:cNvSpPr/>
          <p:nvPr/>
        </p:nvSpPr>
        <p:spPr>
          <a:xfrm>
            <a:off x="822960" y="1920240"/>
            <a:ext cx="10607040" cy="1371600"/>
          </a:xfrm>
          <a:prstGeom prst="rect">
            <a:avLst/>
          </a:prstGeom>
          <a:noFill/>
          <a:ln/>
        </p:spPr>
        <p:txBody>
          <a:bodyPr wrap="square" lIns="0" tIns="0" rIns="0" bIns="0" rtlCol="0" anchor="ctr"/>
          <a:lstStyle/>
          <a:p>
            <a:pPr algn="l" indent="0" marL="0">
              <a:buNone/>
            </a:pPr>
            <a:r>
              <a:rPr lang="en-US" sz="1300" b="1" dirty="0">
                <a:solidFill>
                  <a:srgbClr val="2563EB"/>
                </a:solidFill>
                <a:latin typeface="Calibri" pitchFamily="34" charset="0"/>
                <a:ea typeface="Calibri" pitchFamily="34" charset="-122"/>
                <a:cs typeface="Calibri" pitchFamily="34" charset="-120"/>
              </a:rPr>
              <a:t>PROMPT   </a:t>
            </a:r>
            <a:pPr algn="l" indent="0" marL="0">
              <a:buNone/>
            </a:pPr>
            <a:r>
              <a:rPr lang="en-US" sz="1700" dirty="0">
                <a:solidFill>
                  <a:srgbClr val="0F172A"/>
                </a:solidFill>
                <a:latin typeface="Calibri" pitchFamily="34" charset="0"/>
                <a:ea typeface="Calibri" pitchFamily="34" charset="-122"/>
                <a:cs typeface="Calibri" pitchFamily="34" charset="-120"/>
              </a:rPr>
              <a:t>A word 'Scaler' sits in a 50px wide, 30px tall box with font-size 30px. How do we handle the overflow horizontally?</a:t>
            </a:r>
            <a:endParaRPr lang="en-US" sz="1300" dirty="0"/>
          </a:p>
        </p:txBody>
      </p:sp>
      <p:sp>
        <p:nvSpPr>
          <p:cNvPr id="12" name="Shape 9"/>
          <p:cNvSpPr/>
          <p:nvPr/>
        </p:nvSpPr>
        <p:spPr>
          <a:xfrm>
            <a:off x="685800" y="3657600"/>
            <a:ext cx="457200" cy="457200"/>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13" name="Text 10"/>
          <p:cNvSpPr/>
          <p:nvPr/>
        </p:nvSpPr>
        <p:spPr>
          <a:xfrm>
            <a:off x="685800" y="3657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Text 11"/>
          <p:cNvSpPr/>
          <p:nvPr/>
        </p:nvSpPr>
        <p:spPr>
          <a:xfrm>
            <a:off x="1325880" y="3630168"/>
            <a:ext cx="10149840" cy="512064"/>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In your row of four, one scribe writes the .horizontal-container CSS.</a:t>
            </a:r>
            <a:endParaRPr lang="en-US" sz="1500" dirty="0"/>
          </a:p>
        </p:txBody>
      </p:sp>
      <p:sp>
        <p:nvSpPr>
          <p:cNvPr id="15" name="Shape 12"/>
          <p:cNvSpPr/>
          <p:nvPr/>
        </p:nvSpPr>
        <p:spPr>
          <a:xfrm>
            <a:off x="685800" y="4443984"/>
            <a:ext cx="457200" cy="457200"/>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16" name="Text 13"/>
          <p:cNvSpPr/>
          <p:nvPr/>
        </p:nvSpPr>
        <p:spPr>
          <a:xfrm>
            <a:off x="685800" y="44439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4"/>
          <p:cNvSpPr/>
          <p:nvPr/>
        </p:nvSpPr>
        <p:spPr>
          <a:xfrm>
            <a:off x="1325880" y="4416552"/>
            <a:ext cx="10149840" cy="512064"/>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Decide the overflow value together and justify it in one line.</a:t>
            </a:r>
            <a:endParaRPr lang="en-US" sz="1500" dirty="0"/>
          </a:p>
        </p:txBody>
      </p:sp>
      <p:sp>
        <p:nvSpPr>
          <p:cNvPr id="18" name="Shape 15"/>
          <p:cNvSpPr/>
          <p:nvPr/>
        </p:nvSpPr>
        <p:spPr>
          <a:xfrm>
            <a:off x="685800" y="5230368"/>
            <a:ext cx="457200" cy="457200"/>
          </a:xfrm>
          <a:prstGeom prst="ellipse">
            <a:avLst/>
          </a:prstGeom>
          <a:solidFill>
            <a:srgbClr val="2563EB"/>
          </a:solidFill>
          <a:ln/>
          <a:effectLst>
            <a:outerShdw sx="100000" sy="100000" kx="0" ky="0" algn="bl" rotWithShape="0" blurRad="101600" dist="38100" dir="5400000">
              <a:srgbClr val="0B1220">
                <a:alpha val="18000"/>
              </a:srgbClr>
            </a:outerShdw>
          </a:effectLst>
        </p:spPr>
      </p:sp>
      <p:sp>
        <p:nvSpPr>
          <p:cNvPr id="19" name="Text 16"/>
          <p:cNvSpPr/>
          <p:nvPr/>
        </p:nvSpPr>
        <p:spPr>
          <a:xfrm>
            <a:off x="685800" y="52303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p:nvPr/>
        </p:nvSpPr>
        <p:spPr>
          <a:xfrm>
            <a:off x="1325880" y="5202936"/>
            <a:ext cx="10149840" cy="512064"/>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Two rows share their answer as a chorus on my count of three.</a:t>
            </a:r>
            <a:endParaRPr lang="en-US" sz="1500" dirty="0"/>
          </a:p>
        </p:txBody>
      </p:sp>
      <p:sp>
        <p:nvSpPr>
          <p:cNvPr id="21" name="Text 18"/>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22" name="Text 19"/>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4480560" y="1371600"/>
            <a:ext cx="3200400" cy="3200400"/>
          </a:xfrm>
          <a:prstGeom prst="ellipse">
            <a:avLst/>
          </a:prstGeom>
          <a:solidFill>
            <a:srgbClr val="2563EB"/>
          </a:solidFill>
          <a:ln/>
          <a:effectLst>
            <a:outerShdw sx="100000" sy="100000" kx="0" ky="0" algn="bl" rotWithShape="0" blurRad="254000" dist="38100" dir="5400000">
              <a:srgbClr val="0B1220">
                <a:alpha val="40000"/>
              </a:srgbClr>
            </a:outerShdw>
          </a:effectLst>
        </p:spPr>
      </p:sp>
      <p:sp>
        <p:nvSpPr>
          <p:cNvPr id="3" name="Shape 1"/>
          <p:cNvSpPr/>
          <p:nvPr/>
        </p:nvSpPr>
        <p:spPr>
          <a:xfrm>
            <a:off x="5394960" y="2286000"/>
            <a:ext cx="1371600" cy="1371600"/>
          </a:xfrm>
          <a:prstGeom prst="ellipse">
            <a:avLst/>
          </a:prstGeom>
          <a:solidFill>
            <a:srgbClr val="2563EB"/>
          </a:solidFill>
          <a:ln/>
        </p:spPr>
      </p:sp>
      <p:pic>
        <p:nvPicPr>
          <p:cNvPr id="4" name="Image 0" descr="preencoded.png">    </p:cNvPr>
          <p:cNvPicPr>
            <a:picLocks noChangeAspect="1"/>
          </p:cNvPicPr>
          <p:nvPr/>
        </p:nvPicPr>
        <p:blipFill>
          <a:blip r:embed="rId1"/>
          <a:stretch>
            <a:fillRect/>
          </a:stretch>
        </p:blipFill>
        <p:spPr>
          <a:xfrm>
            <a:off x="5751576" y="2642616"/>
            <a:ext cx="658368" cy="658368"/>
          </a:xfrm>
          <a:prstGeom prst="rect">
            <a:avLst/>
          </a:prstGeom>
        </p:spPr>
      </p:pic>
      <p:sp>
        <p:nvSpPr>
          <p:cNvPr id="5" name="Text 2"/>
          <p:cNvSpPr/>
          <p:nvPr/>
        </p:nvSpPr>
        <p:spPr>
          <a:xfrm>
            <a:off x="914400" y="4709160"/>
            <a:ext cx="10360152"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5 minute break</a:t>
            </a:r>
            <a:endParaRPr lang="en-US" sz="4000" dirty="0"/>
          </a:p>
        </p:txBody>
      </p:sp>
      <p:sp>
        <p:nvSpPr>
          <p:cNvPr id="6" name="Text 3"/>
          <p:cNvSpPr/>
          <p:nvPr/>
        </p:nvSpPr>
        <p:spPr>
          <a:xfrm>
            <a:off x="914400" y="5440680"/>
            <a:ext cx="10360152" cy="457200"/>
          </a:xfrm>
          <a:prstGeom prst="rect">
            <a:avLst/>
          </a:prstGeom>
          <a:noFill/>
          <a:ln/>
        </p:spPr>
        <p:txBody>
          <a:bodyPr wrap="square" lIns="0" tIns="0" rIns="0" bIns="0" rtlCol="0" anchor="ctr"/>
          <a:lstStyle/>
          <a:p>
            <a:pPr algn="ctr" indent="0" marL="0">
              <a:buNone/>
            </a:pPr>
            <a:r>
              <a:rPr lang="en-US" sz="1600" dirty="0">
                <a:solidFill>
                  <a:srgbClr val="C7DBFF"/>
                </a:solidFill>
                <a:latin typeface="Calibri" pitchFamily="34" charset="0"/>
                <a:ea typeface="Calibri" pitchFamily="34" charset="-122"/>
                <a:cs typeface="Calibri" pitchFamily="34" charset="-120"/>
              </a:rPr>
              <a:t>Stand up. Water. Rest your eyes. We resume on the dot.</a:t>
            </a:r>
            <a:endParaRPr lang="en-US" sz="1600" dirty="0"/>
          </a:p>
        </p:txBody>
      </p:sp>
      <p:sp>
        <p:nvSpPr>
          <p:cNvPr id="7" name="Shape 4"/>
          <p:cNvSpPr/>
          <p:nvPr/>
        </p:nvSpPr>
        <p:spPr>
          <a:xfrm>
            <a:off x="822960" y="640080"/>
            <a:ext cx="1371600" cy="310896"/>
          </a:xfrm>
          <a:prstGeom prst="roundRect">
            <a:avLst>
              <a:gd name="adj" fmla="val 50000"/>
            </a:avLst>
          </a:prstGeom>
          <a:solidFill>
            <a:srgbClr val="1B2A4A"/>
          </a:solidFill>
          <a:ln/>
        </p:spPr>
      </p:sp>
      <p:sp>
        <p:nvSpPr>
          <p:cNvPr id="8" name="Text 5"/>
          <p:cNvSpPr/>
          <p:nvPr/>
        </p:nvSpPr>
        <p:spPr>
          <a:xfrm>
            <a:off x="822960" y="640080"/>
            <a:ext cx="13716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120 MIN DONE</a:t>
            </a:r>
            <a:endParaRPr lang="en-US" sz="1100" dirty="0"/>
          </a:p>
        </p:txBody>
      </p:sp>
      <p:sp>
        <p:nvSpPr>
          <p:cNvPr id="9" name="Text 6"/>
          <p:cNvSpPr/>
          <p:nvPr/>
        </p:nvSpPr>
        <p:spPr>
          <a:xfrm>
            <a:off x="914400" y="5943600"/>
            <a:ext cx="10360152" cy="365760"/>
          </a:xfrm>
          <a:prstGeom prst="rect">
            <a:avLst/>
          </a:prstGeom>
          <a:noFill/>
          <a:ln/>
        </p:spPr>
        <p:txBody>
          <a:bodyPr wrap="square" lIns="0" tIns="0" rIns="0" bIns="0" rtlCol="0" anchor="ctr"/>
          <a:lstStyle/>
          <a:p>
            <a:pPr algn="ctr" indent="0" marL="0">
              <a:buNone/>
            </a:pPr>
            <a:r>
              <a:rPr lang="en-US" sz="1300" i="1" dirty="0">
                <a:solidFill>
                  <a:srgbClr val="94A3B8"/>
                </a:solidFill>
                <a:latin typeface="Calibri" pitchFamily="34" charset="0"/>
                <a:ea typeface="Calibri" pitchFamily="34" charset="-122"/>
                <a:cs typeface="Calibri" pitchFamily="34" charset="-120"/>
              </a:rPr>
              <a:t>Next up: The Display property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05</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5</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The Display Property</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Why some elements stack and others sit side by side.</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DISPLAY</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Block vs inline</a:t>
            </a:r>
            <a:endParaRPr lang="en-US" sz="3400" dirty="0"/>
          </a:p>
        </p:txBody>
      </p:sp>
      <p:sp>
        <p:nvSpPr>
          <p:cNvPr id="5" name="Shape 3"/>
          <p:cNvSpPr/>
          <p:nvPr/>
        </p:nvSpPr>
        <p:spPr>
          <a:xfrm>
            <a:off x="548640" y="1783080"/>
            <a:ext cx="5394960" cy="2834640"/>
          </a:xfrm>
          <a:prstGeom prst="roundRect">
            <a:avLst>
              <a:gd name="adj" fmla="val 3871"/>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Text 4"/>
          <p:cNvSpPr/>
          <p:nvPr/>
        </p:nvSpPr>
        <p:spPr>
          <a:xfrm>
            <a:off x="731520" y="1920240"/>
            <a:ext cx="5029200" cy="365760"/>
          </a:xfrm>
          <a:prstGeom prst="rect">
            <a:avLst/>
          </a:prstGeom>
          <a:noFill/>
          <a:ln/>
        </p:spPr>
        <p:txBody>
          <a:bodyPr wrap="square" lIns="0" tIns="0" rIns="0" bIns="0" rtlCol="0" anchor="ctr"/>
          <a:lstStyle/>
          <a:p>
            <a:pPr indent="0" marL="0">
              <a:buNone/>
            </a:pPr>
            <a:r>
              <a:rPr lang="en-US" sz="1800" b="1" dirty="0">
                <a:solidFill>
                  <a:srgbClr val="2563EB"/>
                </a:solidFill>
                <a:latin typeface="Calibri" pitchFamily="34" charset="0"/>
                <a:ea typeface="Calibri" pitchFamily="34" charset="-122"/>
                <a:cs typeface="Calibri" pitchFamily="34" charset="-120"/>
              </a:rPr>
              <a:t>Block elements</a:t>
            </a:r>
            <a:endParaRPr lang="en-US" sz="1800" dirty="0"/>
          </a:p>
        </p:txBody>
      </p:sp>
      <p:sp>
        <p:nvSpPr>
          <p:cNvPr id="7" name="Text 5"/>
          <p:cNvSpPr/>
          <p:nvPr/>
        </p:nvSpPr>
        <p:spPr>
          <a:xfrm>
            <a:off x="731520" y="2286000"/>
            <a:ext cx="502920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Like a hero's solo shot: each takes a full line of its own.</a:t>
            </a:r>
            <a:endParaRPr lang="en-US" sz="1250" dirty="0"/>
          </a:p>
        </p:txBody>
      </p:sp>
      <p:sp>
        <p:nvSpPr>
          <p:cNvPr id="8" name="Shape 6"/>
          <p:cNvSpPr/>
          <p:nvPr/>
        </p:nvSpPr>
        <p:spPr>
          <a:xfrm>
            <a:off x="731520" y="2743200"/>
            <a:ext cx="5029200" cy="457200"/>
          </a:xfrm>
          <a:prstGeom prst="rect">
            <a:avLst/>
          </a:prstGeom>
          <a:solidFill>
            <a:srgbClr val="9CC5FF"/>
          </a:solidFill>
          <a:ln w="12700">
            <a:solidFill>
              <a:srgbClr val="2563EB"/>
            </a:solidFill>
            <a:prstDash val="solid"/>
          </a:ln>
        </p:spPr>
      </p:sp>
      <p:sp>
        <p:nvSpPr>
          <p:cNvPr id="9" name="Text 7"/>
          <p:cNvSpPr/>
          <p:nvPr/>
        </p:nvSpPr>
        <p:spPr>
          <a:xfrm>
            <a:off x="868680" y="2743200"/>
            <a:ext cx="4754880" cy="457200"/>
          </a:xfrm>
          <a:prstGeom prst="rect">
            <a:avLst/>
          </a:prstGeom>
          <a:noFill/>
          <a:ln/>
        </p:spPr>
        <p:txBody>
          <a:bodyPr wrap="square" lIns="0" tIns="0" rIns="0" bIns="0" rtlCol="0" anchor="ctr"/>
          <a:lstStyle/>
          <a:p>
            <a:pPr algn="l" indent="0" marL="0">
              <a:buNone/>
            </a:pPr>
            <a:r>
              <a:rPr lang="en-US" sz="1200" dirty="0">
                <a:solidFill>
                  <a:srgbClr val="0F172A"/>
                </a:solidFill>
                <a:latin typeface="Courier New" pitchFamily="34" charset="0"/>
                <a:ea typeface="Courier New" pitchFamily="34" charset="-122"/>
                <a:cs typeface="Courier New" pitchFamily="34" charset="-120"/>
              </a:rPr>
              <a:t>&lt;p&gt; paragraph one</a:t>
            </a:r>
            <a:endParaRPr lang="en-US" sz="1200" dirty="0"/>
          </a:p>
        </p:txBody>
      </p:sp>
      <p:sp>
        <p:nvSpPr>
          <p:cNvPr id="10" name="Shape 8"/>
          <p:cNvSpPr/>
          <p:nvPr/>
        </p:nvSpPr>
        <p:spPr>
          <a:xfrm>
            <a:off x="731520" y="3310128"/>
            <a:ext cx="5029200" cy="457200"/>
          </a:xfrm>
          <a:prstGeom prst="rect">
            <a:avLst/>
          </a:prstGeom>
          <a:solidFill>
            <a:srgbClr val="9CC5FF"/>
          </a:solidFill>
          <a:ln w="12700">
            <a:solidFill>
              <a:srgbClr val="2563EB"/>
            </a:solidFill>
            <a:prstDash val="solid"/>
          </a:ln>
        </p:spPr>
      </p:sp>
      <p:sp>
        <p:nvSpPr>
          <p:cNvPr id="11" name="Text 9"/>
          <p:cNvSpPr/>
          <p:nvPr/>
        </p:nvSpPr>
        <p:spPr>
          <a:xfrm>
            <a:off x="868680" y="3310128"/>
            <a:ext cx="4754880" cy="457200"/>
          </a:xfrm>
          <a:prstGeom prst="rect">
            <a:avLst/>
          </a:prstGeom>
          <a:noFill/>
          <a:ln/>
        </p:spPr>
        <p:txBody>
          <a:bodyPr wrap="square" lIns="0" tIns="0" rIns="0" bIns="0" rtlCol="0" anchor="ctr"/>
          <a:lstStyle/>
          <a:p>
            <a:pPr algn="l" indent="0" marL="0">
              <a:buNone/>
            </a:pPr>
            <a:r>
              <a:rPr lang="en-US" sz="1200" dirty="0">
                <a:solidFill>
                  <a:srgbClr val="0F172A"/>
                </a:solidFill>
                <a:latin typeface="Courier New" pitchFamily="34" charset="0"/>
                <a:ea typeface="Courier New" pitchFamily="34" charset="-122"/>
                <a:cs typeface="Courier New" pitchFamily="34" charset="-120"/>
              </a:rPr>
              <a:t>&lt;p&gt; paragraph two</a:t>
            </a:r>
            <a:endParaRPr lang="en-US" sz="1200" dirty="0"/>
          </a:p>
        </p:txBody>
      </p:sp>
      <p:sp>
        <p:nvSpPr>
          <p:cNvPr id="12" name="Shape 10"/>
          <p:cNvSpPr/>
          <p:nvPr/>
        </p:nvSpPr>
        <p:spPr>
          <a:xfrm>
            <a:off x="731520" y="3877056"/>
            <a:ext cx="5029200" cy="457200"/>
          </a:xfrm>
          <a:prstGeom prst="rect">
            <a:avLst/>
          </a:prstGeom>
          <a:solidFill>
            <a:srgbClr val="9CC5FF"/>
          </a:solidFill>
          <a:ln w="12700">
            <a:solidFill>
              <a:srgbClr val="2563EB"/>
            </a:solidFill>
            <a:prstDash val="solid"/>
          </a:ln>
        </p:spPr>
      </p:sp>
      <p:sp>
        <p:nvSpPr>
          <p:cNvPr id="13" name="Text 11"/>
          <p:cNvSpPr/>
          <p:nvPr/>
        </p:nvSpPr>
        <p:spPr>
          <a:xfrm>
            <a:off x="868680" y="3877056"/>
            <a:ext cx="4754880" cy="457200"/>
          </a:xfrm>
          <a:prstGeom prst="rect">
            <a:avLst/>
          </a:prstGeom>
          <a:noFill/>
          <a:ln/>
        </p:spPr>
        <p:txBody>
          <a:bodyPr wrap="square" lIns="0" tIns="0" rIns="0" bIns="0" rtlCol="0" anchor="ctr"/>
          <a:lstStyle/>
          <a:p>
            <a:pPr algn="l" indent="0" marL="0">
              <a:buNone/>
            </a:pPr>
            <a:r>
              <a:rPr lang="en-US" sz="1200" dirty="0">
                <a:solidFill>
                  <a:srgbClr val="0F172A"/>
                </a:solidFill>
                <a:latin typeface="Courier New" pitchFamily="34" charset="0"/>
                <a:ea typeface="Courier New" pitchFamily="34" charset="-122"/>
                <a:cs typeface="Courier New" pitchFamily="34" charset="-120"/>
              </a:rPr>
              <a:t>&lt;div&gt; a section</a:t>
            </a:r>
            <a:endParaRPr lang="en-US" sz="1200" dirty="0"/>
          </a:p>
        </p:txBody>
      </p:sp>
      <p:sp>
        <p:nvSpPr>
          <p:cNvPr id="14" name="Shape 12"/>
          <p:cNvSpPr/>
          <p:nvPr/>
        </p:nvSpPr>
        <p:spPr>
          <a:xfrm>
            <a:off x="6263640" y="1783080"/>
            <a:ext cx="5394960" cy="2834640"/>
          </a:xfrm>
          <a:prstGeom prst="roundRect">
            <a:avLst>
              <a:gd name="adj" fmla="val 3871"/>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5" name="Text 13"/>
          <p:cNvSpPr/>
          <p:nvPr/>
        </p:nvSpPr>
        <p:spPr>
          <a:xfrm>
            <a:off x="6446520" y="1920240"/>
            <a:ext cx="5029200" cy="365760"/>
          </a:xfrm>
          <a:prstGeom prst="rect">
            <a:avLst/>
          </a:prstGeom>
          <a:noFill/>
          <a:ln/>
        </p:spPr>
        <p:txBody>
          <a:bodyPr wrap="square" lIns="0" tIns="0" rIns="0" bIns="0" rtlCol="0" anchor="ctr"/>
          <a:lstStyle/>
          <a:p>
            <a:pPr indent="0" marL="0">
              <a:buNone/>
            </a:pPr>
            <a:r>
              <a:rPr lang="en-US" sz="1800" b="1" dirty="0">
                <a:solidFill>
                  <a:srgbClr val="FB7185"/>
                </a:solidFill>
                <a:latin typeface="Calibri" pitchFamily="34" charset="0"/>
                <a:ea typeface="Calibri" pitchFamily="34" charset="-122"/>
                <a:cs typeface="Calibri" pitchFamily="34" charset="-120"/>
              </a:rPr>
              <a:t>Inline elements</a:t>
            </a:r>
            <a:endParaRPr lang="en-US" sz="1800" dirty="0"/>
          </a:p>
        </p:txBody>
      </p:sp>
      <p:sp>
        <p:nvSpPr>
          <p:cNvPr id="16" name="Text 14"/>
          <p:cNvSpPr/>
          <p:nvPr/>
        </p:nvSpPr>
        <p:spPr>
          <a:xfrm>
            <a:off x="6446520" y="2286000"/>
            <a:ext cx="502920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Like words in a sentence: they flow in the same line.</a:t>
            </a:r>
            <a:endParaRPr lang="en-US" sz="1250" dirty="0"/>
          </a:p>
        </p:txBody>
      </p:sp>
      <p:sp>
        <p:nvSpPr>
          <p:cNvPr id="17" name="Shape 15"/>
          <p:cNvSpPr/>
          <p:nvPr/>
        </p:nvSpPr>
        <p:spPr>
          <a:xfrm>
            <a:off x="6446520" y="2880360"/>
            <a:ext cx="1197864" cy="457200"/>
          </a:xfrm>
          <a:prstGeom prst="rect">
            <a:avLst/>
          </a:prstGeom>
          <a:solidFill>
            <a:srgbClr val="A7E8B7"/>
          </a:solidFill>
          <a:ln w="12700">
            <a:solidFill>
              <a:srgbClr val="22C55E"/>
            </a:solidFill>
            <a:prstDash val="solid"/>
          </a:ln>
        </p:spPr>
      </p:sp>
      <p:sp>
        <p:nvSpPr>
          <p:cNvPr id="18" name="Text 16"/>
          <p:cNvSpPr/>
          <p:nvPr/>
        </p:nvSpPr>
        <p:spPr>
          <a:xfrm>
            <a:off x="6446520" y="2880360"/>
            <a:ext cx="1197864" cy="457200"/>
          </a:xfrm>
          <a:prstGeom prst="rect">
            <a:avLst/>
          </a:prstGeom>
          <a:noFill/>
          <a:ln/>
        </p:spPr>
        <p:txBody>
          <a:bodyPr wrap="square" lIns="0" tIns="0" rIns="0" bIns="0" rtlCol="0" anchor="ctr"/>
          <a:lstStyle/>
          <a:p>
            <a:pPr algn="ctr" indent="0" marL="0">
              <a:buNone/>
            </a:pPr>
            <a:r>
              <a:rPr lang="en-US" sz="1100" dirty="0">
                <a:solidFill>
                  <a:srgbClr val="0F172A"/>
                </a:solidFill>
                <a:latin typeface="Courier New" pitchFamily="34" charset="0"/>
                <a:ea typeface="Courier New" pitchFamily="34" charset="-122"/>
                <a:cs typeface="Courier New" pitchFamily="34" charset="-120"/>
              </a:rPr>
              <a:t>&lt;span&gt;</a:t>
            </a:r>
            <a:endParaRPr lang="en-US" sz="1100" dirty="0"/>
          </a:p>
        </p:txBody>
      </p:sp>
      <p:sp>
        <p:nvSpPr>
          <p:cNvPr id="19" name="Shape 17"/>
          <p:cNvSpPr/>
          <p:nvPr/>
        </p:nvSpPr>
        <p:spPr>
          <a:xfrm>
            <a:off x="7754112" y="2880360"/>
            <a:ext cx="758952" cy="457200"/>
          </a:xfrm>
          <a:prstGeom prst="rect">
            <a:avLst/>
          </a:prstGeom>
          <a:solidFill>
            <a:srgbClr val="A7E8B7"/>
          </a:solidFill>
          <a:ln w="12700">
            <a:solidFill>
              <a:srgbClr val="22C55E"/>
            </a:solidFill>
            <a:prstDash val="solid"/>
          </a:ln>
        </p:spPr>
      </p:sp>
      <p:sp>
        <p:nvSpPr>
          <p:cNvPr id="20" name="Text 18"/>
          <p:cNvSpPr/>
          <p:nvPr/>
        </p:nvSpPr>
        <p:spPr>
          <a:xfrm>
            <a:off x="7754112" y="2880360"/>
            <a:ext cx="758952" cy="457200"/>
          </a:xfrm>
          <a:prstGeom prst="rect">
            <a:avLst/>
          </a:prstGeom>
          <a:noFill/>
          <a:ln/>
        </p:spPr>
        <p:txBody>
          <a:bodyPr wrap="square" lIns="0" tIns="0" rIns="0" bIns="0" rtlCol="0" anchor="ctr"/>
          <a:lstStyle/>
          <a:p>
            <a:pPr algn="ctr" indent="0" marL="0">
              <a:buNone/>
            </a:pPr>
            <a:r>
              <a:rPr lang="en-US" sz="1100" dirty="0">
                <a:solidFill>
                  <a:srgbClr val="0F172A"/>
                </a:solidFill>
                <a:latin typeface="Courier New" pitchFamily="34" charset="0"/>
                <a:ea typeface="Courier New" pitchFamily="34" charset="-122"/>
                <a:cs typeface="Courier New" pitchFamily="34" charset="-120"/>
              </a:rPr>
              <a:t>&lt;a&gt;</a:t>
            </a:r>
            <a:endParaRPr lang="en-US" sz="1100" dirty="0"/>
          </a:p>
        </p:txBody>
      </p:sp>
      <p:sp>
        <p:nvSpPr>
          <p:cNvPr id="21" name="Shape 19"/>
          <p:cNvSpPr/>
          <p:nvPr/>
        </p:nvSpPr>
        <p:spPr>
          <a:xfrm>
            <a:off x="8622792" y="2880360"/>
            <a:ext cx="758952" cy="457200"/>
          </a:xfrm>
          <a:prstGeom prst="rect">
            <a:avLst/>
          </a:prstGeom>
          <a:solidFill>
            <a:srgbClr val="A7E8B7"/>
          </a:solidFill>
          <a:ln w="12700">
            <a:solidFill>
              <a:srgbClr val="22C55E"/>
            </a:solidFill>
            <a:prstDash val="solid"/>
          </a:ln>
        </p:spPr>
      </p:sp>
      <p:sp>
        <p:nvSpPr>
          <p:cNvPr id="22" name="Text 20"/>
          <p:cNvSpPr/>
          <p:nvPr/>
        </p:nvSpPr>
        <p:spPr>
          <a:xfrm>
            <a:off x="8622792" y="2880360"/>
            <a:ext cx="758952" cy="457200"/>
          </a:xfrm>
          <a:prstGeom prst="rect">
            <a:avLst/>
          </a:prstGeom>
          <a:noFill/>
          <a:ln/>
        </p:spPr>
        <p:txBody>
          <a:bodyPr wrap="square" lIns="0" tIns="0" rIns="0" bIns="0" rtlCol="0" anchor="ctr"/>
          <a:lstStyle/>
          <a:p>
            <a:pPr algn="ctr" indent="0" marL="0">
              <a:buNone/>
            </a:pPr>
            <a:r>
              <a:rPr lang="en-US" sz="1100" dirty="0">
                <a:solidFill>
                  <a:srgbClr val="0F172A"/>
                </a:solidFill>
                <a:latin typeface="Courier New" pitchFamily="34" charset="0"/>
                <a:ea typeface="Courier New" pitchFamily="34" charset="-122"/>
                <a:cs typeface="Courier New" pitchFamily="34" charset="-120"/>
              </a:rPr>
              <a:t>&lt;b&gt;</a:t>
            </a:r>
            <a:endParaRPr lang="en-US" sz="1100" dirty="0"/>
          </a:p>
        </p:txBody>
      </p:sp>
      <p:sp>
        <p:nvSpPr>
          <p:cNvPr id="23" name="Shape 21"/>
          <p:cNvSpPr/>
          <p:nvPr/>
        </p:nvSpPr>
        <p:spPr>
          <a:xfrm>
            <a:off x="9491472" y="2880360"/>
            <a:ext cx="1051560" cy="457200"/>
          </a:xfrm>
          <a:prstGeom prst="rect">
            <a:avLst/>
          </a:prstGeom>
          <a:solidFill>
            <a:srgbClr val="A7E8B7"/>
          </a:solidFill>
          <a:ln w="12700">
            <a:solidFill>
              <a:srgbClr val="22C55E"/>
            </a:solidFill>
            <a:prstDash val="solid"/>
          </a:ln>
        </p:spPr>
      </p:sp>
      <p:sp>
        <p:nvSpPr>
          <p:cNvPr id="24" name="Text 22"/>
          <p:cNvSpPr/>
          <p:nvPr/>
        </p:nvSpPr>
        <p:spPr>
          <a:xfrm>
            <a:off x="9491472" y="2880360"/>
            <a:ext cx="1051560" cy="457200"/>
          </a:xfrm>
          <a:prstGeom prst="rect">
            <a:avLst/>
          </a:prstGeom>
          <a:noFill/>
          <a:ln/>
        </p:spPr>
        <p:txBody>
          <a:bodyPr wrap="square" lIns="0" tIns="0" rIns="0" bIns="0" rtlCol="0" anchor="ctr"/>
          <a:lstStyle/>
          <a:p>
            <a:pPr algn="ctr" indent="0" marL="0">
              <a:buNone/>
            </a:pPr>
            <a:r>
              <a:rPr lang="en-US" sz="1100" dirty="0">
                <a:solidFill>
                  <a:srgbClr val="0F172A"/>
                </a:solidFill>
                <a:latin typeface="Courier New" pitchFamily="34" charset="0"/>
                <a:ea typeface="Courier New" pitchFamily="34" charset="-122"/>
                <a:cs typeface="Courier New" pitchFamily="34" charset="-120"/>
              </a:rPr>
              <a:t>&lt;img&gt;</a:t>
            </a:r>
            <a:endParaRPr lang="en-US" sz="1100" dirty="0"/>
          </a:p>
        </p:txBody>
      </p:sp>
      <p:sp>
        <p:nvSpPr>
          <p:cNvPr id="25" name="Shape 23"/>
          <p:cNvSpPr/>
          <p:nvPr/>
        </p:nvSpPr>
        <p:spPr>
          <a:xfrm>
            <a:off x="10652760" y="2880360"/>
            <a:ext cx="905256" cy="457200"/>
          </a:xfrm>
          <a:prstGeom prst="rect">
            <a:avLst/>
          </a:prstGeom>
          <a:solidFill>
            <a:srgbClr val="A7E8B7"/>
          </a:solidFill>
          <a:ln w="12700">
            <a:solidFill>
              <a:srgbClr val="22C55E"/>
            </a:solidFill>
            <a:prstDash val="solid"/>
          </a:ln>
        </p:spPr>
      </p:sp>
      <p:sp>
        <p:nvSpPr>
          <p:cNvPr id="26" name="Text 24"/>
          <p:cNvSpPr/>
          <p:nvPr/>
        </p:nvSpPr>
        <p:spPr>
          <a:xfrm>
            <a:off x="10652760" y="2880360"/>
            <a:ext cx="905256" cy="457200"/>
          </a:xfrm>
          <a:prstGeom prst="rect">
            <a:avLst/>
          </a:prstGeom>
          <a:noFill/>
          <a:ln/>
        </p:spPr>
        <p:txBody>
          <a:bodyPr wrap="square" lIns="0" tIns="0" rIns="0" bIns="0" rtlCol="0" anchor="ctr"/>
          <a:lstStyle/>
          <a:p>
            <a:pPr algn="ctr" indent="0" marL="0">
              <a:buNone/>
            </a:pPr>
            <a:r>
              <a:rPr lang="en-US" sz="1100" dirty="0">
                <a:solidFill>
                  <a:srgbClr val="0F172A"/>
                </a:solidFill>
                <a:latin typeface="Courier New" pitchFamily="34" charset="0"/>
                <a:ea typeface="Courier New" pitchFamily="34" charset="-122"/>
                <a:cs typeface="Courier New" pitchFamily="34" charset="-120"/>
              </a:rPr>
              <a:t>&lt;em&gt;</a:t>
            </a:r>
            <a:endParaRPr lang="en-US" sz="1100" dirty="0"/>
          </a:p>
        </p:txBody>
      </p:sp>
      <p:sp>
        <p:nvSpPr>
          <p:cNvPr id="27" name="Text 25"/>
          <p:cNvSpPr/>
          <p:nvPr/>
        </p:nvSpPr>
        <p:spPr>
          <a:xfrm>
            <a:off x="6446520" y="3611880"/>
            <a:ext cx="5029200" cy="45720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They only take up as much width as they need.</a:t>
            </a:r>
            <a:endParaRPr lang="en-US" sz="1250" dirty="0"/>
          </a:p>
        </p:txBody>
      </p:sp>
      <p:sp>
        <p:nvSpPr>
          <p:cNvPr id="28" name="Shape 26"/>
          <p:cNvSpPr/>
          <p:nvPr/>
        </p:nvSpPr>
        <p:spPr>
          <a:xfrm>
            <a:off x="548640" y="4892040"/>
            <a:ext cx="11109960" cy="914400"/>
          </a:xfrm>
          <a:prstGeom prst="roundRect">
            <a:avLst>
              <a:gd name="adj" fmla="val 12000"/>
            </a:avLst>
          </a:prstGeom>
          <a:solidFill>
            <a:srgbClr val="EEF2FF"/>
          </a:solidFill>
          <a:ln/>
        </p:spPr>
      </p:sp>
      <p:sp>
        <p:nvSpPr>
          <p:cNvPr id="29" name="Shape 27"/>
          <p:cNvSpPr/>
          <p:nvPr/>
        </p:nvSpPr>
        <p:spPr>
          <a:xfrm>
            <a:off x="749808" y="5221224"/>
            <a:ext cx="256032" cy="256032"/>
          </a:xfrm>
          <a:prstGeom prst="ellipse">
            <a:avLst/>
          </a:prstGeom>
          <a:solidFill>
            <a:srgbClr val="8B5CF6"/>
          </a:solidFill>
          <a:ln/>
        </p:spPr>
      </p:sp>
      <p:sp>
        <p:nvSpPr>
          <p:cNvPr id="30" name="Text 28"/>
          <p:cNvSpPr/>
          <p:nvPr/>
        </p:nvSpPr>
        <p:spPr>
          <a:xfrm>
            <a:off x="1207008" y="4892040"/>
            <a:ext cx="10241280" cy="914400"/>
          </a:xfrm>
          <a:prstGeom prst="rect">
            <a:avLst/>
          </a:prstGeom>
          <a:noFill/>
          <a:ln/>
        </p:spPr>
        <p:txBody>
          <a:bodyPr wrap="square" lIns="0" tIns="0" rIns="0" bIns="0" rtlCol="0" anchor="ctr"/>
          <a:lstStyle/>
          <a:p>
            <a:pPr algn="l" indent="0" marL="0">
              <a:buNone/>
            </a:pPr>
            <a:r>
              <a:rPr lang="en-US" sz="1400" dirty="0">
                <a:solidFill>
                  <a:srgbClr val="3B2E7A"/>
                </a:solidFill>
                <a:latin typeface="Calibri" pitchFamily="34" charset="0"/>
                <a:ea typeface="Calibri" pitchFamily="34" charset="-122"/>
                <a:cs typeface="Calibri" pitchFamily="34" charset="-120"/>
              </a:rPr>
              <a:t>Block elements accept height and width. Inline elements (like span) ignore them. An extra in a crowd scene cannot demand a solo spotlight.</a:t>
            </a:r>
            <a:endParaRPr lang="en-US" sz="1400" dirty="0"/>
          </a:p>
        </p:txBody>
      </p:sp>
      <p:sp>
        <p:nvSpPr>
          <p:cNvPr id="31" name="Text 29"/>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32" name="Text 30"/>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DISPLAY</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display switches the behaviour</a:t>
            </a:r>
            <a:endParaRPr lang="en-US" sz="3400" dirty="0"/>
          </a:p>
        </p:txBody>
      </p:sp>
      <p:sp>
        <p:nvSpPr>
          <p:cNvPr id="5" name="Shape 3"/>
          <p:cNvSpPr/>
          <p:nvPr/>
        </p:nvSpPr>
        <p:spPr>
          <a:xfrm>
            <a:off x="548640" y="1737360"/>
            <a:ext cx="5852160" cy="2926080"/>
          </a:xfrm>
          <a:prstGeom prst="roundRect">
            <a:avLst>
              <a:gd name="adj" fmla="val 3750"/>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1956816"/>
            <a:ext cx="128016" cy="128016"/>
          </a:xfrm>
          <a:prstGeom prst="ellipse">
            <a:avLst/>
          </a:prstGeom>
          <a:solidFill>
            <a:srgbClr val="FF5F56"/>
          </a:solidFill>
          <a:ln/>
        </p:spPr>
      </p:sp>
      <p:sp>
        <p:nvSpPr>
          <p:cNvPr id="7" name="Shape 5"/>
          <p:cNvSpPr/>
          <p:nvPr/>
        </p:nvSpPr>
        <p:spPr>
          <a:xfrm>
            <a:off x="1042416" y="1956816"/>
            <a:ext cx="128016" cy="128016"/>
          </a:xfrm>
          <a:prstGeom prst="ellipse">
            <a:avLst/>
          </a:prstGeom>
          <a:solidFill>
            <a:srgbClr val="FFBD2E"/>
          </a:solidFill>
          <a:ln/>
        </p:spPr>
      </p:sp>
      <p:sp>
        <p:nvSpPr>
          <p:cNvPr id="8" name="Shape 6"/>
          <p:cNvSpPr/>
          <p:nvPr/>
        </p:nvSpPr>
        <p:spPr>
          <a:xfrm>
            <a:off x="1280160" y="1956816"/>
            <a:ext cx="128016" cy="128016"/>
          </a:xfrm>
          <a:prstGeom prst="ellipse">
            <a:avLst/>
          </a:prstGeom>
          <a:solidFill>
            <a:srgbClr val="27C93F"/>
          </a:solidFill>
          <a:ln/>
        </p:spPr>
      </p:sp>
      <p:sp>
        <p:nvSpPr>
          <p:cNvPr id="9" name="Text 7"/>
          <p:cNvSpPr/>
          <p:nvPr/>
        </p:nvSpPr>
        <p:spPr>
          <a:xfrm>
            <a:off x="804672" y="2267712"/>
            <a:ext cx="5340096" cy="2212848"/>
          </a:xfrm>
          <a:prstGeom prst="rect">
            <a:avLst/>
          </a:prstGeom>
          <a:noFill/>
          <a:ln/>
        </p:spPr>
        <p:txBody>
          <a:bodyPr wrap="square" lIns="0" tIns="0" rIns="0" bIns="0" rtlCol="0" anchor="t"/>
          <a:lstStyle/>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span</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border</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2px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solid</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blue</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height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50px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ignored</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while</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inline</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width</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FBD34D"/>
                </a:solidFill>
                <a:latin typeface="Courier New" pitchFamily="34" charset="0"/>
                <a:ea typeface="Courier New" pitchFamily="34" charset="-122"/>
                <a:cs typeface="Courier New" pitchFamily="34" charset="-120"/>
              </a:rPr>
              <a:t>50px</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ignored</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while</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inline</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9CC5FF"/>
                </a:solidFill>
                <a:latin typeface="Courier New" pitchFamily="34" charset="0"/>
                <a:ea typeface="Courier New" pitchFamily="34" charset="-122"/>
                <a:cs typeface="Courier New" pitchFamily="34" charset="-120"/>
              </a:rPr>
              <a:t>display</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86EFAC"/>
                </a:solidFill>
                <a:latin typeface="Courier New" pitchFamily="34" charset="0"/>
                <a:ea typeface="Courier New" pitchFamily="34" charset="-122"/>
                <a:cs typeface="Courier New" pitchFamily="34" charset="-120"/>
              </a:rPr>
              <a:t>inline-block</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now</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it</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listens</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300" dirty="0">
                <a:solidFill>
                  <a:srgbClr val="6B8299"/>
                </a:solidFill>
                <a:latin typeface="Courier New" pitchFamily="34" charset="0"/>
                <a:ea typeface="Courier New" pitchFamily="34" charset="-122"/>
                <a:cs typeface="Courier New" pitchFamily="34" charset="-120"/>
              </a:rPr>
              <a:t>*/</a:t>
            </a:r>
            <a:endParaRPr lang="en-US" sz="1300" dirty="0"/>
          </a:p>
          <a:p>
            <a:pPr algn="l" indent="0" marL="0">
              <a:lnSpc>
                <a:spcPct val="108000"/>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8"/>
          <p:cNvSpPr/>
          <p:nvPr/>
        </p:nvSpPr>
        <p:spPr>
          <a:xfrm>
            <a:off x="6583680" y="1737360"/>
            <a:ext cx="5029200" cy="896112"/>
          </a:xfrm>
          <a:prstGeom prst="roundRect">
            <a:avLst>
              <a:gd name="adj" fmla="val 12245"/>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1" name="Text 9"/>
          <p:cNvSpPr/>
          <p:nvPr/>
        </p:nvSpPr>
        <p:spPr>
          <a:xfrm>
            <a:off x="6766560" y="1847088"/>
            <a:ext cx="4663440" cy="365760"/>
          </a:xfrm>
          <a:prstGeom prst="rect">
            <a:avLst/>
          </a:prstGeom>
          <a:noFill/>
          <a:ln/>
        </p:spPr>
        <p:txBody>
          <a:bodyPr wrap="square" lIns="0" tIns="0" rIns="0" bIns="0" rtlCol="0" anchor="ctr"/>
          <a:lstStyle/>
          <a:p>
            <a:pPr indent="0" marL="0">
              <a:buNone/>
            </a:pPr>
            <a:r>
              <a:rPr lang="en-US" sz="1500" b="1" dirty="0">
                <a:solidFill>
                  <a:srgbClr val="2563EB"/>
                </a:solidFill>
                <a:latin typeface="Courier New" pitchFamily="34" charset="0"/>
                <a:ea typeface="Courier New" pitchFamily="34" charset="-122"/>
                <a:cs typeface="Courier New" pitchFamily="34" charset="-120"/>
              </a:rPr>
              <a:t>block</a:t>
            </a:r>
            <a:endParaRPr lang="en-US" sz="1500" dirty="0"/>
          </a:p>
        </p:txBody>
      </p:sp>
      <p:sp>
        <p:nvSpPr>
          <p:cNvPr id="12" name="Text 10"/>
          <p:cNvSpPr/>
          <p:nvPr/>
        </p:nvSpPr>
        <p:spPr>
          <a:xfrm>
            <a:off x="6766560" y="2194560"/>
            <a:ext cx="4663440" cy="36576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Full width, starts on a new line. Accepts height and width.</a:t>
            </a:r>
            <a:endParaRPr lang="en-US" sz="1250" dirty="0"/>
          </a:p>
        </p:txBody>
      </p:sp>
      <p:sp>
        <p:nvSpPr>
          <p:cNvPr id="13" name="Shape 11"/>
          <p:cNvSpPr/>
          <p:nvPr/>
        </p:nvSpPr>
        <p:spPr>
          <a:xfrm>
            <a:off x="6583680" y="2761488"/>
            <a:ext cx="5029200" cy="896112"/>
          </a:xfrm>
          <a:prstGeom prst="roundRect">
            <a:avLst>
              <a:gd name="adj" fmla="val 12245"/>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4" name="Text 12"/>
          <p:cNvSpPr/>
          <p:nvPr/>
        </p:nvSpPr>
        <p:spPr>
          <a:xfrm>
            <a:off x="6766560" y="2871216"/>
            <a:ext cx="4663440" cy="365760"/>
          </a:xfrm>
          <a:prstGeom prst="rect">
            <a:avLst/>
          </a:prstGeom>
          <a:noFill/>
          <a:ln/>
        </p:spPr>
        <p:txBody>
          <a:bodyPr wrap="square" lIns="0" tIns="0" rIns="0" bIns="0" rtlCol="0" anchor="ctr"/>
          <a:lstStyle/>
          <a:p>
            <a:pPr indent="0" marL="0">
              <a:buNone/>
            </a:pPr>
            <a:r>
              <a:rPr lang="en-US" sz="1500" b="1" dirty="0">
                <a:solidFill>
                  <a:srgbClr val="FB7185"/>
                </a:solidFill>
                <a:latin typeface="Courier New" pitchFamily="34" charset="0"/>
                <a:ea typeface="Courier New" pitchFamily="34" charset="-122"/>
                <a:cs typeface="Courier New" pitchFamily="34" charset="-120"/>
              </a:rPr>
              <a:t>inline</a:t>
            </a:r>
            <a:endParaRPr lang="en-US" sz="1500" dirty="0"/>
          </a:p>
        </p:txBody>
      </p:sp>
      <p:sp>
        <p:nvSpPr>
          <p:cNvPr id="15" name="Text 13"/>
          <p:cNvSpPr/>
          <p:nvPr/>
        </p:nvSpPr>
        <p:spPr>
          <a:xfrm>
            <a:off x="6766560" y="3218688"/>
            <a:ext cx="4663440" cy="36576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Flows in the text line. Ignores height and width.</a:t>
            </a:r>
            <a:endParaRPr lang="en-US" sz="1250" dirty="0"/>
          </a:p>
        </p:txBody>
      </p:sp>
      <p:sp>
        <p:nvSpPr>
          <p:cNvPr id="16" name="Shape 14"/>
          <p:cNvSpPr/>
          <p:nvPr/>
        </p:nvSpPr>
        <p:spPr>
          <a:xfrm>
            <a:off x="6583680" y="3785616"/>
            <a:ext cx="5029200" cy="896112"/>
          </a:xfrm>
          <a:prstGeom prst="roundRect">
            <a:avLst>
              <a:gd name="adj" fmla="val 12245"/>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7" name="Text 15"/>
          <p:cNvSpPr/>
          <p:nvPr/>
        </p:nvSpPr>
        <p:spPr>
          <a:xfrm>
            <a:off x="6766560" y="3895344"/>
            <a:ext cx="4663440" cy="365760"/>
          </a:xfrm>
          <a:prstGeom prst="rect">
            <a:avLst/>
          </a:prstGeom>
          <a:noFill/>
          <a:ln/>
        </p:spPr>
        <p:txBody>
          <a:bodyPr wrap="square" lIns="0" tIns="0" rIns="0" bIns="0" rtlCol="0" anchor="ctr"/>
          <a:lstStyle/>
          <a:p>
            <a:pPr indent="0" marL="0">
              <a:buNone/>
            </a:pPr>
            <a:r>
              <a:rPr lang="en-US" sz="1500" b="1" dirty="0">
                <a:solidFill>
                  <a:srgbClr val="22C55E"/>
                </a:solidFill>
                <a:latin typeface="Courier New" pitchFamily="34" charset="0"/>
                <a:ea typeface="Courier New" pitchFamily="34" charset="-122"/>
                <a:cs typeface="Courier New" pitchFamily="34" charset="-120"/>
              </a:rPr>
              <a:t>inline-block</a:t>
            </a:r>
            <a:endParaRPr lang="en-US" sz="1500" dirty="0"/>
          </a:p>
        </p:txBody>
      </p:sp>
      <p:sp>
        <p:nvSpPr>
          <p:cNvPr id="18" name="Text 16"/>
          <p:cNvSpPr/>
          <p:nvPr/>
        </p:nvSpPr>
        <p:spPr>
          <a:xfrm>
            <a:off x="6766560" y="4242816"/>
            <a:ext cx="4663440" cy="36576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Flows inline, but accepts height and width. Best of both.</a:t>
            </a:r>
            <a:endParaRPr lang="en-US" sz="1250" dirty="0"/>
          </a:p>
        </p:txBody>
      </p:sp>
      <p:sp>
        <p:nvSpPr>
          <p:cNvPr id="19" name="Shape 17"/>
          <p:cNvSpPr/>
          <p:nvPr/>
        </p:nvSpPr>
        <p:spPr>
          <a:xfrm>
            <a:off x="548640" y="4937760"/>
            <a:ext cx="11064240" cy="822960"/>
          </a:xfrm>
          <a:prstGeom prst="roundRect">
            <a:avLst>
              <a:gd name="adj" fmla="val 13333"/>
            </a:avLst>
          </a:prstGeom>
          <a:solidFill>
            <a:srgbClr val="E7FBEF"/>
          </a:solidFill>
          <a:ln/>
        </p:spPr>
      </p:sp>
      <p:sp>
        <p:nvSpPr>
          <p:cNvPr id="20" name="Shape 18"/>
          <p:cNvSpPr/>
          <p:nvPr/>
        </p:nvSpPr>
        <p:spPr>
          <a:xfrm>
            <a:off x="749808" y="5221224"/>
            <a:ext cx="256032" cy="256032"/>
          </a:xfrm>
          <a:prstGeom prst="ellipse">
            <a:avLst/>
          </a:prstGeom>
          <a:solidFill>
            <a:srgbClr val="22C55E"/>
          </a:solidFill>
          <a:ln/>
        </p:spPr>
      </p:sp>
      <p:sp>
        <p:nvSpPr>
          <p:cNvPr id="21" name="Text 19"/>
          <p:cNvSpPr/>
          <p:nvPr/>
        </p:nvSpPr>
        <p:spPr>
          <a:xfrm>
            <a:off x="1207008" y="4937760"/>
            <a:ext cx="10195560" cy="822960"/>
          </a:xfrm>
          <a:prstGeom prst="rect">
            <a:avLst/>
          </a:prstGeom>
          <a:noFill/>
          <a:ln/>
        </p:spPr>
        <p:txBody>
          <a:bodyPr wrap="square" lIns="0" tIns="0" rIns="0" bIns="0" rtlCol="0" anchor="ctr"/>
          <a:lstStyle/>
          <a:p>
            <a:pPr algn="l" indent="0" marL="0">
              <a:buNone/>
            </a:pPr>
            <a:r>
              <a:rPr lang="en-US" sz="1400" dirty="0">
                <a:solidFill>
                  <a:srgbClr val="14532D"/>
                </a:solidFill>
                <a:latin typeface="Calibri" pitchFamily="34" charset="0"/>
                <a:ea typeface="Calibri" pitchFamily="34" charset="-122"/>
                <a:cs typeface="Calibri" pitchFamily="34" charset="-120"/>
              </a:rPr>
              <a:t>Set display: inline-block and your span suddenly respects height and width. That is the whole job of the display property.</a:t>
            </a:r>
            <a:endParaRPr lang="en-US" sz="1400" dirty="0"/>
          </a:p>
        </p:txBody>
      </p:sp>
      <p:sp>
        <p:nvSpPr>
          <p:cNvPr id="22" name="Text 20"/>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23" name="Text 21"/>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928116" cy="310896"/>
          </a:xfrm>
          <a:prstGeom prst="roundRect">
            <a:avLst>
              <a:gd name="adj" fmla="val 50000"/>
            </a:avLst>
          </a:prstGeom>
          <a:solidFill>
            <a:srgbClr val="2563EB"/>
          </a:solidFill>
          <a:ln/>
        </p:spPr>
      </p:sp>
      <p:sp>
        <p:nvSpPr>
          <p:cNvPr id="3" name="Text 1"/>
          <p:cNvSpPr/>
          <p:nvPr/>
        </p:nvSpPr>
        <p:spPr>
          <a:xfrm>
            <a:off x="548640" y="457200"/>
            <a:ext cx="928116"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DISPLAY</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Spacing on inline elements</a:t>
            </a:r>
            <a:endParaRPr lang="en-US" sz="3400" dirty="0"/>
          </a:p>
        </p:txBody>
      </p:sp>
      <p:sp>
        <p:nvSpPr>
          <p:cNvPr id="5" name="Shape 3"/>
          <p:cNvSpPr/>
          <p:nvPr/>
        </p:nvSpPr>
        <p:spPr>
          <a:xfrm>
            <a:off x="548640" y="1737360"/>
            <a:ext cx="5852160" cy="3108960"/>
          </a:xfrm>
          <a:prstGeom prst="roundRect">
            <a:avLst>
              <a:gd name="adj" fmla="val 3529"/>
            </a:avLst>
          </a:prstGeom>
          <a:solidFill>
            <a:srgbClr val="0C1526"/>
          </a:solidFill>
          <a:ln/>
          <a:effectLst>
            <a:outerShdw sx="100000" sy="100000" kx="0" ky="0" algn="bl" rotWithShape="0" blurRad="101600" dist="38100" dir="5400000">
              <a:srgbClr val="0B1220">
                <a:alpha val="18000"/>
              </a:srgbClr>
            </a:outerShdw>
          </a:effectLst>
        </p:spPr>
      </p:sp>
      <p:sp>
        <p:nvSpPr>
          <p:cNvPr id="6" name="Shape 4"/>
          <p:cNvSpPr/>
          <p:nvPr/>
        </p:nvSpPr>
        <p:spPr>
          <a:xfrm>
            <a:off x="804672" y="1956816"/>
            <a:ext cx="128016" cy="128016"/>
          </a:xfrm>
          <a:prstGeom prst="ellipse">
            <a:avLst/>
          </a:prstGeom>
          <a:solidFill>
            <a:srgbClr val="FF5F56"/>
          </a:solidFill>
          <a:ln/>
        </p:spPr>
      </p:sp>
      <p:sp>
        <p:nvSpPr>
          <p:cNvPr id="7" name="Shape 5"/>
          <p:cNvSpPr/>
          <p:nvPr/>
        </p:nvSpPr>
        <p:spPr>
          <a:xfrm>
            <a:off x="1042416" y="1956816"/>
            <a:ext cx="128016" cy="128016"/>
          </a:xfrm>
          <a:prstGeom prst="ellipse">
            <a:avLst/>
          </a:prstGeom>
          <a:solidFill>
            <a:srgbClr val="FFBD2E"/>
          </a:solidFill>
          <a:ln/>
        </p:spPr>
      </p:sp>
      <p:sp>
        <p:nvSpPr>
          <p:cNvPr id="8" name="Shape 6"/>
          <p:cNvSpPr/>
          <p:nvPr/>
        </p:nvSpPr>
        <p:spPr>
          <a:xfrm>
            <a:off x="1280160" y="1956816"/>
            <a:ext cx="128016" cy="128016"/>
          </a:xfrm>
          <a:prstGeom prst="ellipse">
            <a:avLst/>
          </a:prstGeom>
          <a:solidFill>
            <a:srgbClr val="27C93F"/>
          </a:solidFill>
          <a:ln/>
        </p:spPr>
      </p:sp>
      <p:sp>
        <p:nvSpPr>
          <p:cNvPr id="9" name="Text 7"/>
          <p:cNvSpPr/>
          <p:nvPr/>
        </p:nvSpPr>
        <p:spPr>
          <a:xfrm>
            <a:off x="804672" y="2267712"/>
            <a:ext cx="5340096" cy="2395728"/>
          </a:xfrm>
          <a:prstGeom prst="rect">
            <a:avLst/>
          </a:prstGeom>
          <a:noFill/>
          <a:ln/>
        </p:spPr>
        <p:txBody>
          <a:bodyPr wrap="square" lIns="0" tIns="0" rIns="0" bIns="0" rtlCol="0" anchor="t"/>
          <a:lstStyle/>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inline-element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display</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inline</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border</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1px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86EFAC"/>
                </a:solidFill>
                <a:latin typeface="Courier New" pitchFamily="34" charset="0"/>
                <a:ea typeface="Courier New" pitchFamily="34" charset="-122"/>
                <a:cs typeface="Courier New" pitchFamily="34" charset="-120"/>
              </a:rPr>
              <a:t>solid</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black</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margin</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10px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only</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top-bottom</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show</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9CC5FF"/>
                </a:solidFill>
                <a:latin typeface="Courier New" pitchFamily="34" charset="0"/>
                <a:ea typeface="Courier New" pitchFamily="34" charset="-122"/>
                <a:cs typeface="Courier New" pitchFamily="34" charset="-120"/>
              </a:rPr>
              <a:t>padding</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FBD34D"/>
                </a:solidFill>
                <a:latin typeface="Courier New" pitchFamily="34" charset="0"/>
                <a:ea typeface="Courier New" pitchFamily="34" charset="-122"/>
                <a:cs typeface="Courier New" pitchFamily="34" charset="-120"/>
              </a:rPr>
              <a:t>5px</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all</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sides</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show</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 </a:t>
            </a:r>
            <a:pPr algn="l" indent="0" marL="0">
              <a:lnSpc>
                <a:spcPct val="108000"/>
              </a:lnSpc>
              <a:buNone/>
            </a:pPr>
            <a:r>
              <a:rPr lang="en-US" sz="1250" dirty="0">
                <a:solidFill>
                  <a:srgbClr val="6B8299"/>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0" name="Shape 8"/>
          <p:cNvSpPr/>
          <p:nvPr/>
        </p:nvSpPr>
        <p:spPr>
          <a:xfrm>
            <a:off x="6583680" y="1737360"/>
            <a:ext cx="5029200" cy="1463040"/>
          </a:xfrm>
          <a:prstGeom prst="roundRect">
            <a:avLst>
              <a:gd name="adj" fmla="val 7500"/>
            </a:avLst>
          </a:prstGeom>
          <a:solidFill>
            <a:srgbClr val="E7FBEF"/>
          </a:solidFill>
          <a:ln w="12700">
            <a:solidFill>
              <a:srgbClr val="22C55E"/>
            </a:solidFill>
            <a:prstDash val="solid"/>
          </a:ln>
          <a:effectLst>
            <a:outerShdw sx="100000" sy="100000" kx="0" ky="0" algn="bl" rotWithShape="0" blurRad="101600" dist="38100" dir="5400000">
              <a:srgbClr val="0B1220">
                <a:alpha val="18000"/>
              </a:srgbClr>
            </a:outerShdw>
          </a:effectLst>
        </p:spPr>
      </p:sp>
      <p:sp>
        <p:nvSpPr>
          <p:cNvPr id="11" name="Text 9"/>
          <p:cNvSpPr/>
          <p:nvPr/>
        </p:nvSpPr>
        <p:spPr>
          <a:xfrm>
            <a:off x="6766560" y="1737360"/>
            <a:ext cx="4663440" cy="1463040"/>
          </a:xfrm>
          <a:prstGeom prst="rect">
            <a:avLst/>
          </a:prstGeom>
          <a:noFill/>
          <a:ln/>
        </p:spPr>
        <p:txBody>
          <a:bodyPr wrap="square" lIns="0" tIns="0" rIns="0" bIns="0" rtlCol="0" anchor="ctr"/>
          <a:lstStyle/>
          <a:p>
            <a:pPr algn="l" indent="0" marL="0">
              <a:buNone/>
            </a:pPr>
            <a:r>
              <a:rPr lang="en-US" sz="1350" b="1" dirty="0">
                <a:solidFill>
                  <a:srgbClr val="14532D"/>
                </a:solidFill>
                <a:latin typeface="Calibri" pitchFamily="34" charset="0"/>
                <a:ea typeface="Calibri" pitchFamily="34" charset="-122"/>
                <a:cs typeface="Calibri" pitchFamily="34" charset="-120"/>
              </a:rPr>
              <a:t>Vertical margin  </a:t>
            </a:r>
            <a:pPr algn="l" indent="0" marL="0">
              <a:buNone/>
            </a:pPr>
            <a:r>
              <a:rPr lang="en-US" sz="1350" dirty="0">
                <a:solidFill>
                  <a:srgbClr val="0F172A"/>
                </a:solidFill>
                <a:latin typeface="Calibri" pitchFamily="34" charset="0"/>
                <a:ea typeface="Calibri" pitchFamily="34" charset="-122"/>
                <a:cs typeface="Calibri" pitchFamily="34" charset="-120"/>
              </a:rPr>
              <a:t>top and bottom push space above and below.</a:t>
            </a:r>
            <a:endParaRPr lang="en-US" sz="1350" dirty="0"/>
          </a:p>
        </p:txBody>
      </p:sp>
      <p:sp>
        <p:nvSpPr>
          <p:cNvPr id="12" name="Shape 10"/>
          <p:cNvSpPr/>
          <p:nvPr/>
        </p:nvSpPr>
        <p:spPr>
          <a:xfrm>
            <a:off x="6583680" y="3337560"/>
            <a:ext cx="5029200" cy="1463040"/>
          </a:xfrm>
          <a:prstGeom prst="roundRect">
            <a:avLst>
              <a:gd name="adj" fmla="val 7500"/>
            </a:avLst>
          </a:prstGeom>
          <a:solidFill>
            <a:srgbClr val="FFF3E0"/>
          </a:solidFill>
          <a:ln w="12700">
            <a:solidFill>
              <a:srgbClr val="F59E0B"/>
            </a:solidFill>
            <a:prstDash val="solid"/>
          </a:ln>
          <a:effectLst>
            <a:outerShdw sx="100000" sy="100000" kx="0" ky="0" algn="bl" rotWithShape="0" blurRad="101600" dist="38100" dir="5400000">
              <a:srgbClr val="0B1220">
                <a:alpha val="18000"/>
              </a:srgbClr>
            </a:outerShdw>
          </a:effectLst>
        </p:spPr>
      </p:sp>
      <p:sp>
        <p:nvSpPr>
          <p:cNvPr id="13" name="Text 11"/>
          <p:cNvSpPr/>
          <p:nvPr/>
        </p:nvSpPr>
        <p:spPr>
          <a:xfrm>
            <a:off x="6766560" y="3337560"/>
            <a:ext cx="4663440" cy="1463040"/>
          </a:xfrm>
          <a:prstGeom prst="rect">
            <a:avLst/>
          </a:prstGeom>
          <a:noFill/>
          <a:ln/>
        </p:spPr>
        <p:txBody>
          <a:bodyPr wrap="square" lIns="0" tIns="0" rIns="0" bIns="0" rtlCol="0" anchor="ctr"/>
          <a:lstStyle/>
          <a:p>
            <a:pPr algn="l" indent="0" marL="0">
              <a:buNone/>
            </a:pPr>
            <a:r>
              <a:rPr lang="en-US" sz="1350" b="1" dirty="0">
                <a:solidFill>
                  <a:srgbClr val="7A4A05"/>
                </a:solidFill>
                <a:latin typeface="Calibri" pitchFamily="34" charset="0"/>
                <a:ea typeface="Calibri" pitchFamily="34" charset="-122"/>
                <a:cs typeface="Calibri" pitchFamily="34" charset="-120"/>
              </a:rPr>
              <a:t>Horizontal margin  </a:t>
            </a:r>
            <a:pPr algn="l" indent="0" marL="0">
              <a:buNone/>
            </a:pPr>
            <a:r>
              <a:rPr lang="en-US" sz="1350" dirty="0">
                <a:solidFill>
                  <a:srgbClr val="0F172A"/>
                </a:solidFill>
                <a:latin typeface="Calibri" pitchFamily="34" charset="0"/>
                <a:ea typeface="Calibri" pitchFamily="34" charset="-122"/>
                <a:cs typeface="Calibri" pitchFamily="34" charset="-120"/>
              </a:rPr>
              <a:t>left and right are ignored on a pure inline element.</a:t>
            </a:r>
            <a:endParaRPr lang="en-US" sz="1350" dirty="0"/>
          </a:p>
        </p:txBody>
      </p:sp>
      <p:sp>
        <p:nvSpPr>
          <p:cNvPr id="14" name="Shape 12"/>
          <p:cNvSpPr/>
          <p:nvPr/>
        </p:nvSpPr>
        <p:spPr>
          <a:xfrm>
            <a:off x="548640" y="5074920"/>
            <a:ext cx="11064240" cy="777240"/>
          </a:xfrm>
          <a:prstGeom prst="roundRect">
            <a:avLst>
              <a:gd name="adj" fmla="val 14118"/>
            </a:avLst>
          </a:prstGeom>
          <a:solidFill>
            <a:srgbClr val="E5EEFF"/>
          </a:solidFill>
          <a:ln/>
        </p:spPr>
      </p:sp>
      <p:sp>
        <p:nvSpPr>
          <p:cNvPr id="15" name="Shape 13"/>
          <p:cNvSpPr/>
          <p:nvPr/>
        </p:nvSpPr>
        <p:spPr>
          <a:xfrm>
            <a:off x="749808" y="5335524"/>
            <a:ext cx="256032" cy="256032"/>
          </a:xfrm>
          <a:prstGeom prst="ellipse">
            <a:avLst/>
          </a:prstGeom>
          <a:solidFill>
            <a:srgbClr val="2563EB"/>
          </a:solidFill>
          <a:ln/>
        </p:spPr>
      </p:sp>
      <p:sp>
        <p:nvSpPr>
          <p:cNvPr id="16" name="Text 14"/>
          <p:cNvSpPr/>
          <p:nvPr/>
        </p:nvSpPr>
        <p:spPr>
          <a:xfrm>
            <a:off x="1207008" y="5074920"/>
            <a:ext cx="10195560" cy="777240"/>
          </a:xfrm>
          <a:prstGeom prst="rect">
            <a:avLst/>
          </a:prstGeom>
          <a:noFill/>
          <a:ln/>
        </p:spPr>
        <p:txBody>
          <a:bodyPr wrap="square" lIns="0" tIns="0" rIns="0" bIns="0" rtlCol="0" anchor="ctr"/>
          <a:lstStyle/>
          <a:p>
            <a:pPr algn="l" indent="0" marL="0">
              <a:buNone/>
            </a:pPr>
            <a:r>
              <a:rPr lang="en-US" sz="1400" dirty="0">
                <a:solidFill>
                  <a:srgbClr val="0F172A"/>
                </a:solidFill>
                <a:latin typeface="Calibri" pitchFamily="34" charset="0"/>
                <a:ea typeface="Calibri" pitchFamily="34" charset="-122"/>
                <a:cs typeface="Calibri" pitchFamily="34" charset="-120"/>
              </a:rPr>
              <a:t>Need horizontal margin on a span? Switch it to inline-block. Padding, however, shows on all four sides even for inline.</a:t>
            </a:r>
            <a:endParaRPr lang="en-US" sz="1400" dirty="0"/>
          </a:p>
        </p:txBody>
      </p:sp>
      <p:sp>
        <p:nvSpPr>
          <p:cNvPr id="17" name="Text 15"/>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18" name="Text 16"/>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4480560" y="1371600"/>
            <a:ext cx="3200400" cy="3200400"/>
          </a:xfrm>
          <a:prstGeom prst="ellipse">
            <a:avLst/>
          </a:prstGeom>
          <a:solidFill>
            <a:srgbClr val="2563EB"/>
          </a:solidFill>
          <a:ln/>
          <a:effectLst>
            <a:outerShdw sx="100000" sy="100000" kx="0" ky="0" algn="bl" rotWithShape="0" blurRad="254000" dist="38100" dir="5400000">
              <a:srgbClr val="0B1220">
                <a:alpha val="40000"/>
              </a:srgbClr>
            </a:outerShdw>
          </a:effectLst>
        </p:spPr>
      </p:sp>
      <p:sp>
        <p:nvSpPr>
          <p:cNvPr id="3" name="Shape 1"/>
          <p:cNvSpPr/>
          <p:nvPr/>
        </p:nvSpPr>
        <p:spPr>
          <a:xfrm>
            <a:off x="5394960" y="2286000"/>
            <a:ext cx="1371600" cy="1371600"/>
          </a:xfrm>
          <a:prstGeom prst="ellipse">
            <a:avLst/>
          </a:prstGeom>
          <a:solidFill>
            <a:srgbClr val="2563EB"/>
          </a:solidFill>
          <a:ln/>
        </p:spPr>
      </p:sp>
      <p:pic>
        <p:nvPicPr>
          <p:cNvPr id="4" name="Image 0" descr="preencoded.png">    </p:cNvPr>
          <p:cNvPicPr>
            <a:picLocks noChangeAspect="1"/>
          </p:cNvPicPr>
          <p:nvPr/>
        </p:nvPicPr>
        <p:blipFill>
          <a:blip r:embed="rId1"/>
          <a:stretch>
            <a:fillRect/>
          </a:stretch>
        </p:blipFill>
        <p:spPr>
          <a:xfrm>
            <a:off x="5751576" y="2642616"/>
            <a:ext cx="658368" cy="658368"/>
          </a:xfrm>
          <a:prstGeom prst="rect">
            <a:avLst/>
          </a:prstGeom>
        </p:spPr>
      </p:pic>
      <p:sp>
        <p:nvSpPr>
          <p:cNvPr id="5" name="Text 2"/>
          <p:cNvSpPr/>
          <p:nvPr/>
        </p:nvSpPr>
        <p:spPr>
          <a:xfrm>
            <a:off x="914400" y="4709160"/>
            <a:ext cx="10360152"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5 minute break</a:t>
            </a:r>
            <a:endParaRPr lang="en-US" sz="4000" dirty="0"/>
          </a:p>
        </p:txBody>
      </p:sp>
      <p:sp>
        <p:nvSpPr>
          <p:cNvPr id="6" name="Text 3"/>
          <p:cNvSpPr/>
          <p:nvPr/>
        </p:nvSpPr>
        <p:spPr>
          <a:xfrm>
            <a:off x="914400" y="5440680"/>
            <a:ext cx="10360152" cy="457200"/>
          </a:xfrm>
          <a:prstGeom prst="rect">
            <a:avLst/>
          </a:prstGeom>
          <a:noFill/>
          <a:ln/>
        </p:spPr>
        <p:txBody>
          <a:bodyPr wrap="square" lIns="0" tIns="0" rIns="0" bIns="0" rtlCol="0" anchor="ctr"/>
          <a:lstStyle/>
          <a:p>
            <a:pPr algn="ctr" indent="0" marL="0">
              <a:buNone/>
            </a:pPr>
            <a:r>
              <a:rPr lang="en-US" sz="1600" dirty="0">
                <a:solidFill>
                  <a:srgbClr val="C7DBFF"/>
                </a:solidFill>
                <a:latin typeface="Calibri" pitchFamily="34" charset="0"/>
                <a:ea typeface="Calibri" pitchFamily="34" charset="-122"/>
                <a:cs typeface="Calibri" pitchFamily="34" charset="-120"/>
              </a:rPr>
              <a:t>Stand up. Water. Rest your eyes. We resume on the dot.</a:t>
            </a:r>
            <a:endParaRPr lang="en-US" sz="1600" dirty="0"/>
          </a:p>
        </p:txBody>
      </p:sp>
      <p:sp>
        <p:nvSpPr>
          <p:cNvPr id="7" name="Shape 4"/>
          <p:cNvSpPr/>
          <p:nvPr/>
        </p:nvSpPr>
        <p:spPr>
          <a:xfrm>
            <a:off x="822960" y="640080"/>
            <a:ext cx="1371600" cy="310896"/>
          </a:xfrm>
          <a:prstGeom prst="roundRect">
            <a:avLst>
              <a:gd name="adj" fmla="val 50000"/>
            </a:avLst>
          </a:prstGeom>
          <a:solidFill>
            <a:srgbClr val="1B2A4A"/>
          </a:solidFill>
          <a:ln/>
        </p:spPr>
      </p:sp>
      <p:sp>
        <p:nvSpPr>
          <p:cNvPr id="8" name="Text 5"/>
          <p:cNvSpPr/>
          <p:nvPr/>
        </p:nvSpPr>
        <p:spPr>
          <a:xfrm>
            <a:off x="822960" y="640080"/>
            <a:ext cx="137160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150 MIN DONE</a:t>
            </a:r>
            <a:endParaRPr lang="en-US" sz="1100" dirty="0"/>
          </a:p>
        </p:txBody>
      </p:sp>
      <p:sp>
        <p:nvSpPr>
          <p:cNvPr id="9" name="Text 6"/>
          <p:cNvSpPr/>
          <p:nvPr/>
        </p:nvSpPr>
        <p:spPr>
          <a:xfrm>
            <a:off x="914400" y="5943600"/>
            <a:ext cx="10360152" cy="365760"/>
          </a:xfrm>
          <a:prstGeom prst="rect">
            <a:avLst/>
          </a:prstGeom>
          <a:noFill/>
          <a:ln/>
        </p:spPr>
        <p:txBody>
          <a:bodyPr wrap="square" lIns="0" tIns="0" rIns="0" bIns="0" rtlCol="0" anchor="ctr"/>
          <a:lstStyle/>
          <a:p>
            <a:pPr algn="ctr" indent="0" marL="0">
              <a:buNone/>
            </a:pPr>
            <a:r>
              <a:rPr lang="en-US" sz="1300" i="1" dirty="0">
                <a:solidFill>
                  <a:srgbClr val="94A3B8"/>
                </a:solidFill>
                <a:latin typeface="Calibri" pitchFamily="34" charset="0"/>
                <a:ea typeface="Calibri" pitchFamily="34" charset="-122"/>
                <a:cs typeface="Calibri" pitchFamily="34" charset="-120"/>
              </a:rPr>
              <a:t>Next up: CSS Units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B2A4A"/>
          </a:solidFill>
          <a:ln/>
        </p:spPr>
      </p:sp>
      <p:sp>
        <p:nvSpPr>
          <p:cNvPr id="3" name="Shape 1"/>
          <p:cNvSpPr/>
          <p:nvPr/>
        </p:nvSpPr>
        <p:spPr>
          <a:xfrm>
            <a:off x="10698480" y="4206240"/>
            <a:ext cx="3108960" cy="3108960"/>
          </a:xfrm>
          <a:prstGeom prst="ellipse">
            <a:avLst/>
          </a:prstGeom>
          <a:solidFill>
            <a:srgbClr val="1B2A4A"/>
          </a:solidFill>
          <a:ln/>
        </p:spPr>
      </p:sp>
      <p:sp>
        <p:nvSpPr>
          <p:cNvPr id="4" name="Text 2"/>
          <p:cNvSpPr/>
          <p:nvPr/>
        </p:nvSpPr>
        <p:spPr>
          <a:xfrm>
            <a:off x="822960" y="914400"/>
            <a:ext cx="4572000" cy="2011680"/>
          </a:xfrm>
          <a:prstGeom prst="rect">
            <a:avLst/>
          </a:prstGeom>
          <a:noFill/>
          <a:ln/>
        </p:spPr>
        <p:txBody>
          <a:bodyPr wrap="square" lIns="0" tIns="0" rIns="0" bIns="0" rtlCol="0" anchor="t"/>
          <a:lstStyle/>
          <a:p>
            <a:pPr algn="l" indent="0" marL="0">
              <a:buNone/>
            </a:pPr>
            <a:r>
              <a:rPr lang="en-US" sz="15000" b="1" dirty="0">
                <a:solidFill>
                  <a:srgbClr val="1B2A4A"/>
                </a:solidFill>
                <a:latin typeface="Calibri" pitchFamily="34" charset="0"/>
                <a:ea typeface="Calibri" pitchFamily="34" charset="-122"/>
                <a:cs typeface="Calibri" pitchFamily="34" charset="-120"/>
              </a:rPr>
              <a:t>06</a:t>
            </a:r>
            <a:endParaRPr lang="en-US" sz="15000" dirty="0"/>
          </a:p>
        </p:txBody>
      </p:sp>
      <p:sp>
        <p:nvSpPr>
          <p:cNvPr id="5" name="Shape 3"/>
          <p:cNvSpPr/>
          <p:nvPr/>
        </p:nvSpPr>
        <p:spPr>
          <a:xfrm>
            <a:off x="868680" y="3063240"/>
            <a:ext cx="1120140" cy="310896"/>
          </a:xfrm>
          <a:prstGeom prst="roundRect">
            <a:avLst>
              <a:gd name="adj" fmla="val 50000"/>
            </a:avLst>
          </a:prstGeom>
          <a:solidFill>
            <a:srgbClr val="2563EB"/>
          </a:solidFill>
          <a:ln/>
        </p:spPr>
      </p:sp>
      <p:sp>
        <p:nvSpPr>
          <p:cNvPr id="6" name="Text 4"/>
          <p:cNvSpPr/>
          <p:nvPr/>
        </p:nvSpPr>
        <p:spPr>
          <a:xfrm>
            <a:off x="868680" y="3063240"/>
            <a:ext cx="11201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SECTION 6</a:t>
            </a:r>
            <a:endParaRPr lang="en-US" sz="1100" dirty="0"/>
          </a:p>
        </p:txBody>
      </p:sp>
      <p:sp>
        <p:nvSpPr>
          <p:cNvPr id="7" name="Text 5"/>
          <p:cNvSpPr/>
          <p:nvPr/>
        </p:nvSpPr>
        <p:spPr>
          <a:xfrm>
            <a:off x="822960" y="3474720"/>
            <a:ext cx="8778240" cy="146304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CSS Units</a:t>
            </a:r>
            <a:endParaRPr lang="en-US" sz="4600" dirty="0"/>
          </a:p>
        </p:txBody>
      </p:sp>
      <p:sp>
        <p:nvSpPr>
          <p:cNvPr id="8" name="Text 6"/>
          <p:cNvSpPr/>
          <p:nvPr/>
        </p:nvSpPr>
        <p:spPr>
          <a:xfrm>
            <a:off x="868680" y="4892040"/>
            <a:ext cx="8595360" cy="731520"/>
          </a:xfrm>
          <a:prstGeom prst="rect">
            <a:avLst/>
          </a:prstGeom>
          <a:noFill/>
          <a:ln/>
        </p:spPr>
        <p:txBody>
          <a:bodyPr wrap="square" lIns="0" tIns="0" rIns="0" bIns="0" rtlCol="0" anchor="ctr"/>
          <a:lstStyle/>
          <a:p>
            <a:pPr algn="l" indent="0" marL="0">
              <a:buNone/>
            </a:pPr>
            <a:r>
              <a:rPr lang="en-US" sz="1600" dirty="0">
                <a:solidFill>
                  <a:srgbClr val="C7DBFF"/>
                </a:solidFill>
                <a:latin typeface="Calibri" pitchFamily="34" charset="0"/>
                <a:ea typeface="Calibri" pitchFamily="34" charset="-122"/>
                <a:cs typeface="Calibri" pitchFamily="34" charset="-120"/>
              </a:rPr>
              <a:t>Fixed or flexible: choosing the right measuring stick.</a:t>
            </a:r>
            <a:endParaRPr lang="en-US" sz="1600" dirty="0"/>
          </a:p>
        </p:txBody>
      </p:sp>
      <p:sp>
        <p:nvSpPr>
          <p:cNvPr id="9" name="Shape 7"/>
          <p:cNvSpPr/>
          <p:nvPr/>
        </p:nvSpPr>
        <p:spPr>
          <a:xfrm>
            <a:off x="10424160" y="1005840"/>
            <a:ext cx="1005840" cy="1005840"/>
          </a:xfrm>
          <a:prstGeom prst="ellipse">
            <a:avLst/>
          </a:prstGeom>
          <a:solidFill>
            <a:srgbClr val="2563EB"/>
          </a:solidFill>
          <a:ln/>
        </p:spPr>
      </p:sp>
      <p:pic>
        <p:nvPicPr>
          <p:cNvPr id="10" name="Image 0" descr="preencoded.png">    </p:cNvPr>
          <p:cNvPicPr>
            <a:picLocks noChangeAspect="1"/>
          </p:cNvPicPr>
          <p:nvPr/>
        </p:nvPicPr>
        <p:blipFill>
          <a:blip r:embed="rId1"/>
          <a:stretch>
            <a:fillRect/>
          </a:stretch>
        </p:blipFill>
        <p:spPr>
          <a:xfrm>
            <a:off x="10685678" y="1267358"/>
            <a:ext cx="482803" cy="48280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736092" cy="310896"/>
          </a:xfrm>
          <a:prstGeom prst="roundRect">
            <a:avLst>
              <a:gd name="adj" fmla="val 50000"/>
            </a:avLst>
          </a:prstGeom>
          <a:solidFill>
            <a:srgbClr val="2563EB"/>
          </a:solidFill>
          <a:ln/>
        </p:spPr>
      </p:sp>
      <p:sp>
        <p:nvSpPr>
          <p:cNvPr id="3" name="Text 1"/>
          <p:cNvSpPr/>
          <p:nvPr/>
        </p:nvSpPr>
        <p:spPr>
          <a:xfrm>
            <a:off x="548640" y="457200"/>
            <a:ext cx="736092"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UNITS</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Fixed vs relative units</a:t>
            </a:r>
            <a:endParaRPr lang="en-US" sz="3400" dirty="0"/>
          </a:p>
        </p:txBody>
      </p:sp>
      <p:sp>
        <p:nvSpPr>
          <p:cNvPr id="5" name="Shape 3"/>
          <p:cNvSpPr/>
          <p:nvPr/>
        </p:nvSpPr>
        <p:spPr>
          <a:xfrm>
            <a:off x="548640" y="1828800"/>
            <a:ext cx="5394960" cy="3931920"/>
          </a:xfrm>
          <a:prstGeom prst="roundRect">
            <a:avLst>
              <a:gd name="adj" fmla="val 2791"/>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822960" y="2057400"/>
            <a:ext cx="640080" cy="640080"/>
          </a:xfrm>
          <a:prstGeom prst="ellipse">
            <a:avLst/>
          </a:prstGeom>
          <a:solidFill>
            <a:srgbClr val="E5EEFF"/>
          </a:solidFill>
          <a:ln/>
        </p:spPr>
      </p:sp>
      <p:pic>
        <p:nvPicPr>
          <p:cNvPr id="7" name="Image 0" descr="preencoded.png">    </p:cNvPr>
          <p:cNvPicPr>
            <a:picLocks noChangeAspect="1"/>
          </p:cNvPicPr>
          <p:nvPr/>
        </p:nvPicPr>
        <p:blipFill>
          <a:blip r:embed="rId1"/>
          <a:stretch>
            <a:fillRect/>
          </a:stretch>
        </p:blipFill>
        <p:spPr>
          <a:xfrm>
            <a:off x="989381" y="2223821"/>
            <a:ext cx="307238" cy="307238"/>
          </a:xfrm>
          <a:prstGeom prst="rect">
            <a:avLst/>
          </a:prstGeom>
        </p:spPr>
      </p:pic>
      <p:sp>
        <p:nvSpPr>
          <p:cNvPr id="8" name="Text 5"/>
          <p:cNvSpPr/>
          <p:nvPr/>
        </p:nvSpPr>
        <p:spPr>
          <a:xfrm>
            <a:off x="1600200" y="2103120"/>
            <a:ext cx="4114800" cy="457200"/>
          </a:xfrm>
          <a:prstGeom prst="rect">
            <a:avLst/>
          </a:prstGeom>
          <a:noFill/>
          <a:ln/>
        </p:spPr>
        <p:txBody>
          <a:bodyPr wrap="square" lIns="0" tIns="0" rIns="0" bIns="0" rtlCol="0" anchor="ctr"/>
          <a:lstStyle/>
          <a:p>
            <a:pPr indent="0" marL="0">
              <a:buNone/>
            </a:pPr>
            <a:r>
              <a:rPr lang="en-US" sz="2000" b="1" dirty="0">
                <a:solidFill>
                  <a:srgbClr val="2563EB"/>
                </a:solidFill>
                <a:latin typeface="Calibri" pitchFamily="34" charset="0"/>
                <a:ea typeface="Calibri" pitchFamily="34" charset="-122"/>
                <a:cs typeface="Calibri" pitchFamily="34" charset="-120"/>
              </a:rPr>
              <a:t>Fixed: px</a:t>
            </a:r>
            <a:endParaRPr lang="en-US" sz="2000" dirty="0"/>
          </a:p>
        </p:txBody>
      </p:sp>
      <p:sp>
        <p:nvSpPr>
          <p:cNvPr id="9" name="Text 6"/>
          <p:cNvSpPr/>
          <p:nvPr/>
        </p:nvSpPr>
        <p:spPr>
          <a:xfrm>
            <a:off x="822960" y="2880360"/>
            <a:ext cx="4846320" cy="640080"/>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Like a reserved seat, coach B3 seat 32. It does not move whatever the screen does.</a:t>
            </a:r>
            <a:endParaRPr lang="en-US" sz="1350" dirty="0"/>
          </a:p>
        </p:txBody>
      </p:sp>
      <p:sp>
        <p:nvSpPr>
          <p:cNvPr id="10" name="Text 7"/>
          <p:cNvSpPr/>
          <p:nvPr/>
        </p:nvSpPr>
        <p:spPr>
          <a:xfrm>
            <a:off x="868680" y="3657600"/>
            <a:ext cx="4754880" cy="1920240"/>
          </a:xfrm>
          <a:prstGeom prst="rect">
            <a:avLst/>
          </a:prstGeom>
          <a:noFill/>
          <a:ln/>
        </p:spPr>
        <p:txBody>
          <a:bodyPr wrap="square" lIns="0" tIns="0" rIns="0" bIns="0" rtlCol="0" anchor="t"/>
          <a:lstStyle/>
          <a:p>
            <a:pPr algn="l" marL="177800" indent="-177800">
              <a:spcAft>
                <a:spcPts val="700"/>
              </a:spcAft>
              <a:buSzPct val="100000"/>
              <a:buChar char="•"/>
            </a:pPr>
            <a:r>
              <a:rPr lang="en-US" sz="1350" dirty="0">
                <a:solidFill>
                  <a:srgbClr val="0F172A"/>
                </a:solidFill>
                <a:latin typeface="Calibri" pitchFamily="34" charset="0"/>
                <a:ea typeface="Calibri" pitchFamily="34" charset="-122"/>
                <a:cs typeface="Calibri" pitchFamily="34" charset="-120"/>
              </a:rPr>
              <a:t>px  one dot on the screen</a:t>
            </a:r>
            <a:endParaRPr lang="en-US" sz="1350" dirty="0"/>
          </a:p>
          <a:p>
            <a:pPr algn="l" marL="177800" indent="-177800">
              <a:spcAft>
                <a:spcPts val="700"/>
              </a:spcAft>
              <a:buSzPct val="100000"/>
              <a:buChar char="•"/>
            </a:pPr>
            <a:r>
              <a:rPr lang="en-US" sz="1350" dirty="0">
                <a:solidFill>
                  <a:srgbClr val="0F172A"/>
                </a:solidFill>
                <a:latin typeface="Calibri" pitchFamily="34" charset="0"/>
                <a:ea typeface="Calibri" pitchFamily="34" charset="-122"/>
                <a:cs typeface="Calibri" pitchFamily="34" charset="-120"/>
              </a:rPr>
              <a:t>Great for precise, fixed layouts</a:t>
            </a:r>
            <a:endParaRPr lang="en-US" sz="1350" dirty="0"/>
          </a:p>
          <a:p>
            <a:pPr algn="l" marL="177800" indent="-177800">
              <a:spcAft>
                <a:spcPts val="700"/>
              </a:spcAft>
              <a:buSzPct val="100000"/>
              <a:buChar char="•"/>
            </a:pPr>
            <a:r>
              <a:rPr lang="en-US" sz="1350" dirty="0">
                <a:solidFill>
                  <a:srgbClr val="0F172A"/>
                </a:solidFill>
                <a:latin typeface="Calibri" pitchFamily="34" charset="0"/>
                <a:ea typeface="Calibri" pitchFamily="34" charset="-122"/>
                <a:cs typeface="Calibri" pitchFamily="34" charset="-120"/>
              </a:rPr>
              <a:t>border widths, exact button sizes</a:t>
            </a:r>
            <a:endParaRPr lang="en-US" sz="1350" dirty="0"/>
          </a:p>
        </p:txBody>
      </p:sp>
      <p:sp>
        <p:nvSpPr>
          <p:cNvPr id="11" name="Shape 8"/>
          <p:cNvSpPr/>
          <p:nvPr/>
        </p:nvSpPr>
        <p:spPr>
          <a:xfrm>
            <a:off x="6263640" y="1828800"/>
            <a:ext cx="5394960" cy="3931920"/>
          </a:xfrm>
          <a:prstGeom prst="roundRect">
            <a:avLst>
              <a:gd name="adj" fmla="val 2791"/>
            </a:avLst>
          </a:prstGeom>
          <a:solidFill>
            <a:srgbClr val="F1FBF4"/>
          </a:solidFill>
          <a:ln w="12700">
            <a:solidFill>
              <a:srgbClr val="22C55E"/>
            </a:solidFill>
            <a:prstDash val="solid"/>
          </a:ln>
          <a:effectLst>
            <a:outerShdw sx="100000" sy="100000" kx="0" ky="0" algn="bl" rotWithShape="0" blurRad="101600" dist="38100" dir="5400000">
              <a:srgbClr val="0B1220">
                <a:alpha val="18000"/>
              </a:srgbClr>
            </a:outerShdw>
          </a:effectLst>
        </p:spPr>
      </p:sp>
      <p:sp>
        <p:nvSpPr>
          <p:cNvPr id="12" name="Shape 9"/>
          <p:cNvSpPr/>
          <p:nvPr/>
        </p:nvSpPr>
        <p:spPr>
          <a:xfrm>
            <a:off x="6537960" y="2057400"/>
            <a:ext cx="640080" cy="640080"/>
          </a:xfrm>
          <a:prstGeom prst="ellipse">
            <a:avLst/>
          </a:prstGeom>
          <a:solidFill>
            <a:srgbClr val="DCFCE7"/>
          </a:solidFill>
          <a:ln/>
        </p:spPr>
      </p:sp>
      <p:pic>
        <p:nvPicPr>
          <p:cNvPr id="13" name="Image 1" descr="preencoded.png">    </p:cNvPr>
          <p:cNvPicPr>
            <a:picLocks noChangeAspect="1"/>
          </p:cNvPicPr>
          <p:nvPr/>
        </p:nvPicPr>
        <p:blipFill>
          <a:blip r:embed="rId2"/>
          <a:stretch>
            <a:fillRect/>
          </a:stretch>
        </p:blipFill>
        <p:spPr>
          <a:xfrm>
            <a:off x="6704381" y="2223821"/>
            <a:ext cx="307238" cy="307238"/>
          </a:xfrm>
          <a:prstGeom prst="rect">
            <a:avLst/>
          </a:prstGeom>
        </p:spPr>
      </p:pic>
      <p:sp>
        <p:nvSpPr>
          <p:cNvPr id="14" name="Text 10"/>
          <p:cNvSpPr/>
          <p:nvPr/>
        </p:nvSpPr>
        <p:spPr>
          <a:xfrm>
            <a:off x="7315200" y="2103120"/>
            <a:ext cx="4206240" cy="457200"/>
          </a:xfrm>
          <a:prstGeom prst="rect">
            <a:avLst/>
          </a:prstGeom>
          <a:noFill/>
          <a:ln/>
        </p:spPr>
        <p:txBody>
          <a:bodyPr wrap="square" lIns="0" tIns="0" rIns="0" bIns="0" rtlCol="0" anchor="ctr"/>
          <a:lstStyle/>
          <a:p>
            <a:pPr indent="0" marL="0">
              <a:buNone/>
            </a:pPr>
            <a:r>
              <a:rPr lang="en-US" sz="2000" b="1" dirty="0">
                <a:solidFill>
                  <a:srgbClr val="14532D"/>
                </a:solidFill>
                <a:latin typeface="Calibri" pitchFamily="34" charset="0"/>
                <a:ea typeface="Calibri" pitchFamily="34" charset="-122"/>
                <a:cs typeface="Calibri" pitchFamily="34" charset="-120"/>
              </a:rPr>
              <a:t>Relative: %, vw, vh, rem</a:t>
            </a:r>
            <a:endParaRPr lang="en-US" sz="2000" dirty="0"/>
          </a:p>
        </p:txBody>
      </p:sp>
      <p:sp>
        <p:nvSpPr>
          <p:cNvPr id="15" name="Text 11"/>
          <p:cNvSpPr/>
          <p:nvPr/>
        </p:nvSpPr>
        <p:spPr>
          <a:xfrm>
            <a:off x="6537960" y="2880360"/>
            <a:ext cx="4846320" cy="640080"/>
          </a:xfrm>
          <a:prstGeom prst="rect">
            <a:avLst/>
          </a:prstGeom>
          <a:noFill/>
          <a:ln/>
        </p:spPr>
        <p:txBody>
          <a:bodyPr wrap="square" lIns="0" tIns="0" rIns="0" bIns="0" rtlCol="0" anchor="ctr"/>
          <a:lstStyle/>
          <a:p>
            <a:pPr indent="0" marL="0">
              <a:buNone/>
            </a:pPr>
            <a:r>
              <a:rPr lang="en-US" sz="1350" dirty="0">
                <a:solidFill>
                  <a:srgbClr val="0F172A"/>
                </a:solidFill>
                <a:latin typeface="Calibri" pitchFamily="34" charset="0"/>
                <a:ea typeface="Calibri" pitchFamily="34" charset="-122"/>
                <a:cs typeface="Calibri" pitchFamily="34" charset="-120"/>
              </a:rPr>
              <a:t>Like percentage of marks. The value depends on something else, so it adapts.</a:t>
            </a:r>
            <a:endParaRPr lang="en-US" sz="1350" dirty="0"/>
          </a:p>
        </p:txBody>
      </p:sp>
      <p:sp>
        <p:nvSpPr>
          <p:cNvPr id="16" name="Text 12"/>
          <p:cNvSpPr/>
          <p:nvPr/>
        </p:nvSpPr>
        <p:spPr>
          <a:xfrm>
            <a:off x="6583680" y="3657600"/>
            <a:ext cx="4846320" cy="1920240"/>
          </a:xfrm>
          <a:prstGeom prst="rect">
            <a:avLst/>
          </a:prstGeom>
          <a:noFill/>
          <a:ln/>
        </p:spPr>
        <p:txBody>
          <a:bodyPr wrap="square" lIns="0" tIns="0" rIns="0" bIns="0" rtlCol="0" anchor="t"/>
          <a:lstStyle/>
          <a:p>
            <a:pPr algn="l" marL="177800" indent="-177800">
              <a:spcAft>
                <a:spcPts val="700"/>
              </a:spcAft>
              <a:buSzPct val="100000"/>
              <a:buChar char="•"/>
            </a:pPr>
            <a:r>
              <a:rPr lang="en-US" sz="1350" dirty="0">
                <a:solidFill>
                  <a:srgbClr val="0F172A"/>
                </a:solidFill>
                <a:latin typeface="Calibri" pitchFamily="34" charset="0"/>
                <a:ea typeface="Calibri" pitchFamily="34" charset="-122"/>
                <a:cs typeface="Calibri" pitchFamily="34" charset="-120"/>
              </a:rPr>
              <a:t>% relative to the parent element</a:t>
            </a:r>
            <a:endParaRPr lang="en-US" sz="1350" dirty="0"/>
          </a:p>
          <a:p>
            <a:pPr algn="l" marL="177800" indent="-177800">
              <a:spcAft>
                <a:spcPts val="700"/>
              </a:spcAft>
              <a:buSzPct val="100000"/>
              <a:buChar char="•"/>
            </a:pPr>
            <a:r>
              <a:rPr lang="en-US" sz="1350" dirty="0">
                <a:solidFill>
                  <a:srgbClr val="0F172A"/>
                </a:solidFill>
                <a:latin typeface="Calibri" pitchFamily="34" charset="0"/>
                <a:ea typeface="Calibri" pitchFamily="34" charset="-122"/>
                <a:cs typeface="Calibri" pitchFamily="34" charset="-120"/>
              </a:rPr>
              <a:t>vw / vh relative to the viewport</a:t>
            </a:r>
            <a:endParaRPr lang="en-US" sz="1350" dirty="0"/>
          </a:p>
          <a:p>
            <a:pPr algn="l" marL="177800" indent="-177800">
              <a:spcAft>
                <a:spcPts val="700"/>
              </a:spcAft>
              <a:buSzPct val="100000"/>
              <a:buChar char="•"/>
            </a:pPr>
            <a:r>
              <a:rPr lang="en-US" sz="1350" dirty="0">
                <a:solidFill>
                  <a:srgbClr val="0F172A"/>
                </a:solidFill>
                <a:latin typeface="Calibri" pitchFamily="34" charset="0"/>
                <a:ea typeface="Calibri" pitchFamily="34" charset="-122"/>
                <a:cs typeface="Calibri" pitchFamily="34" charset="-120"/>
              </a:rPr>
              <a:t>rem relative to the root font size</a:t>
            </a:r>
            <a:endParaRPr lang="en-US" sz="1350" dirty="0"/>
          </a:p>
        </p:txBody>
      </p:sp>
      <p:sp>
        <p:nvSpPr>
          <p:cNvPr id="17" name="Text 13"/>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18" name="Text 14"/>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736092" cy="310896"/>
          </a:xfrm>
          <a:prstGeom prst="roundRect">
            <a:avLst>
              <a:gd name="adj" fmla="val 50000"/>
            </a:avLst>
          </a:prstGeom>
          <a:solidFill>
            <a:srgbClr val="2563EB"/>
          </a:solidFill>
          <a:ln/>
        </p:spPr>
      </p:sp>
      <p:sp>
        <p:nvSpPr>
          <p:cNvPr id="3" name="Text 1"/>
          <p:cNvSpPr/>
          <p:nvPr/>
        </p:nvSpPr>
        <p:spPr>
          <a:xfrm>
            <a:off x="548640" y="457200"/>
            <a:ext cx="736092"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UNITS</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The units you will use daily</a:t>
            </a:r>
            <a:endParaRPr lang="en-US" sz="3400" dirty="0"/>
          </a:p>
        </p:txBody>
      </p:sp>
      <p:sp>
        <p:nvSpPr>
          <p:cNvPr id="5" name="Shape 3"/>
          <p:cNvSpPr/>
          <p:nvPr/>
        </p:nvSpPr>
        <p:spPr>
          <a:xfrm>
            <a:off x="548640" y="1920240"/>
            <a:ext cx="2697480" cy="3703320"/>
          </a:xfrm>
          <a:prstGeom prst="roundRect">
            <a:avLst>
              <a:gd name="adj" fmla="val 406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777240" y="2176272"/>
            <a:ext cx="2240280" cy="685800"/>
          </a:xfrm>
          <a:prstGeom prst="roundRect">
            <a:avLst>
              <a:gd name="adj" fmla="val 10667"/>
            </a:avLst>
          </a:prstGeom>
          <a:solidFill>
            <a:srgbClr val="2563EB"/>
          </a:solidFill>
          <a:ln/>
        </p:spPr>
      </p:sp>
      <p:sp>
        <p:nvSpPr>
          <p:cNvPr id="7" name="Text 5"/>
          <p:cNvSpPr/>
          <p:nvPr/>
        </p:nvSpPr>
        <p:spPr>
          <a:xfrm>
            <a:off x="777240" y="2176272"/>
            <a:ext cx="224028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px</a:t>
            </a:r>
            <a:endParaRPr lang="en-US" sz="2200" dirty="0"/>
          </a:p>
        </p:txBody>
      </p:sp>
      <p:sp>
        <p:nvSpPr>
          <p:cNvPr id="8" name="Text 6"/>
          <p:cNvSpPr/>
          <p:nvPr/>
        </p:nvSpPr>
        <p:spPr>
          <a:xfrm>
            <a:off x="749808" y="3017520"/>
            <a:ext cx="2295144" cy="960120"/>
          </a:xfrm>
          <a:prstGeom prst="rect">
            <a:avLst/>
          </a:prstGeom>
          <a:noFill/>
          <a:ln/>
        </p:spPr>
        <p:txBody>
          <a:bodyPr wrap="square" lIns="0" tIns="0" rIns="0" bIns="0" rtlCol="0" anchor="t"/>
          <a:lstStyle/>
          <a:p>
            <a:pPr algn="ctr" indent="0" marL="0">
              <a:buNone/>
            </a:pPr>
            <a:r>
              <a:rPr lang="en-US" sz="1250" dirty="0">
                <a:solidFill>
                  <a:srgbClr val="0F172A"/>
                </a:solidFill>
                <a:latin typeface="Calibri" pitchFamily="34" charset="0"/>
                <a:ea typeface="Calibri" pitchFamily="34" charset="-122"/>
                <a:cs typeface="Calibri" pitchFamily="34" charset="-120"/>
              </a:rPr>
              <a:t>Absolute dots. font-size: 16px is 16 dots tall.</a:t>
            </a:r>
            <a:endParaRPr lang="en-US" sz="1250" dirty="0"/>
          </a:p>
        </p:txBody>
      </p:sp>
      <p:sp>
        <p:nvSpPr>
          <p:cNvPr id="9" name="Shape 7"/>
          <p:cNvSpPr/>
          <p:nvPr/>
        </p:nvSpPr>
        <p:spPr>
          <a:xfrm>
            <a:off x="777240" y="4069080"/>
            <a:ext cx="2240280" cy="457200"/>
          </a:xfrm>
          <a:prstGeom prst="roundRect">
            <a:avLst>
              <a:gd name="adj" fmla="val 12000"/>
            </a:avLst>
          </a:prstGeom>
          <a:solidFill>
            <a:srgbClr val="0C1526"/>
          </a:solidFill>
          <a:ln/>
        </p:spPr>
      </p:sp>
      <p:sp>
        <p:nvSpPr>
          <p:cNvPr id="10" name="Text 8"/>
          <p:cNvSpPr/>
          <p:nvPr/>
        </p:nvSpPr>
        <p:spPr>
          <a:xfrm>
            <a:off x="777240" y="4069080"/>
            <a:ext cx="2240280" cy="457200"/>
          </a:xfrm>
          <a:prstGeom prst="rect">
            <a:avLst/>
          </a:prstGeom>
          <a:noFill/>
          <a:ln/>
        </p:spPr>
        <p:txBody>
          <a:bodyPr wrap="square" lIns="0" tIns="0" rIns="0" bIns="0" rtlCol="0" anchor="ctr"/>
          <a:lstStyle/>
          <a:p>
            <a:pPr algn="ctr" indent="0" marL="0">
              <a:buNone/>
            </a:pPr>
            <a:r>
              <a:rPr lang="en-US" sz="1250" dirty="0">
                <a:solidFill>
                  <a:srgbClr val="FBD34D"/>
                </a:solidFill>
                <a:latin typeface="Courier New" pitchFamily="34" charset="0"/>
                <a:ea typeface="Courier New" pitchFamily="34" charset="-122"/>
                <a:cs typeface="Courier New" pitchFamily="34" charset="-120"/>
              </a:rPr>
              <a:t>width: 200px;</a:t>
            </a:r>
            <a:endParaRPr lang="en-US" sz="1250" dirty="0"/>
          </a:p>
        </p:txBody>
      </p:sp>
      <p:sp>
        <p:nvSpPr>
          <p:cNvPr id="11" name="Text 9"/>
          <p:cNvSpPr/>
          <p:nvPr/>
        </p:nvSpPr>
        <p:spPr>
          <a:xfrm>
            <a:off x="749808" y="4663440"/>
            <a:ext cx="2295144" cy="822960"/>
          </a:xfrm>
          <a:prstGeom prst="rect">
            <a:avLst/>
          </a:prstGeom>
          <a:noFill/>
          <a:ln/>
        </p:spPr>
        <p:txBody>
          <a:bodyPr wrap="square" lIns="0" tIns="0" rIns="0" bIns="0" rtlCol="0" anchor="t"/>
          <a:lstStyle/>
          <a:p>
            <a:pPr algn="ctr" indent="0" marL="0">
              <a:buNone/>
            </a:pPr>
            <a:r>
              <a:rPr lang="en-US" sz="1150" i="1" dirty="0">
                <a:solidFill>
                  <a:srgbClr val="64748B"/>
                </a:solidFill>
                <a:latin typeface="Calibri" pitchFamily="34" charset="0"/>
                <a:ea typeface="Calibri" pitchFamily="34" charset="-122"/>
                <a:cs typeface="Calibri" pitchFamily="34" charset="-120"/>
              </a:rPr>
              <a:t>A reserved seat number.</a:t>
            </a:r>
            <a:endParaRPr lang="en-US" sz="1150" dirty="0"/>
          </a:p>
        </p:txBody>
      </p:sp>
      <p:sp>
        <p:nvSpPr>
          <p:cNvPr id="12" name="Shape 10"/>
          <p:cNvSpPr/>
          <p:nvPr/>
        </p:nvSpPr>
        <p:spPr>
          <a:xfrm>
            <a:off x="3447288" y="1920240"/>
            <a:ext cx="2697480" cy="3703320"/>
          </a:xfrm>
          <a:prstGeom prst="roundRect">
            <a:avLst>
              <a:gd name="adj" fmla="val 406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3" name="Shape 11"/>
          <p:cNvSpPr/>
          <p:nvPr/>
        </p:nvSpPr>
        <p:spPr>
          <a:xfrm>
            <a:off x="3675888" y="2176272"/>
            <a:ext cx="2240280" cy="685800"/>
          </a:xfrm>
          <a:prstGeom prst="roundRect">
            <a:avLst>
              <a:gd name="adj" fmla="val 10667"/>
            </a:avLst>
          </a:prstGeom>
          <a:solidFill>
            <a:srgbClr val="8B5CF6"/>
          </a:solidFill>
          <a:ln/>
        </p:spPr>
      </p:sp>
      <p:sp>
        <p:nvSpPr>
          <p:cNvPr id="14" name="Text 12"/>
          <p:cNvSpPr/>
          <p:nvPr/>
        </p:nvSpPr>
        <p:spPr>
          <a:xfrm>
            <a:off x="3675888" y="2176272"/>
            <a:ext cx="224028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a:t>
            </a:r>
            <a:endParaRPr lang="en-US" sz="2200" dirty="0"/>
          </a:p>
        </p:txBody>
      </p:sp>
      <p:sp>
        <p:nvSpPr>
          <p:cNvPr id="15" name="Text 13"/>
          <p:cNvSpPr/>
          <p:nvPr/>
        </p:nvSpPr>
        <p:spPr>
          <a:xfrm>
            <a:off x="3648456" y="3017520"/>
            <a:ext cx="2295144" cy="960120"/>
          </a:xfrm>
          <a:prstGeom prst="rect">
            <a:avLst/>
          </a:prstGeom>
          <a:noFill/>
          <a:ln/>
        </p:spPr>
        <p:txBody>
          <a:bodyPr wrap="square" lIns="0" tIns="0" rIns="0" bIns="0" rtlCol="0" anchor="t"/>
          <a:lstStyle/>
          <a:p>
            <a:pPr algn="ctr" indent="0" marL="0">
              <a:buNone/>
            </a:pPr>
            <a:r>
              <a:rPr lang="en-US" sz="1250" dirty="0">
                <a:solidFill>
                  <a:srgbClr val="0F172A"/>
                </a:solidFill>
                <a:latin typeface="Calibri" pitchFamily="34" charset="0"/>
                <a:ea typeface="Calibri" pitchFamily="34" charset="-122"/>
                <a:cs typeface="Calibri" pitchFamily="34" charset="-120"/>
              </a:rPr>
              <a:t>A share of the parent's size.</a:t>
            </a:r>
            <a:endParaRPr lang="en-US" sz="1250" dirty="0"/>
          </a:p>
        </p:txBody>
      </p:sp>
      <p:sp>
        <p:nvSpPr>
          <p:cNvPr id="16" name="Shape 14"/>
          <p:cNvSpPr/>
          <p:nvPr/>
        </p:nvSpPr>
        <p:spPr>
          <a:xfrm>
            <a:off x="3675888" y="4069080"/>
            <a:ext cx="2240280" cy="457200"/>
          </a:xfrm>
          <a:prstGeom prst="roundRect">
            <a:avLst>
              <a:gd name="adj" fmla="val 12000"/>
            </a:avLst>
          </a:prstGeom>
          <a:solidFill>
            <a:srgbClr val="0C1526"/>
          </a:solidFill>
          <a:ln/>
        </p:spPr>
      </p:sp>
      <p:sp>
        <p:nvSpPr>
          <p:cNvPr id="17" name="Text 15"/>
          <p:cNvSpPr/>
          <p:nvPr/>
        </p:nvSpPr>
        <p:spPr>
          <a:xfrm>
            <a:off x="3675888" y="4069080"/>
            <a:ext cx="2240280" cy="457200"/>
          </a:xfrm>
          <a:prstGeom prst="rect">
            <a:avLst/>
          </a:prstGeom>
          <a:noFill/>
          <a:ln/>
        </p:spPr>
        <p:txBody>
          <a:bodyPr wrap="square" lIns="0" tIns="0" rIns="0" bIns="0" rtlCol="0" anchor="ctr"/>
          <a:lstStyle/>
          <a:p>
            <a:pPr algn="ctr" indent="0" marL="0">
              <a:buNone/>
            </a:pPr>
            <a:r>
              <a:rPr lang="en-US" sz="1250" dirty="0">
                <a:solidFill>
                  <a:srgbClr val="FBD34D"/>
                </a:solidFill>
                <a:latin typeface="Courier New" pitchFamily="34" charset="0"/>
                <a:ea typeface="Courier New" pitchFamily="34" charset="-122"/>
                <a:cs typeface="Courier New" pitchFamily="34" charset="-120"/>
              </a:rPr>
              <a:t>width: 50%;</a:t>
            </a:r>
            <a:endParaRPr lang="en-US" sz="1250" dirty="0"/>
          </a:p>
        </p:txBody>
      </p:sp>
      <p:sp>
        <p:nvSpPr>
          <p:cNvPr id="18" name="Text 16"/>
          <p:cNvSpPr/>
          <p:nvPr/>
        </p:nvSpPr>
        <p:spPr>
          <a:xfrm>
            <a:off x="3648456" y="4663440"/>
            <a:ext cx="2295144" cy="822960"/>
          </a:xfrm>
          <a:prstGeom prst="rect">
            <a:avLst/>
          </a:prstGeom>
          <a:noFill/>
          <a:ln/>
        </p:spPr>
        <p:txBody>
          <a:bodyPr wrap="square" lIns="0" tIns="0" rIns="0" bIns="0" rtlCol="0" anchor="t"/>
          <a:lstStyle/>
          <a:p>
            <a:pPr algn="ctr" indent="0" marL="0">
              <a:buNone/>
            </a:pPr>
            <a:r>
              <a:rPr lang="en-US" sz="1150" i="1" dirty="0">
                <a:solidFill>
                  <a:srgbClr val="64748B"/>
                </a:solidFill>
                <a:latin typeface="Calibri" pitchFamily="34" charset="0"/>
                <a:ea typeface="Calibri" pitchFamily="34" charset="-122"/>
                <a:cs typeface="Calibri" pitchFamily="34" charset="-120"/>
              </a:rPr>
              <a:t>Percentage of total marks.</a:t>
            </a:r>
            <a:endParaRPr lang="en-US" sz="1150" dirty="0"/>
          </a:p>
        </p:txBody>
      </p:sp>
      <p:sp>
        <p:nvSpPr>
          <p:cNvPr id="19" name="Shape 17"/>
          <p:cNvSpPr/>
          <p:nvPr/>
        </p:nvSpPr>
        <p:spPr>
          <a:xfrm>
            <a:off x="6345936" y="1920240"/>
            <a:ext cx="2697480" cy="3703320"/>
          </a:xfrm>
          <a:prstGeom prst="roundRect">
            <a:avLst>
              <a:gd name="adj" fmla="val 406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0" name="Shape 18"/>
          <p:cNvSpPr/>
          <p:nvPr/>
        </p:nvSpPr>
        <p:spPr>
          <a:xfrm>
            <a:off x="6574536" y="2176272"/>
            <a:ext cx="2240280" cy="685800"/>
          </a:xfrm>
          <a:prstGeom prst="roundRect">
            <a:avLst>
              <a:gd name="adj" fmla="val 10667"/>
            </a:avLst>
          </a:prstGeom>
          <a:solidFill>
            <a:srgbClr val="FB7185"/>
          </a:solidFill>
          <a:ln/>
        </p:spPr>
      </p:sp>
      <p:sp>
        <p:nvSpPr>
          <p:cNvPr id="21" name="Text 19"/>
          <p:cNvSpPr/>
          <p:nvPr/>
        </p:nvSpPr>
        <p:spPr>
          <a:xfrm>
            <a:off x="6574536" y="2176272"/>
            <a:ext cx="224028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vw / vh</a:t>
            </a:r>
            <a:endParaRPr lang="en-US" sz="2200" dirty="0"/>
          </a:p>
        </p:txBody>
      </p:sp>
      <p:sp>
        <p:nvSpPr>
          <p:cNvPr id="22" name="Text 20"/>
          <p:cNvSpPr/>
          <p:nvPr/>
        </p:nvSpPr>
        <p:spPr>
          <a:xfrm>
            <a:off x="6547104" y="3017520"/>
            <a:ext cx="2295144" cy="960120"/>
          </a:xfrm>
          <a:prstGeom prst="rect">
            <a:avLst/>
          </a:prstGeom>
          <a:noFill/>
          <a:ln/>
        </p:spPr>
        <p:txBody>
          <a:bodyPr wrap="square" lIns="0" tIns="0" rIns="0" bIns="0" rtlCol="0" anchor="t"/>
          <a:lstStyle/>
          <a:p>
            <a:pPr algn="ctr" indent="0" marL="0">
              <a:buNone/>
            </a:pPr>
            <a:r>
              <a:rPr lang="en-US" sz="1250" dirty="0">
                <a:solidFill>
                  <a:srgbClr val="0F172A"/>
                </a:solidFill>
                <a:latin typeface="Calibri" pitchFamily="34" charset="0"/>
                <a:ea typeface="Calibri" pitchFamily="34" charset="-122"/>
                <a:cs typeface="Calibri" pitchFamily="34" charset="-120"/>
              </a:rPr>
              <a:t>A share of the viewport width or height.</a:t>
            </a:r>
            <a:endParaRPr lang="en-US" sz="1250" dirty="0"/>
          </a:p>
        </p:txBody>
      </p:sp>
      <p:sp>
        <p:nvSpPr>
          <p:cNvPr id="23" name="Shape 21"/>
          <p:cNvSpPr/>
          <p:nvPr/>
        </p:nvSpPr>
        <p:spPr>
          <a:xfrm>
            <a:off x="6574536" y="4069080"/>
            <a:ext cx="2240280" cy="457200"/>
          </a:xfrm>
          <a:prstGeom prst="roundRect">
            <a:avLst>
              <a:gd name="adj" fmla="val 12000"/>
            </a:avLst>
          </a:prstGeom>
          <a:solidFill>
            <a:srgbClr val="0C1526"/>
          </a:solidFill>
          <a:ln/>
        </p:spPr>
      </p:sp>
      <p:sp>
        <p:nvSpPr>
          <p:cNvPr id="24" name="Text 22"/>
          <p:cNvSpPr/>
          <p:nvPr/>
        </p:nvSpPr>
        <p:spPr>
          <a:xfrm>
            <a:off x="6574536" y="4069080"/>
            <a:ext cx="2240280" cy="457200"/>
          </a:xfrm>
          <a:prstGeom prst="rect">
            <a:avLst/>
          </a:prstGeom>
          <a:noFill/>
          <a:ln/>
        </p:spPr>
        <p:txBody>
          <a:bodyPr wrap="square" lIns="0" tIns="0" rIns="0" bIns="0" rtlCol="0" anchor="ctr"/>
          <a:lstStyle/>
          <a:p>
            <a:pPr algn="ctr" indent="0" marL="0">
              <a:buNone/>
            </a:pPr>
            <a:r>
              <a:rPr lang="en-US" sz="1250" dirty="0">
                <a:solidFill>
                  <a:srgbClr val="FBD34D"/>
                </a:solidFill>
                <a:latin typeface="Courier New" pitchFamily="34" charset="0"/>
                <a:ea typeface="Courier New" pitchFamily="34" charset="-122"/>
                <a:cs typeface="Courier New" pitchFamily="34" charset="-120"/>
              </a:rPr>
              <a:t>width: 50vw;</a:t>
            </a:r>
            <a:endParaRPr lang="en-US" sz="1250" dirty="0"/>
          </a:p>
        </p:txBody>
      </p:sp>
      <p:sp>
        <p:nvSpPr>
          <p:cNvPr id="25" name="Text 23"/>
          <p:cNvSpPr/>
          <p:nvPr/>
        </p:nvSpPr>
        <p:spPr>
          <a:xfrm>
            <a:off x="6547104" y="4663440"/>
            <a:ext cx="2295144" cy="822960"/>
          </a:xfrm>
          <a:prstGeom prst="rect">
            <a:avLst/>
          </a:prstGeom>
          <a:noFill/>
          <a:ln/>
        </p:spPr>
        <p:txBody>
          <a:bodyPr wrap="square" lIns="0" tIns="0" rIns="0" bIns="0" rtlCol="0" anchor="t"/>
          <a:lstStyle/>
          <a:p>
            <a:pPr algn="ctr" indent="0" marL="0">
              <a:buNone/>
            </a:pPr>
            <a:r>
              <a:rPr lang="en-US" sz="1150" i="1" dirty="0">
                <a:solidFill>
                  <a:srgbClr val="64748B"/>
                </a:solidFill>
                <a:latin typeface="Calibri" pitchFamily="34" charset="0"/>
                <a:ea typeface="Calibri" pitchFamily="34" charset="-122"/>
                <a:cs typeface="Calibri" pitchFamily="34" charset="-120"/>
              </a:rPr>
              <a:t>Fits any phone screen.</a:t>
            </a:r>
            <a:endParaRPr lang="en-US" sz="1150" dirty="0"/>
          </a:p>
        </p:txBody>
      </p:sp>
      <p:sp>
        <p:nvSpPr>
          <p:cNvPr id="26" name="Shape 24"/>
          <p:cNvSpPr/>
          <p:nvPr/>
        </p:nvSpPr>
        <p:spPr>
          <a:xfrm>
            <a:off x="9244584" y="1920240"/>
            <a:ext cx="2697480" cy="3703320"/>
          </a:xfrm>
          <a:prstGeom prst="roundRect">
            <a:avLst>
              <a:gd name="adj" fmla="val 4068"/>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27" name="Shape 25"/>
          <p:cNvSpPr/>
          <p:nvPr/>
        </p:nvSpPr>
        <p:spPr>
          <a:xfrm>
            <a:off x="9473184" y="2176272"/>
            <a:ext cx="2240280" cy="685800"/>
          </a:xfrm>
          <a:prstGeom prst="roundRect">
            <a:avLst>
              <a:gd name="adj" fmla="val 10667"/>
            </a:avLst>
          </a:prstGeom>
          <a:solidFill>
            <a:srgbClr val="22C55E"/>
          </a:solidFill>
          <a:ln/>
        </p:spPr>
      </p:sp>
      <p:sp>
        <p:nvSpPr>
          <p:cNvPr id="28" name="Text 26"/>
          <p:cNvSpPr/>
          <p:nvPr/>
        </p:nvSpPr>
        <p:spPr>
          <a:xfrm>
            <a:off x="9473184" y="2176272"/>
            <a:ext cx="224028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rem</a:t>
            </a:r>
            <a:endParaRPr lang="en-US" sz="2200" dirty="0"/>
          </a:p>
        </p:txBody>
      </p:sp>
      <p:sp>
        <p:nvSpPr>
          <p:cNvPr id="29" name="Text 27"/>
          <p:cNvSpPr/>
          <p:nvPr/>
        </p:nvSpPr>
        <p:spPr>
          <a:xfrm>
            <a:off x="9445752" y="3017520"/>
            <a:ext cx="2295144" cy="960120"/>
          </a:xfrm>
          <a:prstGeom prst="rect">
            <a:avLst/>
          </a:prstGeom>
          <a:noFill/>
          <a:ln/>
        </p:spPr>
        <p:txBody>
          <a:bodyPr wrap="square" lIns="0" tIns="0" rIns="0" bIns="0" rtlCol="0" anchor="t"/>
          <a:lstStyle/>
          <a:p>
            <a:pPr algn="ctr" indent="0" marL="0">
              <a:buNone/>
            </a:pPr>
            <a:r>
              <a:rPr lang="en-US" sz="1250" dirty="0">
                <a:solidFill>
                  <a:srgbClr val="0F172A"/>
                </a:solidFill>
                <a:latin typeface="Calibri" pitchFamily="34" charset="0"/>
                <a:ea typeface="Calibri" pitchFamily="34" charset="-122"/>
                <a:cs typeface="Calibri" pitchFamily="34" charset="-120"/>
              </a:rPr>
              <a:t>Relative to the root html font size.</a:t>
            </a:r>
            <a:endParaRPr lang="en-US" sz="1250" dirty="0"/>
          </a:p>
        </p:txBody>
      </p:sp>
      <p:sp>
        <p:nvSpPr>
          <p:cNvPr id="30" name="Shape 28"/>
          <p:cNvSpPr/>
          <p:nvPr/>
        </p:nvSpPr>
        <p:spPr>
          <a:xfrm>
            <a:off x="9473184" y="4069080"/>
            <a:ext cx="2240280" cy="457200"/>
          </a:xfrm>
          <a:prstGeom prst="roundRect">
            <a:avLst>
              <a:gd name="adj" fmla="val 12000"/>
            </a:avLst>
          </a:prstGeom>
          <a:solidFill>
            <a:srgbClr val="0C1526"/>
          </a:solidFill>
          <a:ln/>
        </p:spPr>
      </p:sp>
      <p:sp>
        <p:nvSpPr>
          <p:cNvPr id="31" name="Text 29"/>
          <p:cNvSpPr/>
          <p:nvPr/>
        </p:nvSpPr>
        <p:spPr>
          <a:xfrm>
            <a:off x="9473184" y="4069080"/>
            <a:ext cx="2240280" cy="457200"/>
          </a:xfrm>
          <a:prstGeom prst="rect">
            <a:avLst/>
          </a:prstGeom>
          <a:noFill/>
          <a:ln/>
        </p:spPr>
        <p:txBody>
          <a:bodyPr wrap="square" lIns="0" tIns="0" rIns="0" bIns="0" rtlCol="0" anchor="ctr"/>
          <a:lstStyle/>
          <a:p>
            <a:pPr algn="ctr" indent="0" marL="0">
              <a:buNone/>
            </a:pPr>
            <a:r>
              <a:rPr lang="en-US" sz="1250" dirty="0">
                <a:solidFill>
                  <a:srgbClr val="FBD34D"/>
                </a:solidFill>
                <a:latin typeface="Courier New" pitchFamily="34" charset="0"/>
                <a:ea typeface="Courier New" pitchFamily="34" charset="-122"/>
                <a:cs typeface="Courier New" pitchFamily="34" charset="-120"/>
              </a:rPr>
              <a:t>margin: 1rem;</a:t>
            </a:r>
            <a:endParaRPr lang="en-US" sz="1250" dirty="0"/>
          </a:p>
        </p:txBody>
      </p:sp>
      <p:sp>
        <p:nvSpPr>
          <p:cNvPr id="32" name="Text 30"/>
          <p:cNvSpPr/>
          <p:nvPr/>
        </p:nvSpPr>
        <p:spPr>
          <a:xfrm>
            <a:off x="9445752" y="4663440"/>
            <a:ext cx="2295144" cy="822960"/>
          </a:xfrm>
          <a:prstGeom prst="rect">
            <a:avLst/>
          </a:prstGeom>
          <a:noFill/>
          <a:ln/>
        </p:spPr>
        <p:txBody>
          <a:bodyPr wrap="square" lIns="0" tIns="0" rIns="0" bIns="0" rtlCol="0" anchor="t"/>
          <a:lstStyle/>
          <a:p>
            <a:pPr algn="ctr" indent="0" marL="0">
              <a:buNone/>
            </a:pPr>
            <a:r>
              <a:rPr lang="en-US" sz="1150" i="1" dirty="0">
                <a:solidFill>
                  <a:srgbClr val="64748B"/>
                </a:solidFill>
                <a:latin typeface="Calibri" pitchFamily="34" charset="0"/>
                <a:ea typeface="Calibri" pitchFamily="34" charset="-122"/>
                <a:cs typeface="Calibri" pitchFamily="34" charset="-120"/>
              </a:rPr>
              <a:t>Joint family scales from the eldest.</a:t>
            </a:r>
            <a:endParaRPr lang="en-US" sz="1150" dirty="0"/>
          </a:p>
        </p:txBody>
      </p:sp>
      <p:sp>
        <p:nvSpPr>
          <p:cNvPr id="33" name="Text 31"/>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34" name="Text 32"/>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F7FF"/>
        </a:solidFill>
      </p:bgPr>
    </p:bg>
    <p:spTree>
      <p:nvGrpSpPr>
        <p:cNvPr id="1" name=""/>
        <p:cNvGrpSpPr/>
        <p:nvPr/>
      </p:nvGrpSpPr>
      <p:grpSpPr>
        <a:xfrm>
          <a:off x="0" y="0"/>
          <a:ext cx="0" cy="0"/>
          <a:chOff x="0" y="0"/>
          <a:chExt cx="0" cy="0"/>
        </a:xfrm>
      </p:grpSpPr>
      <p:sp>
        <p:nvSpPr>
          <p:cNvPr id="2" name="Shape 0"/>
          <p:cNvSpPr/>
          <p:nvPr/>
        </p:nvSpPr>
        <p:spPr>
          <a:xfrm>
            <a:off x="548640" y="457200"/>
            <a:ext cx="832104" cy="310896"/>
          </a:xfrm>
          <a:prstGeom prst="roundRect">
            <a:avLst>
              <a:gd name="adj" fmla="val 50000"/>
            </a:avLst>
          </a:prstGeom>
          <a:solidFill>
            <a:srgbClr val="2563EB"/>
          </a:solidFill>
          <a:ln/>
        </p:spPr>
      </p:sp>
      <p:sp>
        <p:nvSpPr>
          <p:cNvPr id="3" name="Text 1"/>
          <p:cNvSpPr/>
          <p:nvPr/>
        </p:nvSpPr>
        <p:spPr>
          <a:xfrm>
            <a:off x="548640" y="457200"/>
            <a:ext cx="832104"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GOTCHA</a:t>
            </a:r>
            <a:endParaRPr lang="en-US" sz="1100" dirty="0"/>
          </a:p>
        </p:txBody>
      </p:sp>
      <p:sp>
        <p:nvSpPr>
          <p:cNvPr id="4" name="Text 2"/>
          <p:cNvSpPr/>
          <p:nvPr/>
        </p:nvSpPr>
        <p:spPr>
          <a:xfrm>
            <a:off x="548640" y="914400"/>
            <a:ext cx="11064240" cy="822960"/>
          </a:xfrm>
          <a:prstGeom prst="rect">
            <a:avLst/>
          </a:prstGeom>
          <a:noFill/>
          <a:ln/>
        </p:spPr>
        <p:txBody>
          <a:bodyPr wrap="square" lIns="0" tIns="0" rIns="0" bIns="0" rtlCol="0" anchor="t"/>
          <a:lstStyle/>
          <a:p>
            <a:pPr algn="l" indent="0" marL="0">
              <a:buNone/>
            </a:pPr>
            <a:r>
              <a:rPr lang="en-US" sz="3400" b="1" dirty="0">
                <a:solidFill>
                  <a:srgbClr val="0F172A"/>
                </a:solidFill>
                <a:latin typeface="Calibri" pitchFamily="34" charset="0"/>
                <a:ea typeface="Calibri" pitchFamily="34" charset="-122"/>
                <a:cs typeface="Calibri" pitchFamily="34" charset="-120"/>
              </a:rPr>
              <a:t>Percent: what is the base?</a:t>
            </a:r>
            <a:endParaRPr lang="en-US" sz="3400" dirty="0"/>
          </a:p>
        </p:txBody>
      </p:sp>
      <p:sp>
        <p:nvSpPr>
          <p:cNvPr id="5" name="Text 3"/>
          <p:cNvSpPr/>
          <p:nvPr/>
        </p:nvSpPr>
        <p:spPr>
          <a:xfrm>
            <a:off x="548640" y="1691640"/>
            <a:ext cx="10515600" cy="365760"/>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This trips everyone up. The base value depends on the property.</a:t>
            </a:r>
            <a:endParaRPr lang="en-US" sz="1500" dirty="0"/>
          </a:p>
        </p:txBody>
      </p:sp>
      <p:sp>
        <p:nvSpPr>
          <p:cNvPr id="6" name="Shape 4"/>
          <p:cNvSpPr/>
          <p:nvPr/>
        </p:nvSpPr>
        <p:spPr>
          <a:xfrm>
            <a:off x="548640" y="2286000"/>
            <a:ext cx="11109960" cy="1024128"/>
          </a:xfrm>
          <a:prstGeom prst="roundRect">
            <a:avLst>
              <a:gd name="adj" fmla="val 10714"/>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7" name="Shape 5"/>
          <p:cNvSpPr/>
          <p:nvPr/>
        </p:nvSpPr>
        <p:spPr>
          <a:xfrm>
            <a:off x="777240" y="2487168"/>
            <a:ext cx="621792" cy="621792"/>
          </a:xfrm>
          <a:prstGeom prst="ellipse">
            <a:avLst/>
          </a:prstGeom>
          <a:solidFill>
            <a:srgbClr val="E5EEFF"/>
          </a:solidFill>
          <a:ln/>
        </p:spPr>
      </p:sp>
      <p:pic>
        <p:nvPicPr>
          <p:cNvPr id="8" name="Image 0" descr="preencoded.png">    </p:cNvPr>
          <p:cNvPicPr>
            <a:picLocks noChangeAspect="1"/>
          </p:cNvPicPr>
          <p:nvPr/>
        </p:nvPicPr>
        <p:blipFill>
          <a:blip r:embed="rId1"/>
          <a:stretch>
            <a:fillRect/>
          </a:stretch>
        </p:blipFill>
        <p:spPr>
          <a:xfrm>
            <a:off x="938906" y="2648834"/>
            <a:ext cx="298460" cy="298460"/>
          </a:xfrm>
          <a:prstGeom prst="rect">
            <a:avLst/>
          </a:prstGeom>
        </p:spPr>
      </p:pic>
      <p:sp>
        <p:nvSpPr>
          <p:cNvPr id="9" name="Text 6"/>
          <p:cNvSpPr/>
          <p:nvPr/>
        </p:nvSpPr>
        <p:spPr>
          <a:xfrm>
            <a:off x="1554480" y="2414016"/>
            <a:ext cx="2743200" cy="77724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Font size</a:t>
            </a:r>
            <a:endParaRPr lang="en-US" sz="1600" dirty="0"/>
          </a:p>
        </p:txBody>
      </p:sp>
      <p:sp>
        <p:nvSpPr>
          <p:cNvPr id="10" name="Text 7"/>
          <p:cNvSpPr/>
          <p:nvPr/>
        </p:nvSpPr>
        <p:spPr>
          <a:xfrm>
            <a:off x="4389120" y="2414016"/>
            <a:ext cx="3108960" cy="777240"/>
          </a:xfrm>
          <a:prstGeom prst="rect">
            <a:avLst/>
          </a:prstGeom>
          <a:noFill/>
          <a:ln/>
        </p:spPr>
        <p:txBody>
          <a:bodyPr wrap="square" lIns="0" tIns="0" rIns="0" bIns="0" rtlCol="0" anchor="ctr"/>
          <a:lstStyle/>
          <a:p>
            <a:pPr algn="l" indent="0" marL="0">
              <a:buNone/>
            </a:pPr>
            <a:r>
              <a:rPr lang="en-US" sz="1350" b="1" dirty="0">
                <a:solidFill>
                  <a:srgbClr val="2563EB"/>
                </a:solidFill>
                <a:latin typeface="Calibri" pitchFamily="34" charset="0"/>
                <a:ea typeface="Calibri" pitchFamily="34" charset="-122"/>
                <a:cs typeface="Calibri" pitchFamily="34" charset="-120"/>
              </a:rPr>
              <a:t>Base: </a:t>
            </a:r>
            <a:pPr algn="l" indent="0" marL="0">
              <a:buNone/>
            </a:pPr>
            <a:r>
              <a:rPr lang="en-US" sz="1350" dirty="0">
                <a:solidFill>
                  <a:srgbClr val="0F172A"/>
                </a:solidFill>
                <a:latin typeface="Calibri" pitchFamily="34" charset="0"/>
                <a:ea typeface="Calibri" pitchFamily="34" charset="-122"/>
                <a:cs typeface="Calibri" pitchFamily="34" charset="-120"/>
              </a:rPr>
              <a:t>Parent's font size</a:t>
            </a:r>
            <a:endParaRPr lang="en-US" sz="1350" dirty="0"/>
          </a:p>
        </p:txBody>
      </p:sp>
      <p:sp>
        <p:nvSpPr>
          <p:cNvPr id="11" name="Text 8"/>
          <p:cNvSpPr/>
          <p:nvPr/>
        </p:nvSpPr>
        <p:spPr>
          <a:xfrm>
            <a:off x="7589520" y="2414016"/>
            <a:ext cx="3840480" cy="777240"/>
          </a:xfrm>
          <a:prstGeom prst="rect">
            <a:avLst/>
          </a:prstGeom>
          <a:noFill/>
          <a:ln/>
        </p:spPr>
        <p:txBody>
          <a:bodyPr wrap="square" lIns="0" tIns="0" rIns="0" bIns="0" rtlCol="0" anchor="ctr"/>
          <a:lstStyle/>
          <a:p>
            <a:pPr algn="l" indent="0" marL="0">
              <a:buNone/>
            </a:pPr>
            <a:r>
              <a:rPr lang="en-US" sz="1150" dirty="0">
                <a:solidFill>
                  <a:srgbClr val="64748B"/>
                </a:solidFill>
                <a:latin typeface="Courier New" pitchFamily="34" charset="0"/>
                <a:ea typeface="Courier New" pitchFamily="34" charset="-122"/>
                <a:cs typeface="Courier New" pitchFamily="34" charset="-120"/>
              </a:rPr>
              <a:t>parent 16px, child 150% = 24px</a:t>
            </a:r>
            <a:endParaRPr lang="en-US" sz="1150" dirty="0"/>
          </a:p>
        </p:txBody>
      </p:sp>
      <p:sp>
        <p:nvSpPr>
          <p:cNvPr id="12" name="Shape 9"/>
          <p:cNvSpPr/>
          <p:nvPr/>
        </p:nvSpPr>
        <p:spPr>
          <a:xfrm>
            <a:off x="548640" y="3456432"/>
            <a:ext cx="11109960" cy="1024128"/>
          </a:xfrm>
          <a:prstGeom prst="roundRect">
            <a:avLst>
              <a:gd name="adj" fmla="val 10714"/>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3" name="Shape 10"/>
          <p:cNvSpPr/>
          <p:nvPr/>
        </p:nvSpPr>
        <p:spPr>
          <a:xfrm>
            <a:off x="777240" y="3657600"/>
            <a:ext cx="621792" cy="621792"/>
          </a:xfrm>
          <a:prstGeom prst="ellipse">
            <a:avLst/>
          </a:prstGeom>
          <a:solidFill>
            <a:srgbClr val="E5EEFF"/>
          </a:solidFill>
          <a:ln/>
        </p:spPr>
      </p:sp>
      <p:pic>
        <p:nvPicPr>
          <p:cNvPr id="14" name="Image 1" descr="preencoded.png">    </p:cNvPr>
          <p:cNvPicPr>
            <a:picLocks noChangeAspect="1"/>
          </p:cNvPicPr>
          <p:nvPr/>
        </p:nvPicPr>
        <p:blipFill>
          <a:blip r:embed="rId2"/>
          <a:stretch>
            <a:fillRect/>
          </a:stretch>
        </p:blipFill>
        <p:spPr>
          <a:xfrm>
            <a:off x="938906" y="3819266"/>
            <a:ext cx="298460" cy="298460"/>
          </a:xfrm>
          <a:prstGeom prst="rect">
            <a:avLst/>
          </a:prstGeom>
        </p:spPr>
      </p:pic>
      <p:sp>
        <p:nvSpPr>
          <p:cNvPr id="15" name="Text 11"/>
          <p:cNvSpPr/>
          <p:nvPr/>
        </p:nvSpPr>
        <p:spPr>
          <a:xfrm>
            <a:off x="1554480" y="3584448"/>
            <a:ext cx="2743200" cy="77724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Padding &amp; margin</a:t>
            </a:r>
            <a:endParaRPr lang="en-US" sz="1600" dirty="0"/>
          </a:p>
        </p:txBody>
      </p:sp>
      <p:sp>
        <p:nvSpPr>
          <p:cNvPr id="16" name="Text 12"/>
          <p:cNvSpPr/>
          <p:nvPr/>
        </p:nvSpPr>
        <p:spPr>
          <a:xfrm>
            <a:off x="4389120" y="3584448"/>
            <a:ext cx="3108960" cy="777240"/>
          </a:xfrm>
          <a:prstGeom prst="rect">
            <a:avLst/>
          </a:prstGeom>
          <a:noFill/>
          <a:ln/>
        </p:spPr>
        <p:txBody>
          <a:bodyPr wrap="square" lIns="0" tIns="0" rIns="0" bIns="0" rtlCol="0" anchor="ctr"/>
          <a:lstStyle/>
          <a:p>
            <a:pPr algn="l" indent="0" marL="0">
              <a:buNone/>
            </a:pPr>
            <a:r>
              <a:rPr lang="en-US" sz="1350" b="1" dirty="0">
                <a:solidFill>
                  <a:srgbClr val="2563EB"/>
                </a:solidFill>
                <a:latin typeface="Calibri" pitchFamily="34" charset="0"/>
                <a:ea typeface="Calibri" pitchFamily="34" charset="-122"/>
                <a:cs typeface="Calibri" pitchFamily="34" charset="-120"/>
              </a:rPr>
              <a:t>Base: </a:t>
            </a:r>
            <a:pPr algn="l" indent="0" marL="0">
              <a:buNone/>
            </a:pPr>
            <a:r>
              <a:rPr lang="en-US" sz="1350" dirty="0">
                <a:solidFill>
                  <a:srgbClr val="0F172A"/>
                </a:solidFill>
                <a:latin typeface="Calibri" pitchFamily="34" charset="0"/>
                <a:ea typeface="Calibri" pitchFamily="34" charset="-122"/>
                <a:cs typeface="Calibri" pitchFamily="34" charset="-120"/>
              </a:rPr>
              <a:t>Parent's WIDTH (always)</a:t>
            </a:r>
            <a:endParaRPr lang="en-US" sz="1350" dirty="0"/>
          </a:p>
        </p:txBody>
      </p:sp>
      <p:sp>
        <p:nvSpPr>
          <p:cNvPr id="17" name="Text 13"/>
          <p:cNvSpPr/>
          <p:nvPr/>
        </p:nvSpPr>
        <p:spPr>
          <a:xfrm>
            <a:off x="7589520" y="3584448"/>
            <a:ext cx="3840480" cy="777240"/>
          </a:xfrm>
          <a:prstGeom prst="rect">
            <a:avLst/>
          </a:prstGeom>
          <a:noFill/>
          <a:ln/>
        </p:spPr>
        <p:txBody>
          <a:bodyPr wrap="square" lIns="0" tIns="0" rIns="0" bIns="0" rtlCol="0" anchor="ctr"/>
          <a:lstStyle/>
          <a:p>
            <a:pPr algn="l" indent="0" marL="0">
              <a:buNone/>
            </a:pPr>
            <a:r>
              <a:rPr lang="en-US" sz="1150" dirty="0">
                <a:solidFill>
                  <a:srgbClr val="64748B"/>
                </a:solidFill>
                <a:latin typeface="Courier New" pitchFamily="34" charset="0"/>
                <a:ea typeface="Courier New" pitchFamily="34" charset="-122"/>
                <a:cs typeface="Courier New" pitchFamily="34" charset="-120"/>
              </a:rPr>
              <a:t>parent width 500px, 10% = 50px on every side</a:t>
            </a:r>
            <a:endParaRPr lang="en-US" sz="1150" dirty="0"/>
          </a:p>
        </p:txBody>
      </p:sp>
      <p:sp>
        <p:nvSpPr>
          <p:cNvPr id="18" name="Shape 14"/>
          <p:cNvSpPr/>
          <p:nvPr/>
        </p:nvSpPr>
        <p:spPr>
          <a:xfrm>
            <a:off x="548640" y="4626864"/>
            <a:ext cx="11109960" cy="1024128"/>
          </a:xfrm>
          <a:prstGeom prst="roundRect">
            <a:avLst>
              <a:gd name="adj" fmla="val 10714"/>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9" name="Shape 15"/>
          <p:cNvSpPr/>
          <p:nvPr/>
        </p:nvSpPr>
        <p:spPr>
          <a:xfrm>
            <a:off x="777240" y="4828032"/>
            <a:ext cx="621792" cy="621792"/>
          </a:xfrm>
          <a:prstGeom prst="ellipse">
            <a:avLst/>
          </a:prstGeom>
          <a:solidFill>
            <a:srgbClr val="E5EEFF"/>
          </a:solidFill>
          <a:ln/>
        </p:spPr>
      </p:sp>
      <p:pic>
        <p:nvPicPr>
          <p:cNvPr id="20" name="Image 2" descr="preencoded.png">    </p:cNvPr>
          <p:cNvPicPr>
            <a:picLocks noChangeAspect="1"/>
          </p:cNvPicPr>
          <p:nvPr/>
        </p:nvPicPr>
        <p:blipFill>
          <a:blip r:embed="rId3"/>
          <a:stretch>
            <a:fillRect/>
          </a:stretch>
        </p:blipFill>
        <p:spPr>
          <a:xfrm>
            <a:off x="938906" y="4989698"/>
            <a:ext cx="298460" cy="298460"/>
          </a:xfrm>
          <a:prstGeom prst="rect">
            <a:avLst/>
          </a:prstGeom>
        </p:spPr>
      </p:pic>
      <p:sp>
        <p:nvSpPr>
          <p:cNvPr id="21" name="Text 16"/>
          <p:cNvSpPr/>
          <p:nvPr/>
        </p:nvSpPr>
        <p:spPr>
          <a:xfrm>
            <a:off x="1554480" y="4754880"/>
            <a:ext cx="2743200" cy="77724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Width &amp; height</a:t>
            </a:r>
            <a:endParaRPr lang="en-US" sz="1600" dirty="0"/>
          </a:p>
        </p:txBody>
      </p:sp>
      <p:sp>
        <p:nvSpPr>
          <p:cNvPr id="22" name="Text 17"/>
          <p:cNvSpPr/>
          <p:nvPr/>
        </p:nvSpPr>
        <p:spPr>
          <a:xfrm>
            <a:off x="4389120" y="4754880"/>
            <a:ext cx="3108960" cy="777240"/>
          </a:xfrm>
          <a:prstGeom prst="rect">
            <a:avLst/>
          </a:prstGeom>
          <a:noFill/>
          <a:ln/>
        </p:spPr>
        <p:txBody>
          <a:bodyPr wrap="square" lIns="0" tIns="0" rIns="0" bIns="0" rtlCol="0" anchor="ctr"/>
          <a:lstStyle/>
          <a:p>
            <a:pPr algn="l" indent="0" marL="0">
              <a:buNone/>
            </a:pPr>
            <a:r>
              <a:rPr lang="en-US" sz="1350" b="1" dirty="0">
                <a:solidFill>
                  <a:srgbClr val="2563EB"/>
                </a:solidFill>
                <a:latin typeface="Calibri" pitchFamily="34" charset="0"/>
                <a:ea typeface="Calibri" pitchFamily="34" charset="-122"/>
                <a:cs typeface="Calibri" pitchFamily="34" charset="-120"/>
              </a:rPr>
              <a:t>Base: </a:t>
            </a:r>
            <a:pPr algn="l" indent="0" marL="0">
              <a:buNone/>
            </a:pPr>
            <a:r>
              <a:rPr lang="en-US" sz="1350" dirty="0">
                <a:solidFill>
                  <a:srgbClr val="0F172A"/>
                </a:solidFill>
                <a:latin typeface="Calibri" pitchFamily="34" charset="0"/>
                <a:ea typeface="Calibri" pitchFamily="34" charset="-122"/>
                <a:cs typeface="Calibri" pitchFamily="34" charset="-120"/>
              </a:rPr>
              <a:t>Parent's matching dimension</a:t>
            </a:r>
            <a:endParaRPr lang="en-US" sz="1350" dirty="0"/>
          </a:p>
        </p:txBody>
      </p:sp>
      <p:sp>
        <p:nvSpPr>
          <p:cNvPr id="23" name="Text 18"/>
          <p:cNvSpPr/>
          <p:nvPr/>
        </p:nvSpPr>
        <p:spPr>
          <a:xfrm>
            <a:off x="7589520" y="4754880"/>
            <a:ext cx="3840480" cy="777240"/>
          </a:xfrm>
          <a:prstGeom prst="rect">
            <a:avLst/>
          </a:prstGeom>
          <a:noFill/>
          <a:ln/>
        </p:spPr>
        <p:txBody>
          <a:bodyPr wrap="square" lIns="0" tIns="0" rIns="0" bIns="0" rtlCol="0" anchor="ctr"/>
          <a:lstStyle/>
          <a:p>
            <a:pPr algn="l" indent="0" marL="0">
              <a:buNone/>
            </a:pPr>
            <a:r>
              <a:rPr lang="en-US" sz="1150" dirty="0">
                <a:solidFill>
                  <a:srgbClr val="64748B"/>
                </a:solidFill>
                <a:latin typeface="Courier New" pitchFamily="34" charset="0"/>
                <a:ea typeface="Courier New" pitchFamily="34" charset="-122"/>
                <a:cs typeface="Courier New" pitchFamily="34" charset="-120"/>
              </a:rPr>
              <a:t>parent 600px wide, 50% = 300px</a:t>
            </a:r>
            <a:endParaRPr lang="en-US" sz="1150" dirty="0"/>
          </a:p>
        </p:txBody>
      </p:sp>
      <p:sp>
        <p:nvSpPr>
          <p:cNvPr id="24" name="Shape 19"/>
          <p:cNvSpPr/>
          <p:nvPr/>
        </p:nvSpPr>
        <p:spPr>
          <a:xfrm>
            <a:off x="548640" y="5760720"/>
            <a:ext cx="11109960" cy="475488"/>
          </a:xfrm>
          <a:prstGeom prst="roundRect">
            <a:avLst>
              <a:gd name="adj" fmla="val 23077"/>
            </a:avLst>
          </a:prstGeom>
          <a:solidFill>
            <a:srgbClr val="FFF3E0"/>
          </a:solidFill>
          <a:ln/>
        </p:spPr>
      </p:sp>
      <p:sp>
        <p:nvSpPr>
          <p:cNvPr id="25" name="Shape 20"/>
          <p:cNvSpPr/>
          <p:nvPr/>
        </p:nvSpPr>
        <p:spPr>
          <a:xfrm>
            <a:off x="749808" y="5870448"/>
            <a:ext cx="256032" cy="256032"/>
          </a:xfrm>
          <a:prstGeom prst="ellipse">
            <a:avLst/>
          </a:prstGeom>
          <a:solidFill>
            <a:srgbClr val="F59E0B"/>
          </a:solidFill>
          <a:ln/>
        </p:spPr>
      </p:sp>
      <p:sp>
        <p:nvSpPr>
          <p:cNvPr id="26" name="Text 21"/>
          <p:cNvSpPr/>
          <p:nvPr/>
        </p:nvSpPr>
        <p:spPr>
          <a:xfrm>
            <a:off x="1207008" y="5760720"/>
            <a:ext cx="10241280" cy="475488"/>
          </a:xfrm>
          <a:prstGeom prst="rect">
            <a:avLst/>
          </a:prstGeom>
          <a:noFill/>
          <a:ln/>
        </p:spPr>
        <p:txBody>
          <a:bodyPr wrap="square" lIns="0" tIns="0" rIns="0" bIns="0" rtlCol="0" anchor="ctr"/>
          <a:lstStyle/>
          <a:p>
            <a:pPr algn="l" indent="0" marL="0">
              <a:buNone/>
            </a:pPr>
            <a:r>
              <a:rPr lang="en-US" sz="1400" dirty="0">
                <a:solidFill>
                  <a:srgbClr val="7A4A05"/>
                </a:solidFill>
                <a:latin typeface="Calibri" pitchFamily="34" charset="0"/>
                <a:ea typeface="Calibri" pitchFamily="34" charset="-122"/>
                <a:cs typeface="Calibri" pitchFamily="34" charset="-120"/>
              </a:rPr>
              <a:t>Padding in percent uses the parent WIDTH even for top and bottom. Surprising, so many teams prefer fixed values here.</a:t>
            </a:r>
            <a:endParaRPr lang="en-US" sz="1400" dirty="0"/>
          </a:p>
        </p:txBody>
      </p:sp>
      <p:sp>
        <p:nvSpPr>
          <p:cNvPr id="27" name="Text 22"/>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28" name="Text 23"/>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7ED"/>
        </a:solidFill>
      </p:bgPr>
    </p:bg>
    <p:spTree>
      <p:nvGrpSpPr>
        <p:cNvPr id="1" name=""/>
        <p:cNvGrpSpPr/>
        <p:nvPr/>
      </p:nvGrpSpPr>
      <p:grpSpPr>
        <a:xfrm>
          <a:off x="0" y="0"/>
          <a:ext cx="0" cy="0"/>
          <a:chOff x="0" y="0"/>
          <a:chExt cx="0" cy="0"/>
        </a:xfrm>
      </p:grpSpPr>
      <p:sp>
        <p:nvSpPr>
          <p:cNvPr id="2" name="Shape 0"/>
          <p:cNvSpPr/>
          <p:nvPr/>
        </p:nvSpPr>
        <p:spPr>
          <a:xfrm>
            <a:off x="548640" y="502920"/>
            <a:ext cx="1920240" cy="310896"/>
          </a:xfrm>
          <a:prstGeom prst="roundRect">
            <a:avLst>
              <a:gd name="adj" fmla="val 50000"/>
            </a:avLst>
          </a:prstGeom>
          <a:solidFill>
            <a:srgbClr val="F59E0B"/>
          </a:solidFill>
          <a:ln/>
        </p:spPr>
      </p:sp>
      <p:sp>
        <p:nvSpPr>
          <p:cNvPr id="3" name="Text 1"/>
          <p:cNvSpPr/>
          <p:nvPr/>
        </p:nvSpPr>
        <p:spPr>
          <a:xfrm>
            <a:off x="548640" y="502920"/>
            <a:ext cx="192024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CLASS ACTIVITY</a:t>
            </a:r>
            <a:endParaRPr lang="en-US" sz="1100" dirty="0"/>
          </a:p>
        </p:txBody>
      </p:sp>
      <p:sp>
        <p:nvSpPr>
          <p:cNvPr id="4" name="Text 2"/>
          <p:cNvSpPr/>
          <p:nvPr/>
        </p:nvSpPr>
        <p:spPr>
          <a:xfrm>
            <a:off x="548640" y="960120"/>
            <a:ext cx="8686800" cy="731520"/>
          </a:xfrm>
          <a:prstGeom prst="rect">
            <a:avLst/>
          </a:prstGeom>
          <a:noFill/>
          <a:ln/>
        </p:spPr>
        <p:txBody>
          <a:bodyPr wrap="square" lIns="0" tIns="0" rIns="0" bIns="0" rtlCol="0" anchor="ctr"/>
          <a:lstStyle/>
          <a:p>
            <a:pPr algn="l" indent="0" marL="0">
              <a:buNone/>
            </a:pPr>
            <a:r>
              <a:rPr lang="en-US" sz="3200" b="1" dirty="0">
                <a:solidFill>
                  <a:srgbClr val="0F172A"/>
                </a:solidFill>
                <a:latin typeface="Calibri" pitchFamily="34" charset="0"/>
                <a:ea typeface="Calibri" pitchFamily="34" charset="-122"/>
                <a:cs typeface="Calibri" pitchFamily="34" charset="-120"/>
              </a:rPr>
              <a:t>Units playground</a:t>
            </a:r>
            <a:endParaRPr lang="en-US" sz="3200" dirty="0"/>
          </a:p>
        </p:txBody>
      </p:sp>
      <p:sp>
        <p:nvSpPr>
          <p:cNvPr id="5" name="Shape 3"/>
          <p:cNvSpPr/>
          <p:nvPr/>
        </p:nvSpPr>
        <p:spPr>
          <a:xfrm>
            <a:off x="9235440" y="502920"/>
            <a:ext cx="2423160" cy="1051560"/>
          </a:xfrm>
          <a:prstGeom prst="roundRect">
            <a:avLst>
              <a:gd name="adj" fmla="val 10435"/>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6" name="Shape 4"/>
          <p:cNvSpPr/>
          <p:nvPr/>
        </p:nvSpPr>
        <p:spPr>
          <a:xfrm>
            <a:off x="9372600" y="658368"/>
            <a:ext cx="457200" cy="457200"/>
          </a:xfrm>
          <a:prstGeom prst="ellipse">
            <a:avLst/>
          </a:prstGeom>
          <a:solidFill>
            <a:srgbClr val="FFF1E0"/>
          </a:solidFill>
          <a:ln/>
        </p:spPr>
      </p:sp>
      <p:pic>
        <p:nvPicPr>
          <p:cNvPr id="7" name="Image 0" descr="preencoded.png">    </p:cNvPr>
          <p:cNvPicPr>
            <a:picLocks noChangeAspect="1"/>
          </p:cNvPicPr>
          <p:nvPr/>
        </p:nvPicPr>
        <p:blipFill>
          <a:blip r:embed="rId1"/>
          <a:stretch>
            <a:fillRect/>
          </a:stretch>
        </p:blipFill>
        <p:spPr>
          <a:xfrm>
            <a:off x="9491472" y="777240"/>
            <a:ext cx="219456" cy="219456"/>
          </a:xfrm>
          <a:prstGeom prst="rect">
            <a:avLst/>
          </a:prstGeom>
        </p:spPr>
      </p:pic>
      <p:sp>
        <p:nvSpPr>
          <p:cNvPr id="8" name="Text 5"/>
          <p:cNvSpPr/>
          <p:nvPr/>
        </p:nvSpPr>
        <p:spPr>
          <a:xfrm>
            <a:off x="9921240" y="658368"/>
            <a:ext cx="1783080" cy="457200"/>
          </a:xfrm>
          <a:prstGeom prst="rect">
            <a:avLst/>
          </a:prstGeom>
          <a:noFill/>
          <a:ln/>
        </p:spPr>
        <p:txBody>
          <a:bodyPr wrap="square" lIns="0" tIns="0" rIns="0" bIns="0" rtlCol="0" anchor="ctr"/>
          <a:lstStyle/>
          <a:p>
            <a:pPr algn="l" indent="0" marL="0">
              <a:buNone/>
            </a:pPr>
            <a:r>
              <a:rPr lang="en-US" sz="1250" b="1" dirty="0">
                <a:solidFill>
                  <a:srgbClr val="0F172A"/>
                </a:solidFill>
                <a:latin typeface="Calibri" pitchFamily="34" charset="0"/>
                <a:ea typeface="Calibri" pitchFamily="34" charset="-122"/>
                <a:cs typeface="Calibri" pitchFamily="34" charset="-120"/>
              </a:rPr>
              <a:t>Hands-up poll</a:t>
            </a:r>
            <a:endParaRPr lang="en-US" sz="1250" dirty="0"/>
          </a:p>
        </p:txBody>
      </p:sp>
      <p:sp>
        <p:nvSpPr>
          <p:cNvPr id="9" name="Text 6"/>
          <p:cNvSpPr/>
          <p:nvPr/>
        </p:nvSpPr>
        <p:spPr>
          <a:xfrm>
            <a:off x="9372600" y="1170432"/>
            <a:ext cx="2194560" cy="274320"/>
          </a:xfrm>
          <a:prstGeom prst="rect">
            <a:avLst/>
          </a:prstGeom>
          <a:noFill/>
          <a:ln/>
        </p:spPr>
        <p:txBody>
          <a:bodyPr wrap="square" lIns="0" tIns="0" rIns="0" bIns="0" rtlCol="0" anchor="ctr"/>
          <a:lstStyle/>
          <a:p>
            <a:pPr algn="l" indent="0" marL="0">
              <a:buNone/>
            </a:pPr>
            <a:r>
              <a:rPr lang="en-US" sz="1200" b="1" dirty="0">
                <a:solidFill>
                  <a:srgbClr val="64748B"/>
                </a:solidFill>
                <a:latin typeface="Calibri" pitchFamily="34" charset="0"/>
                <a:ea typeface="Calibri" pitchFamily="34" charset="-122"/>
                <a:cs typeface="Calibri" pitchFamily="34" charset="-120"/>
              </a:rPr>
              <a:t>Time: 3 min</a:t>
            </a:r>
            <a:endParaRPr lang="en-US" sz="1200" dirty="0"/>
          </a:p>
        </p:txBody>
      </p:sp>
      <p:sp>
        <p:nvSpPr>
          <p:cNvPr id="10" name="Shape 7"/>
          <p:cNvSpPr/>
          <p:nvPr/>
        </p:nvSpPr>
        <p:spPr>
          <a:xfrm>
            <a:off x="548640" y="1920240"/>
            <a:ext cx="11109960" cy="1371600"/>
          </a:xfrm>
          <a:prstGeom prst="roundRect">
            <a:avLst>
              <a:gd name="adj" fmla="val 8000"/>
            </a:avLst>
          </a:prstGeom>
          <a:solidFill>
            <a:srgbClr val="FFFFFF"/>
          </a:solidFill>
          <a:ln w="12700">
            <a:solidFill>
              <a:srgbClr val="C7DBFF"/>
            </a:solidFill>
            <a:prstDash val="solid"/>
          </a:ln>
          <a:effectLst>
            <a:outerShdw sx="100000" sy="100000" kx="0" ky="0" algn="bl" rotWithShape="0" blurRad="101600" dist="38100" dir="5400000">
              <a:srgbClr val="0B1220">
                <a:alpha val="18000"/>
              </a:srgbClr>
            </a:outerShdw>
          </a:effectLst>
        </p:spPr>
      </p:sp>
      <p:sp>
        <p:nvSpPr>
          <p:cNvPr id="11" name="Text 8"/>
          <p:cNvSpPr/>
          <p:nvPr/>
        </p:nvSpPr>
        <p:spPr>
          <a:xfrm>
            <a:off x="822960" y="1920240"/>
            <a:ext cx="10607040" cy="1371600"/>
          </a:xfrm>
          <a:prstGeom prst="rect">
            <a:avLst/>
          </a:prstGeom>
          <a:noFill/>
          <a:ln/>
        </p:spPr>
        <p:txBody>
          <a:bodyPr wrap="square" lIns="0" tIns="0" rIns="0" bIns="0" rtlCol="0" anchor="ctr"/>
          <a:lstStyle/>
          <a:p>
            <a:pPr algn="l" indent="0" marL="0">
              <a:buNone/>
            </a:pPr>
            <a:r>
              <a:rPr lang="en-US" sz="1300" b="1" dirty="0">
                <a:solidFill>
                  <a:srgbClr val="F59E0B"/>
                </a:solidFill>
                <a:latin typeface="Calibri" pitchFamily="34" charset="0"/>
                <a:ea typeface="Calibri" pitchFamily="34" charset="-122"/>
                <a:cs typeface="Calibri" pitchFamily="34" charset="-120"/>
              </a:rPr>
              <a:t>PROMPT   </a:t>
            </a:r>
            <a:pPr algn="l" indent="0" marL="0">
              <a:buNone/>
            </a:pPr>
            <a:r>
              <a:rPr lang="en-US" sz="1700" dirty="0">
                <a:solidFill>
                  <a:srgbClr val="0F172A"/>
                </a:solidFill>
                <a:latin typeface="Calibri" pitchFamily="34" charset="0"/>
                <a:ea typeface="Calibri" pitchFamily="34" charset="-122"/>
                <a:cs typeface="Calibri" pitchFamily="34" charset="-120"/>
              </a:rPr>
              <a:t>I resize the browser window live. Which unit will make the box change size, and which will not?</a:t>
            </a:r>
            <a:endParaRPr lang="en-US" sz="1300" dirty="0"/>
          </a:p>
        </p:txBody>
      </p:sp>
      <p:sp>
        <p:nvSpPr>
          <p:cNvPr id="12" name="Shape 9"/>
          <p:cNvSpPr/>
          <p:nvPr/>
        </p:nvSpPr>
        <p:spPr>
          <a:xfrm>
            <a:off x="685800" y="3657600"/>
            <a:ext cx="457200" cy="457200"/>
          </a:xfrm>
          <a:prstGeom prst="ellipse">
            <a:avLst/>
          </a:prstGeom>
          <a:solidFill>
            <a:srgbClr val="F59E0B"/>
          </a:solidFill>
          <a:ln/>
          <a:effectLst>
            <a:outerShdw sx="100000" sy="100000" kx="0" ky="0" algn="bl" rotWithShape="0" blurRad="101600" dist="38100" dir="5400000">
              <a:srgbClr val="0B1220">
                <a:alpha val="18000"/>
              </a:srgbClr>
            </a:outerShdw>
          </a:effectLst>
        </p:spPr>
      </p:sp>
      <p:sp>
        <p:nvSpPr>
          <p:cNvPr id="13" name="Text 10"/>
          <p:cNvSpPr/>
          <p:nvPr/>
        </p:nvSpPr>
        <p:spPr>
          <a:xfrm>
            <a:off x="685800" y="3657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Text 11"/>
          <p:cNvSpPr/>
          <p:nvPr/>
        </p:nvSpPr>
        <p:spPr>
          <a:xfrm>
            <a:off x="1325880" y="3630168"/>
            <a:ext cx="10149840" cy="512064"/>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Hands up for px if you think the box stays fixed.</a:t>
            </a:r>
            <a:endParaRPr lang="en-US" sz="1500" dirty="0"/>
          </a:p>
        </p:txBody>
      </p:sp>
      <p:sp>
        <p:nvSpPr>
          <p:cNvPr id="15" name="Shape 12"/>
          <p:cNvSpPr/>
          <p:nvPr/>
        </p:nvSpPr>
        <p:spPr>
          <a:xfrm>
            <a:off x="685800" y="4443984"/>
            <a:ext cx="457200" cy="457200"/>
          </a:xfrm>
          <a:prstGeom prst="ellipse">
            <a:avLst/>
          </a:prstGeom>
          <a:solidFill>
            <a:srgbClr val="F59E0B"/>
          </a:solidFill>
          <a:ln/>
          <a:effectLst>
            <a:outerShdw sx="100000" sy="100000" kx="0" ky="0" algn="bl" rotWithShape="0" blurRad="101600" dist="38100" dir="5400000">
              <a:srgbClr val="0B1220">
                <a:alpha val="18000"/>
              </a:srgbClr>
            </a:outerShdw>
          </a:effectLst>
        </p:spPr>
      </p:sp>
      <p:sp>
        <p:nvSpPr>
          <p:cNvPr id="16" name="Text 13"/>
          <p:cNvSpPr/>
          <p:nvPr/>
        </p:nvSpPr>
        <p:spPr>
          <a:xfrm>
            <a:off x="685800" y="44439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4"/>
          <p:cNvSpPr/>
          <p:nvPr/>
        </p:nvSpPr>
        <p:spPr>
          <a:xfrm>
            <a:off x="1325880" y="4416552"/>
            <a:ext cx="10149840" cy="512064"/>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Hands up for vw if you think the box follows the window.</a:t>
            </a:r>
            <a:endParaRPr lang="en-US" sz="1500" dirty="0"/>
          </a:p>
        </p:txBody>
      </p:sp>
      <p:sp>
        <p:nvSpPr>
          <p:cNvPr id="18" name="Shape 15"/>
          <p:cNvSpPr/>
          <p:nvPr/>
        </p:nvSpPr>
        <p:spPr>
          <a:xfrm>
            <a:off x="685800" y="5230368"/>
            <a:ext cx="457200" cy="457200"/>
          </a:xfrm>
          <a:prstGeom prst="ellipse">
            <a:avLst/>
          </a:prstGeom>
          <a:solidFill>
            <a:srgbClr val="F59E0B"/>
          </a:solidFill>
          <a:ln/>
          <a:effectLst>
            <a:outerShdw sx="100000" sy="100000" kx="0" ky="0" algn="bl" rotWithShape="0" blurRad="101600" dist="38100" dir="5400000">
              <a:srgbClr val="0B1220">
                <a:alpha val="18000"/>
              </a:srgbClr>
            </a:outerShdw>
          </a:effectLst>
        </p:spPr>
      </p:sp>
      <p:sp>
        <p:nvSpPr>
          <p:cNvPr id="19" name="Text 16"/>
          <p:cNvSpPr/>
          <p:nvPr/>
        </p:nvSpPr>
        <p:spPr>
          <a:xfrm>
            <a:off x="685800" y="523036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p:nvPr/>
        </p:nvSpPr>
        <p:spPr>
          <a:xfrm>
            <a:off x="1325880" y="5202936"/>
            <a:ext cx="10149840" cy="512064"/>
          </a:xfrm>
          <a:prstGeom prst="rect">
            <a:avLst/>
          </a:prstGeom>
          <a:noFill/>
          <a:ln/>
        </p:spPr>
        <p:txBody>
          <a:bodyPr wrap="square" lIns="0" tIns="0" rIns="0" bIns="0" rtlCol="0" anchor="ctr"/>
          <a:lstStyle/>
          <a:p>
            <a:pPr algn="l" indent="0" marL="0">
              <a:buNone/>
            </a:pPr>
            <a:r>
              <a:rPr lang="en-US" sz="1500" dirty="0">
                <a:solidFill>
                  <a:srgbClr val="0F172A"/>
                </a:solidFill>
                <a:latin typeface="Calibri" pitchFamily="34" charset="0"/>
                <a:ea typeface="Calibri" pitchFamily="34" charset="-122"/>
                <a:cs typeface="Calibri" pitchFamily="34" charset="-120"/>
              </a:rPr>
              <a:t>One volunteer explains why rem did not change when I resized.</a:t>
            </a:r>
            <a:endParaRPr lang="en-US" sz="1500" dirty="0"/>
          </a:p>
        </p:txBody>
      </p:sp>
      <p:sp>
        <p:nvSpPr>
          <p:cNvPr id="21" name="Text 18"/>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22" name="Text 19"/>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548640" y="502920"/>
            <a:ext cx="1280160" cy="310896"/>
          </a:xfrm>
          <a:prstGeom prst="roundRect">
            <a:avLst>
              <a:gd name="adj" fmla="val 50000"/>
            </a:avLst>
          </a:prstGeom>
          <a:solidFill>
            <a:srgbClr val="2563EB"/>
          </a:solidFill>
          <a:ln/>
        </p:spPr>
      </p:sp>
      <p:sp>
        <p:nvSpPr>
          <p:cNvPr id="3" name="Text 1"/>
          <p:cNvSpPr/>
          <p:nvPr/>
        </p:nvSpPr>
        <p:spPr>
          <a:xfrm>
            <a:off x="548640" y="502920"/>
            <a:ext cx="1280160" cy="310896"/>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RECAP</a:t>
            </a:r>
            <a:endParaRPr lang="en-US" sz="1100" dirty="0"/>
          </a:p>
        </p:txBody>
      </p:sp>
      <p:sp>
        <p:nvSpPr>
          <p:cNvPr id="4" name="Text 2"/>
          <p:cNvSpPr/>
          <p:nvPr/>
        </p:nvSpPr>
        <p:spPr>
          <a:xfrm>
            <a:off x="548640" y="91440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The whole picture</a:t>
            </a:r>
            <a:endParaRPr lang="en-US" sz="3600" dirty="0"/>
          </a:p>
        </p:txBody>
      </p:sp>
      <p:sp>
        <p:nvSpPr>
          <p:cNvPr id="5" name="Shape 3"/>
          <p:cNvSpPr/>
          <p:nvPr/>
        </p:nvSpPr>
        <p:spPr>
          <a:xfrm>
            <a:off x="548640" y="1965960"/>
            <a:ext cx="2148840" cy="3017520"/>
          </a:xfrm>
          <a:prstGeom prst="roundRect">
            <a:avLst>
              <a:gd name="adj" fmla="val 5106"/>
            </a:avLst>
          </a:prstGeom>
          <a:solidFill>
            <a:srgbClr val="1B2A4A"/>
          </a:solidFill>
          <a:ln/>
        </p:spPr>
      </p:sp>
      <p:sp>
        <p:nvSpPr>
          <p:cNvPr id="6" name="Shape 4"/>
          <p:cNvSpPr/>
          <p:nvPr/>
        </p:nvSpPr>
        <p:spPr>
          <a:xfrm>
            <a:off x="1257300" y="2240280"/>
            <a:ext cx="731520" cy="731520"/>
          </a:xfrm>
          <a:prstGeom prst="ellipse">
            <a:avLst/>
          </a:prstGeom>
          <a:solidFill>
            <a:srgbClr val="2563EB"/>
          </a:solidFill>
          <a:ln/>
        </p:spPr>
      </p:sp>
      <p:pic>
        <p:nvPicPr>
          <p:cNvPr id="7" name="Image 0" descr="preencoded.png">    </p:cNvPr>
          <p:cNvPicPr>
            <a:picLocks noChangeAspect="1"/>
          </p:cNvPicPr>
          <p:nvPr/>
        </p:nvPicPr>
        <p:blipFill>
          <a:blip r:embed="rId1"/>
          <a:stretch>
            <a:fillRect/>
          </a:stretch>
        </p:blipFill>
        <p:spPr>
          <a:xfrm>
            <a:off x="1447495" y="2430475"/>
            <a:ext cx="351130" cy="351130"/>
          </a:xfrm>
          <a:prstGeom prst="rect">
            <a:avLst/>
          </a:prstGeom>
        </p:spPr>
      </p:pic>
      <p:sp>
        <p:nvSpPr>
          <p:cNvPr id="8" name="Text 5"/>
          <p:cNvSpPr/>
          <p:nvPr/>
        </p:nvSpPr>
        <p:spPr>
          <a:xfrm>
            <a:off x="640080" y="3108960"/>
            <a:ext cx="19659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Box Model</a:t>
            </a:r>
            <a:endParaRPr lang="en-US" sz="1500" dirty="0"/>
          </a:p>
        </p:txBody>
      </p:sp>
      <p:sp>
        <p:nvSpPr>
          <p:cNvPr id="9" name="Text 6"/>
          <p:cNvSpPr/>
          <p:nvPr/>
        </p:nvSpPr>
        <p:spPr>
          <a:xfrm>
            <a:off x="713232" y="3566160"/>
            <a:ext cx="1819656" cy="1280160"/>
          </a:xfrm>
          <a:prstGeom prst="rect">
            <a:avLst/>
          </a:prstGeom>
          <a:noFill/>
          <a:ln/>
        </p:spPr>
        <p:txBody>
          <a:bodyPr wrap="square" lIns="0" tIns="0" rIns="0" bIns="0" rtlCol="0" anchor="t"/>
          <a:lstStyle/>
          <a:p>
            <a:pPr algn="ctr" indent="0" marL="0">
              <a:buNone/>
            </a:pPr>
            <a:r>
              <a:rPr lang="en-US" sz="1200" dirty="0">
                <a:solidFill>
                  <a:srgbClr val="C7DBFF"/>
                </a:solidFill>
                <a:latin typeface="Calibri" pitchFamily="34" charset="0"/>
                <a:ea typeface="Calibri" pitchFamily="34" charset="-122"/>
                <a:cs typeface="Calibri" pitchFamily="34" charset="-120"/>
              </a:rPr>
              <a:t>content, padding, border, margin wrap every element.</a:t>
            </a:r>
            <a:endParaRPr lang="en-US" sz="1200" dirty="0"/>
          </a:p>
        </p:txBody>
      </p:sp>
      <p:sp>
        <p:nvSpPr>
          <p:cNvPr id="10" name="Shape 7"/>
          <p:cNvSpPr/>
          <p:nvPr/>
        </p:nvSpPr>
        <p:spPr>
          <a:xfrm>
            <a:off x="2816352" y="1965960"/>
            <a:ext cx="2148840" cy="3017520"/>
          </a:xfrm>
          <a:prstGeom prst="roundRect">
            <a:avLst>
              <a:gd name="adj" fmla="val 5106"/>
            </a:avLst>
          </a:prstGeom>
          <a:solidFill>
            <a:srgbClr val="1B2A4A"/>
          </a:solidFill>
          <a:ln/>
        </p:spPr>
      </p:sp>
      <p:sp>
        <p:nvSpPr>
          <p:cNvPr id="11" name="Shape 8"/>
          <p:cNvSpPr/>
          <p:nvPr/>
        </p:nvSpPr>
        <p:spPr>
          <a:xfrm>
            <a:off x="3525012" y="2240280"/>
            <a:ext cx="731520" cy="731520"/>
          </a:xfrm>
          <a:prstGeom prst="ellipse">
            <a:avLst/>
          </a:prstGeom>
          <a:solidFill>
            <a:srgbClr val="2563EB"/>
          </a:solidFill>
          <a:ln/>
        </p:spPr>
      </p:sp>
      <p:pic>
        <p:nvPicPr>
          <p:cNvPr id="12" name="Image 1" descr="preencoded.png">    </p:cNvPr>
          <p:cNvPicPr>
            <a:picLocks noChangeAspect="1"/>
          </p:cNvPicPr>
          <p:nvPr/>
        </p:nvPicPr>
        <p:blipFill>
          <a:blip r:embed="rId2"/>
          <a:stretch>
            <a:fillRect/>
          </a:stretch>
        </p:blipFill>
        <p:spPr>
          <a:xfrm>
            <a:off x="3715207" y="2430475"/>
            <a:ext cx="351130" cy="351130"/>
          </a:xfrm>
          <a:prstGeom prst="rect">
            <a:avLst/>
          </a:prstGeom>
        </p:spPr>
      </p:pic>
      <p:sp>
        <p:nvSpPr>
          <p:cNvPr id="13" name="Text 9"/>
          <p:cNvSpPr/>
          <p:nvPr/>
        </p:nvSpPr>
        <p:spPr>
          <a:xfrm>
            <a:off x="2907792" y="3108960"/>
            <a:ext cx="19659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Box Sizing</a:t>
            </a:r>
            <a:endParaRPr lang="en-US" sz="1500" dirty="0"/>
          </a:p>
        </p:txBody>
      </p:sp>
      <p:sp>
        <p:nvSpPr>
          <p:cNvPr id="14" name="Text 10"/>
          <p:cNvSpPr/>
          <p:nvPr/>
        </p:nvSpPr>
        <p:spPr>
          <a:xfrm>
            <a:off x="2980944" y="3566160"/>
            <a:ext cx="1819656" cy="1280160"/>
          </a:xfrm>
          <a:prstGeom prst="rect">
            <a:avLst/>
          </a:prstGeom>
          <a:noFill/>
          <a:ln/>
        </p:spPr>
        <p:txBody>
          <a:bodyPr wrap="square" lIns="0" tIns="0" rIns="0" bIns="0" rtlCol="0" anchor="t"/>
          <a:lstStyle/>
          <a:p>
            <a:pPr algn="ctr" indent="0" marL="0">
              <a:buNone/>
            </a:pPr>
            <a:r>
              <a:rPr lang="en-US" sz="1200" dirty="0">
                <a:solidFill>
                  <a:srgbClr val="C7DBFF"/>
                </a:solidFill>
                <a:latin typeface="Calibri" pitchFamily="34" charset="0"/>
                <a:ea typeface="Calibri" pitchFamily="34" charset="-122"/>
                <a:cs typeface="Calibri" pitchFamily="34" charset="-120"/>
              </a:rPr>
              <a:t>border-box keeps your set width honest.</a:t>
            </a:r>
            <a:endParaRPr lang="en-US" sz="1200" dirty="0"/>
          </a:p>
        </p:txBody>
      </p:sp>
      <p:sp>
        <p:nvSpPr>
          <p:cNvPr id="15" name="Shape 11"/>
          <p:cNvSpPr/>
          <p:nvPr/>
        </p:nvSpPr>
        <p:spPr>
          <a:xfrm>
            <a:off x="5084064" y="1965960"/>
            <a:ext cx="2148840" cy="3017520"/>
          </a:xfrm>
          <a:prstGeom prst="roundRect">
            <a:avLst>
              <a:gd name="adj" fmla="val 5106"/>
            </a:avLst>
          </a:prstGeom>
          <a:solidFill>
            <a:srgbClr val="1B2A4A"/>
          </a:solidFill>
          <a:ln/>
        </p:spPr>
      </p:sp>
      <p:sp>
        <p:nvSpPr>
          <p:cNvPr id="16" name="Shape 12"/>
          <p:cNvSpPr/>
          <p:nvPr/>
        </p:nvSpPr>
        <p:spPr>
          <a:xfrm>
            <a:off x="5792724" y="2240280"/>
            <a:ext cx="731520" cy="731520"/>
          </a:xfrm>
          <a:prstGeom prst="ellipse">
            <a:avLst/>
          </a:prstGeom>
          <a:solidFill>
            <a:srgbClr val="2563EB"/>
          </a:solidFill>
          <a:ln/>
        </p:spPr>
      </p:sp>
      <p:pic>
        <p:nvPicPr>
          <p:cNvPr id="17" name="Image 2" descr="preencoded.png">    </p:cNvPr>
          <p:cNvPicPr>
            <a:picLocks noChangeAspect="1"/>
          </p:cNvPicPr>
          <p:nvPr/>
        </p:nvPicPr>
        <p:blipFill>
          <a:blip r:embed="rId3"/>
          <a:stretch>
            <a:fillRect/>
          </a:stretch>
        </p:blipFill>
        <p:spPr>
          <a:xfrm>
            <a:off x="5982919" y="2430475"/>
            <a:ext cx="351130" cy="351130"/>
          </a:xfrm>
          <a:prstGeom prst="rect">
            <a:avLst/>
          </a:prstGeom>
        </p:spPr>
      </p:pic>
      <p:sp>
        <p:nvSpPr>
          <p:cNvPr id="18" name="Text 13"/>
          <p:cNvSpPr/>
          <p:nvPr/>
        </p:nvSpPr>
        <p:spPr>
          <a:xfrm>
            <a:off x="5175504" y="3108960"/>
            <a:ext cx="19659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Overflow</a:t>
            </a:r>
            <a:endParaRPr lang="en-US" sz="1500" dirty="0"/>
          </a:p>
        </p:txBody>
      </p:sp>
      <p:sp>
        <p:nvSpPr>
          <p:cNvPr id="19" name="Text 14"/>
          <p:cNvSpPr/>
          <p:nvPr/>
        </p:nvSpPr>
        <p:spPr>
          <a:xfrm>
            <a:off x="5248656" y="3566160"/>
            <a:ext cx="1819656" cy="1280160"/>
          </a:xfrm>
          <a:prstGeom prst="rect">
            <a:avLst/>
          </a:prstGeom>
          <a:noFill/>
          <a:ln/>
        </p:spPr>
        <p:txBody>
          <a:bodyPr wrap="square" lIns="0" tIns="0" rIns="0" bIns="0" rtlCol="0" anchor="t"/>
          <a:lstStyle/>
          <a:p>
            <a:pPr algn="ctr" indent="0" marL="0">
              <a:buNone/>
            </a:pPr>
            <a:r>
              <a:rPr lang="en-US" sz="1200" dirty="0">
                <a:solidFill>
                  <a:srgbClr val="C7DBFF"/>
                </a:solidFill>
                <a:latin typeface="Calibri" pitchFamily="34" charset="0"/>
                <a:ea typeface="Calibri" pitchFamily="34" charset="-122"/>
                <a:cs typeface="Calibri" pitchFamily="34" charset="-120"/>
              </a:rPr>
              <a:t>visible, hidden, scroll, auto for content that spills.</a:t>
            </a:r>
            <a:endParaRPr lang="en-US" sz="1200" dirty="0"/>
          </a:p>
        </p:txBody>
      </p:sp>
      <p:sp>
        <p:nvSpPr>
          <p:cNvPr id="20" name="Shape 15"/>
          <p:cNvSpPr/>
          <p:nvPr/>
        </p:nvSpPr>
        <p:spPr>
          <a:xfrm>
            <a:off x="7351776" y="1965960"/>
            <a:ext cx="2148840" cy="3017520"/>
          </a:xfrm>
          <a:prstGeom prst="roundRect">
            <a:avLst>
              <a:gd name="adj" fmla="val 5106"/>
            </a:avLst>
          </a:prstGeom>
          <a:solidFill>
            <a:srgbClr val="1B2A4A"/>
          </a:solidFill>
          <a:ln/>
        </p:spPr>
      </p:sp>
      <p:sp>
        <p:nvSpPr>
          <p:cNvPr id="21" name="Shape 16"/>
          <p:cNvSpPr/>
          <p:nvPr/>
        </p:nvSpPr>
        <p:spPr>
          <a:xfrm>
            <a:off x="8060436" y="2240280"/>
            <a:ext cx="731520" cy="731520"/>
          </a:xfrm>
          <a:prstGeom prst="ellipse">
            <a:avLst/>
          </a:prstGeom>
          <a:solidFill>
            <a:srgbClr val="2563EB"/>
          </a:solidFill>
          <a:ln/>
        </p:spPr>
      </p:sp>
      <p:pic>
        <p:nvPicPr>
          <p:cNvPr id="22" name="Image 3" descr="preencoded.png">    </p:cNvPr>
          <p:cNvPicPr>
            <a:picLocks noChangeAspect="1"/>
          </p:cNvPicPr>
          <p:nvPr/>
        </p:nvPicPr>
        <p:blipFill>
          <a:blip r:embed="rId4"/>
          <a:stretch>
            <a:fillRect/>
          </a:stretch>
        </p:blipFill>
        <p:spPr>
          <a:xfrm>
            <a:off x="8250631" y="2430475"/>
            <a:ext cx="351130" cy="351130"/>
          </a:xfrm>
          <a:prstGeom prst="rect">
            <a:avLst/>
          </a:prstGeom>
        </p:spPr>
      </p:pic>
      <p:sp>
        <p:nvSpPr>
          <p:cNvPr id="23" name="Text 17"/>
          <p:cNvSpPr/>
          <p:nvPr/>
        </p:nvSpPr>
        <p:spPr>
          <a:xfrm>
            <a:off x="7443216" y="3108960"/>
            <a:ext cx="19659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Display</a:t>
            </a:r>
            <a:endParaRPr lang="en-US" sz="1500" dirty="0"/>
          </a:p>
        </p:txBody>
      </p:sp>
      <p:sp>
        <p:nvSpPr>
          <p:cNvPr id="24" name="Text 18"/>
          <p:cNvSpPr/>
          <p:nvPr/>
        </p:nvSpPr>
        <p:spPr>
          <a:xfrm>
            <a:off x="7516368" y="3566160"/>
            <a:ext cx="1819656" cy="1280160"/>
          </a:xfrm>
          <a:prstGeom prst="rect">
            <a:avLst/>
          </a:prstGeom>
          <a:noFill/>
          <a:ln/>
        </p:spPr>
        <p:txBody>
          <a:bodyPr wrap="square" lIns="0" tIns="0" rIns="0" bIns="0" rtlCol="0" anchor="t"/>
          <a:lstStyle/>
          <a:p>
            <a:pPr algn="ctr" indent="0" marL="0">
              <a:buNone/>
            </a:pPr>
            <a:r>
              <a:rPr lang="en-US" sz="1200" dirty="0">
                <a:solidFill>
                  <a:srgbClr val="C7DBFF"/>
                </a:solidFill>
                <a:latin typeface="Calibri" pitchFamily="34" charset="0"/>
                <a:ea typeface="Calibri" pitchFamily="34" charset="-122"/>
                <a:cs typeface="Calibri" pitchFamily="34" charset="-120"/>
              </a:rPr>
              <a:t>block stacks, inline flows, inline-block does both.</a:t>
            </a:r>
            <a:endParaRPr lang="en-US" sz="1200" dirty="0"/>
          </a:p>
        </p:txBody>
      </p:sp>
      <p:sp>
        <p:nvSpPr>
          <p:cNvPr id="25" name="Shape 19"/>
          <p:cNvSpPr/>
          <p:nvPr/>
        </p:nvSpPr>
        <p:spPr>
          <a:xfrm>
            <a:off x="9619488" y="1965960"/>
            <a:ext cx="2148840" cy="3017520"/>
          </a:xfrm>
          <a:prstGeom prst="roundRect">
            <a:avLst>
              <a:gd name="adj" fmla="val 5106"/>
            </a:avLst>
          </a:prstGeom>
          <a:solidFill>
            <a:srgbClr val="1B2A4A"/>
          </a:solidFill>
          <a:ln/>
        </p:spPr>
      </p:sp>
      <p:sp>
        <p:nvSpPr>
          <p:cNvPr id="26" name="Shape 20"/>
          <p:cNvSpPr/>
          <p:nvPr/>
        </p:nvSpPr>
        <p:spPr>
          <a:xfrm>
            <a:off x="10328148" y="2240280"/>
            <a:ext cx="731520" cy="731520"/>
          </a:xfrm>
          <a:prstGeom prst="ellipse">
            <a:avLst/>
          </a:prstGeom>
          <a:solidFill>
            <a:srgbClr val="2563EB"/>
          </a:solidFill>
          <a:ln/>
        </p:spPr>
      </p:sp>
      <p:pic>
        <p:nvPicPr>
          <p:cNvPr id="27" name="Image 4" descr="preencoded.png">    </p:cNvPr>
          <p:cNvPicPr>
            <a:picLocks noChangeAspect="1"/>
          </p:cNvPicPr>
          <p:nvPr/>
        </p:nvPicPr>
        <p:blipFill>
          <a:blip r:embed="rId5"/>
          <a:stretch>
            <a:fillRect/>
          </a:stretch>
        </p:blipFill>
        <p:spPr>
          <a:xfrm>
            <a:off x="10518343" y="2430475"/>
            <a:ext cx="351130" cy="351130"/>
          </a:xfrm>
          <a:prstGeom prst="rect">
            <a:avLst/>
          </a:prstGeom>
        </p:spPr>
      </p:pic>
      <p:sp>
        <p:nvSpPr>
          <p:cNvPr id="28" name="Text 21"/>
          <p:cNvSpPr/>
          <p:nvPr/>
        </p:nvSpPr>
        <p:spPr>
          <a:xfrm>
            <a:off x="9710928" y="3108960"/>
            <a:ext cx="19659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Units</a:t>
            </a:r>
            <a:endParaRPr lang="en-US" sz="1500" dirty="0"/>
          </a:p>
        </p:txBody>
      </p:sp>
      <p:sp>
        <p:nvSpPr>
          <p:cNvPr id="29" name="Text 22"/>
          <p:cNvSpPr/>
          <p:nvPr/>
        </p:nvSpPr>
        <p:spPr>
          <a:xfrm>
            <a:off x="9784080" y="3566160"/>
            <a:ext cx="1819656" cy="1280160"/>
          </a:xfrm>
          <a:prstGeom prst="rect">
            <a:avLst/>
          </a:prstGeom>
          <a:noFill/>
          <a:ln/>
        </p:spPr>
        <p:txBody>
          <a:bodyPr wrap="square" lIns="0" tIns="0" rIns="0" bIns="0" rtlCol="0" anchor="t"/>
          <a:lstStyle/>
          <a:p>
            <a:pPr algn="ctr" indent="0" marL="0">
              <a:buNone/>
            </a:pPr>
            <a:r>
              <a:rPr lang="en-US" sz="1200" dirty="0">
                <a:solidFill>
                  <a:srgbClr val="C7DBFF"/>
                </a:solidFill>
                <a:latin typeface="Calibri" pitchFamily="34" charset="0"/>
                <a:ea typeface="Calibri" pitchFamily="34" charset="-122"/>
                <a:cs typeface="Calibri" pitchFamily="34" charset="-120"/>
              </a:rPr>
              <a:t>px is fixed; %, vw, vh, rem adapt to context.</a:t>
            </a:r>
            <a:endParaRPr lang="en-US" sz="1200" dirty="0"/>
          </a:p>
        </p:txBody>
      </p:sp>
      <p:sp>
        <p:nvSpPr>
          <p:cNvPr id="30" name="Text 23"/>
          <p:cNvSpPr/>
          <p:nvPr/>
        </p:nvSpPr>
        <p:spPr>
          <a:xfrm>
            <a:off x="548640" y="5257800"/>
            <a:ext cx="11064240" cy="548640"/>
          </a:xfrm>
          <a:prstGeom prst="rect">
            <a:avLst/>
          </a:prstGeom>
          <a:noFill/>
          <a:ln/>
        </p:spPr>
        <p:txBody>
          <a:bodyPr wrap="square" lIns="0" tIns="0" rIns="0" bIns="0" rtlCol="0" anchor="ctr"/>
          <a:lstStyle/>
          <a:p>
            <a:pPr algn="ctr" indent="0" marL="0">
              <a:buNone/>
            </a:pPr>
            <a:r>
              <a:rPr lang="en-US" sz="1600" i="1" dirty="0">
                <a:solidFill>
                  <a:srgbClr val="C7DBFF"/>
                </a:solidFill>
                <a:latin typeface="Calibri" pitchFamily="34" charset="0"/>
                <a:ea typeface="Calibri" pitchFamily="34" charset="-122"/>
                <a:cs typeface="Calibri" pitchFamily="34" charset="-120"/>
              </a:rPr>
              <a:t>Everything on a page is a box. You can now measure it, size it, and place it exactly.</a:t>
            </a:r>
            <a:endParaRPr lang="en-US" sz="1600" dirty="0"/>
          </a:p>
        </p:txBody>
      </p:sp>
      <p:sp>
        <p:nvSpPr>
          <p:cNvPr id="31" name="Text 24"/>
          <p:cNvSpPr/>
          <p:nvPr/>
        </p:nvSpPr>
        <p:spPr>
          <a:xfrm>
            <a:off x="457200" y="6419088"/>
            <a:ext cx="7315200" cy="292608"/>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CSS Box Model, Display and Units</a:t>
            </a:r>
            <a:endParaRPr lang="en-US" sz="1000" dirty="0"/>
          </a:p>
        </p:txBody>
      </p:sp>
      <p:sp>
        <p:nvSpPr>
          <p:cNvPr id="32" name="Text 25"/>
          <p:cNvSpPr/>
          <p:nvPr/>
        </p:nvSpPr>
        <p:spPr>
          <a:xfrm>
            <a:off x="11247120" y="6419088"/>
            <a:ext cx="50292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B34"/>
        </a:solidFill>
      </p:bgPr>
    </p:bg>
    <p:spTree>
      <p:nvGrpSpPr>
        <p:cNvPr id="1" name=""/>
        <p:cNvGrpSpPr/>
        <p:nvPr/>
      </p:nvGrpSpPr>
      <p:grpSpPr>
        <a:xfrm>
          <a:off x="0" y="0"/>
          <a:ext cx="0" cy="0"/>
          <a:chOff x="0" y="0"/>
          <a:chExt cx="0" cy="0"/>
        </a:xfrm>
      </p:grpSpPr>
      <p:sp>
        <p:nvSpPr>
          <p:cNvPr id="2" name="Shape 0"/>
          <p:cNvSpPr/>
          <p:nvPr/>
        </p:nvSpPr>
        <p:spPr>
          <a:xfrm>
            <a:off x="9052560" y="-1828800"/>
            <a:ext cx="5486400" cy="5486400"/>
          </a:xfrm>
          <a:prstGeom prst="ellipse">
            <a:avLst/>
          </a:prstGeom>
          <a:solidFill>
            <a:srgbClr val="1B2A4A"/>
          </a:solidFill>
          <a:ln/>
        </p:spPr>
      </p:sp>
      <p:sp>
        <p:nvSpPr>
          <p:cNvPr id="3" name="Shape 1"/>
          <p:cNvSpPr/>
          <p:nvPr/>
        </p:nvSpPr>
        <p:spPr>
          <a:xfrm>
            <a:off x="822960" y="2194560"/>
            <a:ext cx="914400" cy="914400"/>
          </a:xfrm>
          <a:prstGeom prst="ellipse">
            <a:avLst/>
          </a:prstGeom>
          <a:solidFill>
            <a:srgbClr val="22C55E"/>
          </a:solidFill>
          <a:ln/>
        </p:spPr>
      </p:sp>
      <p:pic>
        <p:nvPicPr>
          <p:cNvPr id="4" name="Image 0" descr="preencoded.png">    </p:cNvPr>
          <p:cNvPicPr>
            <a:picLocks noChangeAspect="1"/>
          </p:cNvPicPr>
          <p:nvPr/>
        </p:nvPicPr>
        <p:blipFill>
          <a:blip r:embed="rId1"/>
          <a:stretch>
            <a:fillRect/>
          </a:stretch>
        </p:blipFill>
        <p:spPr>
          <a:xfrm>
            <a:off x="1060704" y="2432304"/>
            <a:ext cx="438912" cy="438912"/>
          </a:xfrm>
          <a:prstGeom prst="rect">
            <a:avLst/>
          </a:prstGeom>
        </p:spPr>
      </p:pic>
      <p:sp>
        <p:nvSpPr>
          <p:cNvPr id="5" name="Text 2"/>
          <p:cNvSpPr/>
          <p:nvPr/>
        </p:nvSpPr>
        <p:spPr>
          <a:xfrm>
            <a:off x="777240" y="3200400"/>
            <a:ext cx="9144000" cy="91440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That is Class 4.</a:t>
            </a:r>
            <a:endParaRPr lang="en-US" sz="5000" dirty="0"/>
          </a:p>
        </p:txBody>
      </p:sp>
      <p:sp>
        <p:nvSpPr>
          <p:cNvPr id="6" name="Text 3"/>
          <p:cNvSpPr/>
          <p:nvPr/>
        </p:nvSpPr>
        <p:spPr>
          <a:xfrm>
            <a:off x="822960" y="4206240"/>
            <a:ext cx="9601200" cy="731520"/>
          </a:xfrm>
          <a:prstGeom prst="rect">
            <a:avLst/>
          </a:prstGeom>
          <a:noFill/>
          <a:ln/>
        </p:spPr>
        <p:txBody>
          <a:bodyPr wrap="square" lIns="0" tIns="0" rIns="0" bIns="0" rtlCol="0" anchor="ctr"/>
          <a:lstStyle/>
          <a:p>
            <a:pPr indent="0" marL="0">
              <a:buNone/>
            </a:pPr>
            <a:r>
              <a:rPr lang="en-US" sz="1700" dirty="0">
                <a:solidFill>
                  <a:srgbClr val="C7DBFF"/>
                </a:solidFill>
                <a:latin typeface="Calibri" pitchFamily="34" charset="0"/>
                <a:ea typeface="Calibri" pitchFamily="34" charset="-122"/>
                <a:cs typeface="Calibri" pitchFamily="34" charset="-120"/>
              </a:rPr>
              <a:t>Practice: rebuild today's three-container example from memory and inspect each box in DevTools.</a:t>
            </a:r>
            <a:endParaRPr lang="en-US" sz="1700" dirty="0"/>
          </a:p>
        </p:txBody>
      </p:sp>
      <p:sp>
        <p:nvSpPr>
          <p:cNvPr id="7" name="Text 4"/>
          <p:cNvSpPr/>
          <p:nvPr/>
        </p:nvSpPr>
        <p:spPr>
          <a:xfrm>
            <a:off x="822960" y="4937760"/>
            <a:ext cx="9601200" cy="45720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Next class: Flexbox, the modern way to lay boxes out.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4 - CSS Box Model, Display and Units</dc:title>
  <dc:subject>PptxGenJS Presentation</dc:subject>
  <dc:creator>Class deck</dc:creator>
  <cp:lastModifiedBy>Class deck</cp:lastModifiedBy>
  <cp:revision>1</cp:revision>
  <dcterms:created xsi:type="dcterms:W3CDTF">2026-08-24T11:57:29Z</dcterms:created>
  <dcterms:modified xsi:type="dcterms:W3CDTF">2026-08-24T11:57:29Z</dcterms:modified>
</cp:coreProperties>
</file>